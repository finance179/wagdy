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C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agdy/f24981f4-70a0-5320-9840-62400667b25b/scratchpad/a/p00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0F0A">
              <a:alpha val="65000"/>
            </a:srgbClr>
          </a:solidFill>
          <a:ln w="12700">
            <a:solidFill>
              <a:srgbClr val="140F0A">
                <a:alpha val="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813816" y="786384"/>
            <a:ext cx="1056406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C9A86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حصير للتطوير العقاري · عرض استثماري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4114800" y="2331720"/>
            <a:ext cx="7263079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7F3E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مشروع سكني ومكتبي</a:t>
            </a:r>
            <a:endParaRPr lang="en-US" sz="4600" dirty="0"/>
          </a:p>
          <a:p>
            <a:pPr rtl="1" algn="r"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7F3E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في حي العليا</a:t>
            </a:r>
            <a:endParaRPr lang="en-US" sz="4600" dirty="0"/>
          </a:p>
        </p:txBody>
      </p:sp>
      <p:sp>
        <p:nvSpPr>
          <p:cNvPr id="6" name="Text 3"/>
          <p:cNvSpPr txBox="1"/>
          <p:nvPr/>
        </p:nvSpPr>
        <p:spPr>
          <a:xfrm>
            <a:off x="4114800" y="4206240"/>
            <a:ext cx="72630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D9D3C7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أرض 7,782 م² · إيرادات متوقعة 587.4 مليون ريال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10628071" y="4919472"/>
            <a:ext cx="749808" cy="0"/>
          </a:xfrm>
          <a:prstGeom prst="line">
            <a:avLst/>
          </a:prstGeom>
          <a:noFill/>
          <a:ln w="19050">
            <a:solidFill>
              <a:srgbClr val="C9A86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114800" y="5120640"/>
            <a:ext cx="72630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D9D3C7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الرياض · سبتمبر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786384"/>
            <a:ext cx="1056406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8B6A3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الفرصة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1188720"/>
            <a:ext cx="1056406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F1C17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أرض في قلب العليا بعائد داخلي 11.2% للمساهمين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13816" y="61996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857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02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9045473" y="3794760"/>
            <a:ext cx="2332406" cy="0"/>
          </a:xfrm>
          <a:prstGeom prst="line">
            <a:avLst/>
          </a:prstGeom>
          <a:noFill/>
          <a:ln w="9525">
            <a:solidFill>
              <a:srgbClr val="1F1C1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045473" y="3977640"/>
            <a:ext cx="233240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rgbClr val="1F1C17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7,782 م²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9045473" y="4709160"/>
            <a:ext cx="233240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F1C17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مساحة الأرض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045473" y="5074920"/>
            <a:ext cx="23324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E675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حي العليا · شمال وسط الرياض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1588" y="3794760"/>
            <a:ext cx="2332406" cy="0"/>
          </a:xfrm>
          <a:prstGeom prst="line">
            <a:avLst/>
          </a:prstGeom>
          <a:noFill/>
          <a:ln w="9525">
            <a:solidFill>
              <a:srgbClr val="1F1C1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1588" y="3977640"/>
            <a:ext cx="233240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rgbClr val="1F1C17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46,692 م²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6301588" y="4709160"/>
            <a:ext cx="233240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F1C17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مسطحات بنائية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301588" y="5074920"/>
            <a:ext cx="23324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E675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معامل بناء 6 · 12 دوراً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557702" y="3794760"/>
            <a:ext cx="2332406" cy="0"/>
          </a:xfrm>
          <a:prstGeom prst="line">
            <a:avLst/>
          </a:prstGeom>
          <a:noFill/>
          <a:ln w="9525">
            <a:solidFill>
              <a:srgbClr val="1F1C1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57702" y="3977640"/>
            <a:ext cx="233240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rgbClr val="1F1C17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587.4 م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3557702" y="4709160"/>
            <a:ext cx="233240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F1C17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ريال إيرادات متوقعة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557702" y="5074920"/>
            <a:ext cx="23324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E675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بيع على الخارطة خلال 4 سنوات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3816" y="3794760"/>
            <a:ext cx="2332406" cy="0"/>
          </a:xfrm>
          <a:prstGeom prst="line">
            <a:avLst/>
          </a:prstGeom>
          <a:noFill/>
          <a:ln w="9525">
            <a:solidFill>
              <a:srgbClr val="1F1C1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13816" y="3977640"/>
            <a:ext cx="233240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rgbClr val="1F1C17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13.2%</a:t>
            </a:r>
            <a:endParaRPr lang="en-US" sz="3600" dirty="0"/>
          </a:p>
        </p:txBody>
      </p:sp>
      <p:sp>
        <p:nvSpPr>
          <p:cNvPr id="19" name="Text 17"/>
          <p:cNvSpPr txBox="1"/>
          <p:nvPr/>
        </p:nvSpPr>
        <p:spPr>
          <a:xfrm>
            <a:off x="813816" y="4709160"/>
            <a:ext cx="233240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F1C17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هامش ربح سنوي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13816" y="5074920"/>
            <a:ext cx="23324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E675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بعد حافز الأداء · عائد داخلي 11.2%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786384"/>
            <a:ext cx="1056406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8B6A3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وصف المشروع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1188720"/>
            <a:ext cx="1056406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F1C17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مشروع مختلط: 60% سكني و40% مكتبي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13816" y="61996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857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03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636776" y="6199632"/>
            <a:ext cx="97411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6E675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المساحات بالمتر المربع · نسبة المساحة الصافية 85% من المسطحات البنائية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97680" y="2148840"/>
          <a:ext cx="7080199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325880"/>
                <a:gridCol w="1463040"/>
                <a:gridCol w="2965399"/>
              </a:tblGrid>
              <a:tr h="42976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A443C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الإجمالي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A443C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المكتبي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A443C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السكني (شقق)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A443C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7,782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3,113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4,669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مساحة الأرض المخصصة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3,891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1,556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2,335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المساحة المبنى عليها (50%)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46,692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18,677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28,015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المسطحات البنائية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8B6A35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39,688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15,875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23,813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المساحات الصافية البيعية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3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-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مساحات مفتوحة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198 شقة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عدد الوحدات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595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397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198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المواقف المطلوبة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23,369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-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-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القبو · 3 أدوار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13816" y="2148840"/>
            <a:ext cx="3154680" cy="3008376"/>
          </a:xfrm>
          <a:prstGeom prst="roundRect">
            <a:avLst>
              <a:gd name="adj" fmla="val 1824"/>
            </a:avLst>
          </a:prstGeom>
          <a:solidFill>
            <a:srgbClr val="1F1C17"/>
          </a:solidFill>
          <a:ln w="12700">
            <a:solidFill>
              <a:srgbClr val="1F1C1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88136" y="24231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C9A86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الوحدات السكنية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088136" y="278892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rgbClr val="F7F3E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198 شقة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1088136" y="3566160"/>
            <a:ext cx="2606040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9D3C7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بمتوسط 120 م² للوحدة على 12 دوراً، و556 موقفاً في القبو لمكونات المشروع.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786384"/>
            <a:ext cx="1056406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8B6A3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تكاليف المشروع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1188720"/>
            <a:ext cx="1056406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F1C17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452.5 مليون ريال تكلفة التطوير الكاملة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13816" y="61996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857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04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636776" y="6199632"/>
            <a:ext cx="97411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6E675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التكاليف غير المباشرة: التصاميم والإشراف والرسوم والتسويق 7.6% · احتياطي 2.5% · أتعاب المطور 15% من التكاليف المباشرة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97680" y="2148840"/>
          <a:ext cx="7080199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1965960"/>
                <a:gridCol w="960120"/>
                <a:gridCol w="1188720"/>
                <a:gridCol w="2005279"/>
              </a:tblGrid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A443C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%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A443C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الإجمالي (ريال)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A443C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ريال/م²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A443C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الكمية (م²)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A443C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36.1%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163,422,000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21,000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7,782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شراء الأرض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0.8%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3,500,000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-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-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السعي والضريبة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22.9%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103,656,240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3,700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28,015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بناء السكني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13.2%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59,765,760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3,200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18,677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بناء المكتبي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13.9%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63,097,234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2,700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23,369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القبو - مواقف وخدمات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0.4%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1,750,950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450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3,891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الموقع العام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5.1%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23,038,430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-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-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التكاليف غير المباشرة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7.6%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34,240,528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-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-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أتعاب المطور (15%)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100%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8B6A35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452,471,142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-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-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إجمالي تكلفة المشروع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3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13816" y="2148840"/>
            <a:ext cx="3154680" cy="3456432"/>
          </a:xfrm>
          <a:prstGeom prst="roundRect">
            <a:avLst>
              <a:gd name="adj" fmla="val 1739"/>
            </a:avLst>
          </a:prstGeom>
          <a:solidFill>
            <a:srgbClr val="1F1C17"/>
          </a:solidFill>
          <a:ln w="12700">
            <a:solidFill>
              <a:srgbClr val="1F1C1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88136" y="24231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C9A86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متوسط التكلفة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088136" y="278892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rgbClr val="F7F3E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9,691 ريال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1088136" y="3566160"/>
            <a:ext cx="260604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9D3C7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لكل متر مربع من المسطحات البنائية شاملاً الأرض. الأرض 37% من التكلفة، والبناء المباشر 50%، وغير المباشرة 13%.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786384"/>
            <a:ext cx="1056406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8B6A3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الإيرادات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1188720"/>
            <a:ext cx="1056406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F1C17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587.4 مليون ريال من البيع على الخارطة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13816" y="61996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857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05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636776" y="6199632"/>
            <a:ext cx="97411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6E675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توزيع المبيعات: 33% في السنة الثانية · 14% في الثالثة · 53% في الرابعة · التحصيل حسب نسب الإنجاز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039405" y="2148840"/>
            <a:ext cx="3338474" cy="3611880"/>
          </a:xfrm>
          <a:prstGeom prst="roundRect">
            <a:avLst>
              <a:gd name="adj" fmla="val 1643"/>
            </a:avLst>
          </a:prstGeom>
          <a:solidFill>
            <a:srgbClr val="FCFBF7"/>
          </a:solidFill>
          <a:ln w="9525">
            <a:solidFill>
              <a:srgbClr val="E2DCC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05165" y="2496312"/>
            <a:ext cx="26069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8B6A3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السكني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405165" y="2880360"/>
            <a:ext cx="26069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E675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سعر بيع المتر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405165" y="3172968"/>
            <a:ext cx="26069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F1C17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14,000 ريال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8405165" y="3721608"/>
            <a:ext cx="26069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E675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23,813 م² صافي · 198 شقة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405165" y="4160520"/>
            <a:ext cx="2606954" cy="0"/>
          </a:xfrm>
          <a:prstGeom prst="line">
            <a:avLst/>
          </a:prstGeom>
          <a:noFill/>
          <a:ln w="9525">
            <a:solidFill>
              <a:srgbClr val="E2DCC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05165" y="4297680"/>
            <a:ext cx="26069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E675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إيرادات السكني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405165" y="4590288"/>
            <a:ext cx="26069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F1C17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333.4 مليون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8405165" y="5138928"/>
            <a:ext cx="26069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8B6A3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متوسط الشقة 1,680,000 ريال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426610" y="2148840"/>
            <a:ext cx="3338474" cy="3611880"/>
          </a:xfrm>
          <a:prstGeom prst="roundRect">
            <a:avLst>
              <a:gd name="adj" fmla="val 1643"/>
            </a:avLst>
          </a:prstGeom>
          <a:solidFill>
            <a:srgbClr val="1F1C17"/>
          </a:solidFill>
          <a:ln w="9525">
            <a:solidFill>
              <a:srgbClr val="1F1C1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92370" y="2496312"/>
            <a:ext cx="26069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9A86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الإجمالي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792370" y="2880360"/>
            <a:ext cx="26069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D9D3C7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المساحات البيعية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792370" y="3172968"/>
            <a:ext cx="26069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F7F3E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39,688 م²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4792370" y="3721608"/>
            <a:ext cx="26069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D9D3C7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سكني ومكتبي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92370" y="4160520"/>
            <a:ext cx="2606954" cy="0"/>
          </a:xfrm>
          <a:prstGeom prst="line">
            <a:avLst/>
          </a:prstGeom>
          <a:noFill/>
          <a:ln w="9525">
            <a:solidFill>
              <a:srgbClr val="4A443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92370" y="4297680"/>
            <a:ext cx="26069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D9D3C7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إجمالي الإيرادات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792370" y="4590288"/>
            <a:ext cx="26069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F7F3E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587.4 مليون</a:t>
            </a:r>
            <a:endParaRPr lang="en-US" sz="2800" dirty="0"/>
          </a:p>
        </p:txBody>
      </p:sp>
      <p:sp>
        <p:nvSpPr>
          <p:cNvPr id="23" name="Text 21"/>
          <p:cNvSpPr txBox="1"/>
          <p:nvPr/>
        </p:nvSpPr>
        <p:spPr>
          <a:xfrm>
            <a:off x="4792370" y="5138928"/>
            <a:ext cx="26069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C9A86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متوسط 14,800 ريال/م²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13816" y="2148840"/>
            <a:ext cx="3338474" cy="3611880"/>
          </a:xfrm>
          <a:prstGeom prst="roundRect">
            <a:avLst>
              <a:gd name="adj" fmla="val 1643"/>
            </a:avLst>
          </a:prstGeom>
          <a:solidFill>
            <a:srgbClr val="FCFBF7"/>
          </a:solidFill>
          <a:ln w="9525">
            <a:solidFill>
              <a:srgbClr val="E2DCC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179576" y="2496312"/>
            <a:ext cx="26069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8B6A3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المكتبي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179576" y="2880360"/>
            <a:ext cx="26069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E675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سعر بيع المتر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179576" y="3172968"/>
            <a:ext cx="26069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F1C17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16,000 ريال</a:t>
            </a:r>
            <a:endParaRPr lang="en-US" sz="2800" dirty="0"/>
          </a:p>
        </p:txBody>
      </p:sp>
      <p:sp>
        <p:nvSpPr>
          <p:cNvPr id="28" name="Text 26"/>
          <p:cNvSpPr txBox="1"/>
          <p:nvPr/>
        </p:nvSpPr>
        <p:spPr>
          <a:xfrm>
            <a:off x="1179576" y="3721608"/>
            <a:ext cx="26069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E675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15,875 م² صافي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179576" y="4160520"/>
            <a:ext cx="2606954" cy="0"/>
          </a:xfrm>
          <a:prstGeom prst="line">
            <a:avLst/>
          </a:prstGeom>
          <a:noFill/>
          <a:ln w="9525">
            <a:solidFill>
              <a:srgbClr val="E2DCC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179576" y="4297680"/>
            <a:ext cx="26069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E675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إيرادات المكتبي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179576" y="4590288"/>
            <a:ext cx="26069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F1C17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254.0 مليون</a:t>
            </a:r>
            <a:endParaRPr lang="en-US" sz="2800" dirty="0"/>
          </a:p>
        </p:txBody>
      </p:sp>
      <p:sp>
        <p:nvSpPr>
          <p:cNvPr id="32" name="Text 30"/>
          <p:cNvSpPr txBox="1"/>
          <p:nvPr/>
        </p:nvSpPr>
        <p:spPr>
          <a:xfrm>
            <a:off x="1179576" y="5138928"/>
            <a:ext cx="26069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8B6A3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43% من الإيرادات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786384"/>
            <a:ext cx="1056406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8B6A3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هيكل الاستثمار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1188720"/>
            <a:ext cx="1056406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F1C17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حجم الصندوق 482.1 مليون ريال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13816" y="61996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857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06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636776" y="6199632"/>
            <a:ext cx="97411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6E675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تمويل بنكي 23% من التكلفة بمرابحة 7% ورسوم ترتيب 1% · السحب خلال السنوات 1-3 والسداد في السنة 4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2148840"/>
          <a:ext cx="5205679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1737360"/>
                <a:gridCol w="2599639"/>
              </a:tblGrid>
              <a:tr h="42976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A443C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%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A443C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المبلغ (ريال)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A443C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حجم الاستثمار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93.9%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452,471,142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تكلفة المشروع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4.8%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23,098,360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تكاليف المرابحة البنكية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0.2%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1,040,684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رسوم ترتيب التمويل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1.1%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5,500,000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رسوم الشركة المالية وتأسيس الصندوق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100%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8B6A35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482,110,185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حجم الصندوق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" y="2148840"/>
          <a:ext cx="502920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1737360"/>
                <a:gridCol w="2423160"/>
              </a:tblGrid>
              <a:tr h="42976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A443C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%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A443C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المبلغ (ريال)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A443C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مصادر التمويل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34.9%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168,462,684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رأس مال المساهمين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21.6%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104,068,363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التمويل البنكي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43.5%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209,579,139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إعادة تدوير متحصلات المبيعات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13816" y="4069080"/>
            <a:ext cx="5029200" cy="1783080"/>
          </a:xfrm>
          <a:prstGeom prst="roundRect">
            <a:avLst>
              <a:gd name="adj" fmla="val 3077"/>
            </a:avLst>
          </a:prstGeom>
          <a:solidFill>
            <a:srgbClr val="1F1C17"/>
          </a:solidFill>
          <a:ln w="12700">
            <a:solidFill>
              <a:srgbClr val="1F1C17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088136" y="43434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C9A86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رأس المال المطلوب من المساهمين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1088136" y="470916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rgbClr val="F7F3E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168.5 مليون ريال</a:t>
            </a:r>
            <a:endParaRPr lang="en-US" sz="3600" dirty="0"/>
          </a:p>
        </p:txBody>
      </p:sp>
      <p:sp>
        <p:nvSpPr>
          <p:cNvPr id="11" name="Text 7"/>
          <p:cNvSpPr txBox="1"/>
          <p:nvPr/>
        </p:nvSpPr>
        <p:spPr>
          <a:xfrm>
            <a:off x="1088136" y="5349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D9D3C7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يُضخ بالكامل عند شراء الأرض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786384"/>
            <a:ext cx="1056406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8B6A3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التدفقات النقدية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1188720"/>
            <a:ext cx="1056406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F1C17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استرداد رأس المال مع أرباحه في السنة الرابعة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13816" y="61996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857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07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636776" y="6199632"/>
            <a:ext cx="97411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6E675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بالمليون ريال · القيم بين الأقواس سالبة · السنة 0 سنة شراء الأرض · قبل حافز الأداء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" y="2148840"/>
          <a:ext cx="10564063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  <a:gridCol w="1280160"/>
                <a:gridCol w="1280160"/>
                <a:gridCol w="2883103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443C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الإجمالي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443C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السنة 4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443C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السنة 3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443C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السنة 2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443C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السنة 1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443C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السنة 0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A443C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587.4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457.8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65.7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64.0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-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-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متحصلات البيع على الخارطة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(166.9)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-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-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-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-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(166.9)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تكلفة الأرض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(285.5)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(71.9)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(85.7)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(85.7)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(42.3)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-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تكاليف البناء والتطوير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(24.1)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(111.4)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21.8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23.0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43.5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(1.0)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صافي الحركة البنكية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(5.5)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(1.3)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(1.3)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(1.3)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(1.3)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(0.5)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رسوم الصندوق والشركة المالية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8B6A35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105.3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8B6A35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273.2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0.5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-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-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(168.5)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صافي التدفق النقدي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3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813816" y="5486400"/>
            <a:ext cx="105640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675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صافي التدفق للمساهمين قبل حافز الأداء </a:t>
            </a:r>
            <a:pPr algn="r" indent="0" marL="0">
              <a:buNone/>
            </a:pPr>
            <a:r>
              <a:rPr lang="en-US" sz="1500" b="1" dirty="0">
                <a:solidFill>
                  <a:srgbClr val="8B6A3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105.3 مليون ريال</a:t>
            </a:r>
            <a:pPr algn="r" indent="0" marL="0">
              <a:buNone/>
            </a:pPr>
            <a:r>
              <a:rPr lang="en-US" sz="1500" dirty="0">
                <a:solidFill>
                  <a:srgbClr val="6E675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· عائد داخلي 12.9% · هامش ربح 15.6% سنوياً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1C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786384"/>
            <a:ext cx="1056406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C9A86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العائد للمساهمين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1188720"/>
            <a:ext cx="1056406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F7F3E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صافي ربح 88.7 مليون ريال خلال 4 سنوات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13816" y="61996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857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08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636776" y="6199632"/>
            <a:ext cx="97411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8C857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بعد حافز أداء المطور: 30% من الفائض فوق عائد داخلي مستهدف 10% · تقديرات وليست ضماناً للعائد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045473" y="3794760"/>
            <a:ext cx="2332406" cy="0"/>
          </a:xfrm>
          <a:prstGeom prst="line">
            <a:avLst/>
          </a:prstGeom>
          <a:noFill/>
          <a:ln w="9525">
            <a:solidFill>
              <a:srgbClr val="C9A86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045473" y="3977640"/>
            <a:ext cx="233240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rgbClr val="F7F3E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168.5 م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9045473" y="4709160"/>
            <a:ext cx="233240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7F3E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رأس المال المستثمر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045473" y="5074920"/>
            <a:ext cx="23324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D9D3C7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ريال · يضخ في السنة 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1588" y="3794760"/>
            <a:ext cx="2332406" cy="0"/>
          </a:xfrm>
          <a:prstGeom prst="line">
            <a:avLst/>
          </a:prstGeom>
          <a:noFill/>
          <a:ln w="9525">
            <a:solidFill>
              <a:srgbClr val="C9A86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1588" y="3977640"/>
            <a:ext cx="233240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rgbClr val="F7F3E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88.7 م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6301588" y="4709160"/>
            <a:ext cx="233240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7F3E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صافي ربح الصندوق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301588" y="5074920"/>
            <a:ext cx="23324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D9D3C7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ريال بعد حافز الأداء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557702" y="3794760"/>
            <a:ext cx="2332406" cy="0"/>
          </a:xfrm>
          <a:prstGeom prst="line">
            <a:avLst/>
          </a:prstGeom>
          <a:noFill/>
          <a:ln w="9525">
            <a:solidFill>
              <a:srgbClr val="C9A86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57702" y="3977640"/>
            <a:ext cx="233240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rgbClr val="F7F3E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13.2%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3557702" y="4709160"/>
            <a:ext cx="233240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7F3E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هامش الربح السنوي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557702" y="5074920"/>
            <a:ext cx="23324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D9D3C7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هامش كلي 52.7% على 4 سنوات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3816" y="3794760"/>
            <a:ext cx="2332406" cy="0"/>
          </a:xfrm>
          <a:prstGeom prst="line">
            <a:avLst/>
          </a:prstGeom>
          <a:noFill/>
          <a:ln w="9525">
            <a:solidFill>
              <a:srgbClr val="C9A86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13816" y="3977640"/>
            <a:ext cx="233240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rgbClr val="F7F3E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11.2%</a:t>
            </a:r>
            <a:endParaRPr lang="en-US" sz="3600" dirty="0"/>
          </a:p>
        </p:txBody>
      </p:sp>
      <p:sp>
        <p:nvSpPr>
          <p:cNvPr id="20" name="Text 18"/>
          <p:cNvSpPr txBox="1"/>
          <p:nvPr/>
        </p:nvSpPr>
        <p:spPr>
          <a:xfrm>
            <a:off x="813816" y="4709160"/>
            <a:ext cx="233240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7F3E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معدل العائد الداخلي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13816" y="5074920"/>
            <a:ext cx="23324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D9D3C7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قبل الحافز 12.9%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786384"/>
            <a:ext cx="1056406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8B6A3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توزيع العائد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1188720"/>
            <a:ext cx="1056406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F1C17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حصير تربح أكثر فقط عندما يربح المساهمون أكثر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13816" y="61996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857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09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636776" y="6199632"/>
            <a:ext cx="97411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6E675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حافز الأداء يستحق في نهاية المشروع (السنة 4) بعد تحقيق العائد المستهدف للمساهمين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2148840"/>
          <a:ext cx="5891479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971239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4A443C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A443C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المساهمون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105,275,175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صافي التدفق قبل حافز الأداء (ريال)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10%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العائد الداخلي المستهدف قبل مشاركة الفائض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(16,539,671)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حافز الأداء للمطور (30% من الفائض)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8B6A35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88,735,503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صافي ربح المساهمين (ريال)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52.7%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1C17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هامش الربح الكلي</a:t>
                      </a:r>
                      <a:endParaRPr lang="en-US" sz="12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28016" marR="128016" marT="18288" marB="18288" anchor="ctr">
                    <a:lnL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13816" y="2148840"/>
            <a:ext cx="4297680" cy="2743200"/>
          </a:xfrm>
          <a:prstGeom prst="roundRect">
            <a:avLst>
              <a:gd name="adj" fmla="val 2000"/>
            </a:avLst>
          </a:prstGeom>
          <a:solidFill>
            <a:srgbClr val="1F1C17"/>
          </a:solidFill>
          <a:ln w="12700">
            <a:solidFill>
              <a:srgbClr val="1F1C1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88136" y="2423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C9A86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إجمالي عوائد المطور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088136" y="27889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rgbClr val="F7F3E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50.8 مليون ريال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1088136" y="356616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9D3C7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أتعاب تطوير 34.2 مليون (15% من التكاليف المباشرة، موزعة على فترة البناء) + حافز أداء 16.5 مليون.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786384"/>
            <a:ext cx="1056406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8B6A3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المطوّر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1188720"/>
            <a:ext cx="1056406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F1C17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حصير: مطوّر منفّذ في أحياء الرياض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13816" y="61996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857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636776" y="6199632"/>
            <a:ext cx="97411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6E675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hihasier.com</a:t>
            </a:r>
            <a:endParaRPr lang="en-US" sz="1100" dirty="0"/>
          </a:p>
        </p:txBody>
      </p:sp>
      <p:pic>
        <p:nvPicPr>
          <p:cNvPr id="6" name="Image 0" descr="/tmp/claude-0/-home-user-wagdy/f24981f4-70a0-5320-9840-62400667b25b/scratchpad/a/p02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3816" y="2148840"/>
            <a:ext cx="4846320" cy="3657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980780" y="2148840"/>
            <a:ext cx="2397100" cy="0"/>
          </a:xfrm>
          <a:prstGeom prst="line">
            <a:avLst/>
          </a:prstGeom>
          <a:noFill/>
          <a:ln w="9525">
            <a:solidFill>
              <a:srgbClr val="1F1C1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980780" y="2313432"/>
            <a:ext cx="23971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1F1C17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مطوّر منفّذ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980780" y="2752344"/>
            <a:ext cx="23971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675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311 وحدة سكنية منفذة بين 2020 و2023، وأكثر من 600 وحدة مستهدفة حتى 2026.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72200" y="2148840"/>
            <a:ext cx="2397100" cy="0"/>
          </a:xfrm>
          <a:prstGeom prst="line">
            <a:avLst/>
          </a:prstGeom>
          <a:noFill/>
          <a:ln w="9525">
            <a:solidFill>
              <a:srgbClr val="1F1C1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2200" y="2313432"/>
            <a:ext cx="23971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1F1C17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مشاريع قائمة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172200" y="2752344"/>
            <a:ext cx="23971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675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حصير ريزدنس في العارض والقيروان، تاون هاوس القادسية، المهدية والمذنب.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980780" y="4023360"/>
            <a:ext cx="2397100" cy="0"/>
          </a:xfrm>
          <a:prstGeom prst="line">
            <a:avLst/>
          </a:prstGeom>
          <a:noFill/>
          <a:ln w="9525">
            <a:solidFill>
              <a:srgbClr val="1F1C1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980780" y="4187952"/>
            <a:ext cx="23971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1F1C17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شركاء التوريد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8980780" y="4626864"/>
            <a:ext cx="23971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675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سابك، الفنار، جروهي، مصاعد جود، ستيكو، نيبروبلاست وغيرهم.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172200" y="4023360"/>
            <a:ext cx="2397100" cy="0"/>
          </a:xfrm>
          <a:prstGeom prst="line">
            <a:avLst/>
          </a:prstGeom>
          <a:noFill/>
          <a:ln w="9525">
            <a:solidFill>
              <a:srgbClr val="1F1C1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172200" y="4187952"/>
            <a:ext cx="23971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1F1C17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نهج العمل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172200" y="4626864"/>
            <a:ext cx="23971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675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تقييم الأرض، التصميم والنموذج الاستثماري، التنفيذ، ثم التشغيل والمتابعة.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agdy/f24981f4-70a0-5320-9840-62400667b25b/scratchpad/a/p038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31546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754880" y="3611880"/>
            <a:ext cx="66229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8B6A3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الخطوات التالية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4754880" y="3931920"/>
            <a:ext cx="66229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1F1C17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مراجعة الدراسة وتوقيع اتفاقية الاستثمار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754880" y="4663440"/>
            <a:ext cx="66229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E675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زيارة الموقع · مراجعة النموذج المالي التفصيلي · اعتماد هيكل الصندوق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13816" y="3566160"/>
            <a:ext cx="3566160" cy="1463040"/>
          </a:xfrm>
          <a:prstGeom prst="roundRect">
            <a:avLst>
              <a:gd name="adj" fmla="val 3750"/>
            </a:avLst>
          </a:prstGeom>
          <a:solidFill>
            <a:srgbClr val="EDE4D3"/>
          </a:solidFill>
          <a:ln w="12700">
            <a:solidFill>
              <a:srgbClr val="EDE4D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69848" y="3749040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8B6A3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حصير للتطوير العقاري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69848" y="4069080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F1C17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+966 55 789 8945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1069848" y="4599432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75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920020056 · info@hihasier.com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13816" y="61996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857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Haseer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مشروع حي العليا - حصير للتطوير العقاري</dc:title>
  <dc:subject>PptxGenJS Presentation</dc:subject>
  <dc:creator>PptxGenJS</dc:creator>
  <cp:lastModifiedBy>PptxGenJS</cp:lastModifiedBy>
  <cp:revision>1</cp:revision>
  <dcterms:created xsi:type="dcterms:W3CDTF">2026-10-03T15:39:28Z</dcterms:created>
  <dcterms:modified xsi:type="dcterms:W3CDTF">2026-10-03T15:39:28Z</dcterms:modified>
</cp:coreProperties>
</file>