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B2522"/>
                </a:solidFill>
                <a:latin typeface="Arial"/>
              </a:defRPr>
            </a:pPr>
            <a:r>
              <a:rPr sz="1300" b="0" i="0" u="none" strike="noStrike">
                <a:solidFill>
                  <a:srgbClr val="2B2522"/>
                </a:solidFill>
                <a:latin typeface="Arial"/>
              </a:rPr>
              <a:t>توزيع التكاليف</a:t>
            </a:r>
          </a:p>
        </c:rich>
      </c:tx>
      <c:layout/>
      <c:overlay val="0"/>
    </c:title>
    <c:autoTitleDeleted val="0"/>
    <c:plotArea>
      <c:layout/>
      <c:doughnutChart>
        <c:varyColors val="1"/>
        <c:ser>
          <c:idx val="0"/>
          <c:order val="0"/>
          <c:tx>
            <c:strRef>
              <c:f>Sheet1!$B$1</c:f>
              <c:strCache>
                <c:ptCount val="1"/>
                <c:pt idx="0">
                  <c:v>التكاليف</c:v>
                </c:pt>
              </c:strCache>
            </c:strRef>
          </c:tx>
          <c:spPr>
            <a:solidFill>
              <a:schemeClr val="accent1"/>
            </a:solidFill>
            <a:ln w="9525" cap="flat">
              <a:solidFill>
                <a:srgbClr val="F9F9F9"/>
              </a:solidFill>
              <a:prstDash val="solid"/>
              <a:round/>
            </a:ln>
            <a:effectLst/>
          </c:spPr>
          <c:dPt>
            <c:idx val="0"/>
            <c:bubble3D val="0"/>
            <c:spPr>
              <a:solidFill>
                <a:srgbClr val="C69A45"/>
              </a:solidFill>
              <a:effectLst/>
            </c:spPr>
          </c:dPt>
          <c:dPt>
            <c:idx val="1"/>
            <c:bubble3D val="0"/>
            <c:spPr>
              <a:solidFill>
                <a:srgbClr val="2B2522"/>
              </a:solidFill>
              <a:effectLst/>
            </c:spPr>
          </c:dPt>
          <c:dPt>
            <c:idx val="2"/>
            <c:bubble3D val="0"/>
            <c:spPr>
              <a:solidFill>
                <a:srgbClr val="A89F97"/>
              </a:solidFill>
              <a:effectLst/>
            </c:spPr>
          </c:dPt>
          <c:dLbls>
            <c:dLbl>
              <c:idx val="0"/>
              <c:numFmt formatCode="0%" sourceLinked="0"/>
              <c:spPr/>
              <c:txPr>
                <a:bodyPr/>
                <a:lstStyle/>
                <a:p>
                  <a:pPr>
                    <a:defRPr sz="10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0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0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الأرض</c:v>
                </c:pt>
                <c:pt idx="1">
                  <c:v>المباشرة</c:v>
                </c:pt>
                <c:pt idx="2">
                  <c:v>غير المباشرة</c:v>
                </c:pt>
              </c:strCache>
            </c:strRef>
          </c:cat>
          <c:val>
            <c:numRef>
              <c:f>Sheet1!$B$2:$B$4</c:f>
              <c:numCache>
                <c:ptCount val="3"/>
                <c:pt idx="0">
                  <c:v>166922000</c:v>
                </c:pt>
                <c:pt idx="1">
                  <c:v>228270184.2</c:v>
                </c:pt>
                <c:pt idx="2">
                  <c:v>57278957.70999999</c:v>
                </c:pt>
              </c:numCache>
            </c:numRef>
          </c:val>
        </c:ser>
        <c:firstSliceAng val="0"/>
        <c:holeSize val="58"/>
      </c:doughnutChart>
      <c:spPr>
        <a:noFill/>
        <a:ln>
          <a:noFill/>
        </a:ln>
        <a:effectLst/>
      </c:spPr>
    </c:plotArea>
    <c:legend>
      <c:legendPos val="b"/>
      <c:overlay val="0"/>
      <c:txPr>
        <a:bodyPr/>
        <a:lstStyle/>
        <a:p>
          <a:pPr>
            <a:defRPr sz="1100">
              <a:solidFill>
                <a:srgbClr val="5C524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B2522"/>
                </a:solidFill>
                <a:latin typeface="Arial"/>
              </a:defRPr>
            </a:pPr>
            <a:r>
              <a:rPr sz="1300" b="0" i="0" u="none" strike="noStrike">
                <a:solidFill>
                  <a:srgbClr val="2B2522"/>
                </a:solidFill>
                <a:latin typeface="Arial"/>
              </a:rPr>
              <a:t>مصادر تمويل الصندوق</a:t>
            </a:r>
          </a:p>
        </c:rich>
      </c:tx>
      <c:layout/>
      <c:overlay val="0"/>
    </c:title>
    <c:autoTitleDeleted val="0"/>
    <c:plotArea>
      <c:layout/>
      <c:doughnutChart>
        <c:varyColors val="1"/>
        <c:ser>
          <c:idx val="0"/>
          <c:order val="0"/>
          <c:tx>
            <c:strRef>
              <c:f>Sheet1!$B$1</c:f>
              <c:strCache>
                <c:ptCount val="1"/>
                <c:pt idx="0">
                  <c:v>الهيكل</c:v>
                </c:pt>
              </c:strCache>
            </c:strRef>
          </c:tx>
          <c:spPr>
            <a:solidFill>
              <a:schemeClr val="accent1"/>
            </a:solidFill>
            <a:ln w="9525" cap="flat">
              <a:solidFill>
                <a:srgbClr val="F9F9F9"/>
              </a:solidFill>
              <a:prstDash val="solid"/>
              <a:round/>
            </a:ln>
            <a:effectLst/>
          </c:spPr>
          <c:dPt>
            <c:idx val="0"/>
            <c:bubble3D val="0"/>
            <c:spPr>
              <a:solidFill>
                <a:srgbClr val="A89F97"/>
              </a:solidFill>
              <a:effectLst/>
            </c:spPr>
          </c:dPt>
          <c:dPt>
            <c:idx val="1"/>
            <c:bubble3D val="0"/>
            <c:spPr>
              <a:solidFill>
                <a:srgbClr val="2B2522"/>
              </a:solidFill>
              <a:effectLst/>
            </c:spPr>
          </c:dPt>
          <c:dPt>
            <c:idx val="2"/>
            <c:bubble3D val="0"/>
            <c:spPr>
              <a:solidFill>
                <a:srgbClr val="C69A45"/>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متحصلات المبيعات</c:v>
                </c:pt>
                <c:pt idx="1">
                  <c:v>التمويل البنكي</c:v>
                </c:pt>
                <c:pt idx="2">
                  <c:v>المساهمين</c:v>
                </c:pt>
              </c:strCache>
            </c:strRef>
          </c:cat>
          <c:val>
            <c:numRef>
              <c:f>Sheet1!$B$2:$B$4</c:f>
              <c:numCache>
                <c:ptCount val="3"/>
                <c:pt idx="0">
                  <c:v>209579139.18363166</c:v>
                </c:pt>
                <c:pt idx="1">
                  <c:v>104068362.6393</c:v>
                </c:pt>
                <c:pt idx="2">
                  <c:v>168462683.626393</c:v>
                </c:pt>
              </c:numCache>
            </c:numRef>
          </c:val>
        </c:ser>
        <c:firstSliceAng val="0"/>
        <c:holeSize val="55"/>
      </c:doughnutChart>
      <c:spPr>
        <a:noFill/>
        <a:ln>
          <a:noFill/>
        </a:ln>
        <a:effectLst/>
      </c:spPr>
    </c:plotArea>
    <c:legend>
      <c:legendPos val="r"/>
      <c:overlay val="0"/>
      <c:txPr>
        <a:bodyPr/>
        <a:lstStyle/>
        <a:p>
          <a:pPr>
            <a:defRPr sz="1200">
              <a:solidFill>
                <a:srgbClr val="5C524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B2522"/>
                </a:solidFill>
                <a:latin typeface="Arial"/>
              </a:defRPr>
            </a:pPr>
            <a:r>
              <a:rPr sz="1300" b="0" i="0" u="none" strike="noStrike">
                <a:solidFill>
                  <a:srgbClr val="2B2522"/>
                </a:solidFill>
                <a:latin typeface="Arial"/>
              </a:rPr>
              <a:t>التحصيلات السنوية (مليون ريال)</a:t>
            </a:r>
          </a:p>
        </c:rich>
      </c:tx>
      <c:layout/>
      <c:overlay val="0"/>
    </c:title>
    <c:autoTitleDeleted val="0"/>
    <c:plotArea>
      <c:layout/>
      <c:barChart>
        <c:barDir val="col"/>
        <c:grouping val="stacked"/>
        <c:varyColors val="0"/>
        <c:ser>
          <c:idx val="0"/>
          <c:order val="0"/>
          <c:tx>
            <c:strRef>
              <c:f>Sheet1!$B$1</c:f>
              <c:strCache>
                <c:ptCount val="1"/>
                <c:pt idx="0">
                  <c:v>السكني</c:v>
                </c:pt>
              </c:strCache>
            </c:strRef>
          </c:tx>
          <c:spPr>
            <a:solidFill>
              <a:srgbClr val="C69A45"/>
            </a:solidFill>
            <a:effectLst/>
          </c:spPr>
          <c:invertIfNegative val="0"/>
          <c:dLbls>
            <c:numFmt formatCode="#,##0.0;;;"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السنة 1</c:v>
                  </c:pt>
                  <c:pt idx="1">
                    <c:v>السنة 2</c:v>
                  </c:pt>
                  <c:pt idx="2">
                    <c:v>السنة 3</c:v>
                  </c:pt>
                  <c:pt idx="3">
                    <c:v>السنة 4</c:v>
                  </c:pt>
                </c:lvl>
              </c:multiLvlStrCache>
            </c:multiLvlStrRef>
          </c:cat>
          <c:val>
            <c:numRef>
              <c:f>Sheet1!$B$2:$B$5</c:f>
              <c:numCache>
                <c:formatCode>General</c:formatCode>
                <c:ptCount val="4"/>
                <c:pt idx="0">
                  <c:v>0</c:v>
                </c:pt>
                <c:pt idx="1">
                  <c:v>36.302553846607445</c:v>
                </c:pt>
                <c:pt idx="2">
                  <c:v>37.27140591164542</c:v>
                </c:pt>
                <c:pt idx="3">
                  <c:v>259.8069202417471</c:v>
                </c:pt>
              </c:numCache>
            </c:numRef>
          </c:val>
        </c:ser>
        <c:ser>
          <c:idx val="1"/>
          <c:order val="1"/>
          <c:tx>
            <c:strRef>
              <c:f>Sheet1!$C$1</c:f>
              <c:strCache>
                <c:ptCount val="1"/>
                <c:pt idx="0">
                  <c:v>المكتبي</c:v>
                </c:pt>
              </c:strCache>
            </c:strRef>
          </c:tx>
          <c:spPr>
            <a:solidFill>
              <a:srgbClr val="2B2522"/>
            </a:solidFill>
            <a:effectLst/>
          </c:spPr>
          <c:invertIfNegative val="0"/>
          <c:dLbls>
            <c:numFmt formatCode="#,##0.0;;;"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السنة 1</c:v>
                  </c:pt>
                  <c:pt idx="1">
                    <c:v>السنة 2</c:v>
                  </c:pt>
                  <c:pt idx="2">
                    <c:v>السنة 3</c:v>
                  </c:pt>
                  <c:pt idx="3">
                    <c:v>السنة 4</c:v>
                  </c:pt>
                </c:lvl>
              </c:multiLvlStrCache>
            </c:multiLvlStrRef>
          </c:cat>
          <c:val>
            <c:numRef>
              <c:f>Sheet1!$C$2:$C$5</c:f>
              <c:numCache>
                <c:formatCode>General</c:formatCode>
                <c:ptCount val="4"/>
                <c:pt idx="0">
                  <c:v>0</c:v>
                </c:pt>
                <c:pt idx="1">
                  <c:v>27.659088645034256</c:v>
                </c:pt>
                <c:pt idx="2">
                  <c:v>28.39726164696795</c:v>
                </c:pt>
                <c:pt idx="3">
                  <c:v>197.94812970799785</c:v>
                </c:pt>
              </c:numCache>
            </c:numRef>
          </c:val>
        </c:ser>
        <c:dLbls>
          <c:numFmt formatCode="#,##0.0;;;"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C524C"/>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4DED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80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C524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الإيرادات</c:v>
                </c:pt>
              </c:strCache>
            </c:strRef>
          </c:tx>
          <c:spPr>
            <a:solidFill>
              <a:srgbClr val="C69A45"/>
            </a:solidFill>
            <a:effectLst/>
          </c:spPr>
          <c:invertIfNegative val="0"/>
          <c:dLbls>
            <c:numFmt formatCode="#,##0.0;;;" sourceLinked="0"/>
            <c:txPr>
              <a:bodyPr/>
              <a:lstStyle/>
              <a:p>
                <a:pPr>
                  <a:defRPr b="0" i="0" strike="noStrike" sz="1000" u="none">
                    <a:solidFill>
                      <a:srgbClr val="5C524C"/>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السنة 0</c:v>
                  </c:pt>
                  <c:pt idx="1">
                    <c:v>السنة 1</c:v>
                  </c:pt>
                  <c:pt idx="2">
                    <c:v>السنة 2</c:v>
                  </c:pt>
                  <c:pt idx="3">
                    <c:v>السنة 3</c:v>
                  </c:pt>
                  <c:pt idx="4">
                    <c:v>السنة 4</c:v>
                  </c:pt>
                </c:lvl>
              </c:multiLvlStrCache>
            </c:multiLvlStrRef>
          </c:cat>
          <c:val>
            <c:numRef>
              <c:f>Sheet1!$B$2:$B$6</c:f>
              <c:numCache>
                <c:formatCode>General</c:formatCode>
                <c:ptCount val="5"/>
                <c:pt idx="0">
                  <c:v>0</c:v>
                </c:pt>
                <c:pt idx="1">
                  <c:v>0</c:v>
                </c:pt>
                <c:pt idx="2">
                  <c:v>63.9616424916417</c:v>
                </c:pt>
                <c:pt idx="3">
                  <c:v>65.66866755861338</c:v>
                </c:pt>
                <c:pt idx="4">
                  <c:v>457.75504994974494</c:v>
                </c:pt>
              </c:numCache>
            </c:numRef>
          </c:val>
        </c:ser>
        <c:ser>
          <c:idx val="1"/>
          <c:order val="1"/>
          <c:tx>
            <c:strRef>
              <c:f>Sheet1!$C$1</c:f>
              <c:strCache>
                <c:ptCount val="1"/>
                <c:pt idx="0">
                  <c:v>التكاليف</c:v>
                </c:pt>
              </c:strCache>
            </c:strRef>
          </c:tx>
          <c:spPr>
            <a:solidFill>
              <a:srgbClr val="2B2522"/>
            </a:solidFill>
            <a:effectLst/>
          </c:spPr>
          <c:invertIfNegative val="0"/>
          <c:dLbls>
            <c:numFmt formatCode="#,##0.0;;;" sourceLinked="0"/>
            <c:txPr>
              <a:bodyPr/>
              <a:lstStyle/>
              <a:p>
                <a:pPr>
                  <a:defRPr b="0" i="0" strike="noStrike" sz="1000" u="none">
                    <a:solidFill>
                      <a:srgbClr val="5C524C"/>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السنة 0</c:v>
                  </c:pt>
                  <c:pt idx="1">
                    <c:v>السنة 1</c:v>
                  </c:pt>
                  <c:pt idx="2">
                    <c:v>السنة 2</c:v>
                  </c:pt>
                  <c:pt idx="3">
                    <c:v>السنة 3</c:v>
                  </c:pt>
                  <c:pt idx="4">
                    <c:v>السنة 4</c:v>
                  </c:pt>
                </c:lvl>
              </c:multiLvlStrCache>
            </c:multiLvlStrRef>
          </c:cat>
          <c:val>
            <c:numRef>
              <c:f>Sheet1!$C$2:$C$6</c:f>
              <c:numCache>
                <c:formatCode>General</c:formatCode>
                <c:ptCount val="5"/>
                <c:pt idx="0">
                  <c:v>166.922</c:v>
                </c:pt>
                <c:pt idx="1">
                  <c:v>42.29036206407033</c:v>
                </c:pt>
                <c:pt idx="2">
                  <c:v>85.66474257299998</c:v>
                </c:pt>
                <c:pt idx="3">
                  <c:v>85.66474257299998</c:v>
                </c:pt>
                <c:pt idx="4">
                  <c:v>71.92929469992964</c:v>
                </c:pt>
              </c:numCache>
            </c:numRef>
          </c:val>
        </c:ser>
        <c:dLbls>
          <c:numFmt formatCode="#,##0.0;;;" sourceLinked="0"/>
          <c:txPr>
            <a:bodyPr/>
            <a:lstStyle/>
            <a:p>
              <a:pPr>
                <a:defRPr b="0" i="0" strike="noStrike" sz="1000" u="none">
                  <a:solidFill>
                    <a:srgbClr val="5C524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C524C"/>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4DED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807A"/>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5C524C"/>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522"/>
        </a:solidFill>
      </p:bgPr>
    </p:bg>
    <p:spTree>
      <p:nvGrpSpPr>
        <p:cNvPr id="1" name=""/>
        <p:cNvGrpSpPr/>
        <p:nvPr/>
      </p:nvGrpSpPr>
      <p:grpSpPr>
        <a:xfrm>
          <a:off x="0" y="0"/>
          <a:ext cx="0" cy="0"/>
          <a:chOff x="0" y="0"/>
          <a:chExt cx="0" cy="0"/>
        </a:xfrm>
      </p:grpSpPr>
      <p:pic>
        <p:nvPicPr>
          <p:cNvPr id="2" name="Image 0" descr="/tmp/claude-0/-home-user-wagdy/f24981f4-70a0-5320-9840-62400667b25b/scratchpad/a/p000.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6309360" y="0"/>
            <a:ext cx="5882335" cy="6858000"/>
          </a:xfrm>
          <a:prstGeom prst="rect">
            <a:avLst/>
          </a:prstGeom>
          <a:solidFill>
            <a:srgbClr val="2B2522">
              <a:alpha val="88000"/>
            </a:srgbClr>
          </a:solidFill>
          <a:ln w="12700">
            <a:solidFill>
              <a:srgbClr val="2B2522">
                <a:alpha val="0"/>
              </a:srgbClr>
            </a:solidFill>
            <a:prstDash val="solid"/>
          </a:ln>
        </p:spPr>
      </p:sp>
      <p:pic>
        <p:nvPicPr>
          <p:cNvPr id="4" name="Image 1" descr="/tmp/claude-0/-home-user-wagdy/f24981f4-70a0-5320-9840-62400667b25b/scratchpad/logo_white.png">    </p:cNvPr>
          <p:cNvPicPr>
            <a:picLocks noChangeAspect="1"/>
          </p:cNvPicPr>
          <p:nvPr/>
        </p:nvPicPr>
        <p:blipFill>
          <a:blip r:embed="rId2"/>
          <a:stretch>
            <a:fillRect/>
          </a:stretch>
        </p:blipFill>
        <p:spPr>
          <a:xfrm>
            <a:off x="9265615" y="822960"/>
            <a:ext cx="2377440" cy="900966"/>
          </a:xfrm>
          <a:prstGeom prst="rect">
            <a:avLst/>
          </a:prstGeom>
        </p:spPr>
      </p:pic>
      <p:sp>
        <p:nvSpPr>
          <p:cNvPr id="5" name="Text 1"/>
          <p:cNvSpPr txBox="1"/>
          <p:nvPr/>
        </p:nvSpPr>
        <p:spPr>
          <a:xfrm>
            <a:off x="6675120" y="2880360"/>
            <a:ext cx="4967935" cy="914400"/>
          </a:xfrm>
          <a:prstGeom prst="rect">
            <a:avLst/>
          </a:prstGeom>
          <a:noFill/>
          <a:ln/>
        </p:spPr>
        <p:txBody>
          <a:bodyPr wrap="square" lIns="0" tIns="0" rIns="0" bIns="0" rtlCol="0" anchor="ctr"/>
          <a:lstStyle/>
          <a:p>
            <a:pPr rtl="1" algn="r" indent="0" marL="0">
              <a:buNone/>
            </a:pPr>
            <a:r>
              <a:rPr lang="en-US" sz="4400" b="1" dirty="0">
                <a:solidFill>
                  <a:srgbClr val="FFFFFF"/>
                </a:solidFill>
                <a:latin typeface="Arial" pitchFamily="34" charset="0"/>
                <a:ea typeface="Arial" pitchFamily="34" charset="-122"/>
                <a:cs typeface="Arial" pitchFamily="34" charset="-120"/>
              </a:rPr>
              <a:t>مشروع أرض العليا</a:t>
            </a:r>
            <a:endParaRPr lang="en-US" sz="4400" dirty="0"/>
          </a:p>
        </p:txBody>
      </p:sp>
      <p:sp>
        <p:nvSpPr>
          <p:cNvPr id="6" name="Text 2"/>
          <p:cNvSpPr txBox="1"/>
          <p:nvPr/>
        </p:nvSpPr>
        <p:spPr>
          <a:xfrm>
            <a:off x="6675120" y="3794760"/>
            <a:ext cx="4967935" cy="457200"/>
          </a:xfrm>
          <a:prstGeom prst="rect">
            <a:avLst/>
          </a:prstGeom>
          <a:noFill/>
          <a:ln/>
        </p:spPr>
        <p:txBody>
          <a:bodyPr wrap="square" lIns="0" tIns="0" rIns="0" bIns="0" rtlCol="0" anchor="ctr"/>
          <a:lstStyle/>
          <a:p>
            <a:pPr rtl="1" algn="r" indent="0" marL="0">
              <a:buNone/>
            </a:pPr>
            <a:r>
              <a:rPr lang="en-US" sz="1600" dirty="0">
                <a:solidFill>
                  <a:srgbClr val="E8E2DA"/>
                </a:solidFill>
                <a:latin typeface="Arial" pitchFamily="34" charset="0"/>
                <a:ea typeface="Arial" pitchFamily="34" charset="-122"/>
                <a:cs typeface="Arial" pitchFamily="34" charset="-120"/>
              </a:rPr>
              <a:t>دراسة الجدوى والنموذج الاستثماري لمشروع سكني ومكتبي</a:t>
            </a:r>
            <a:endParaRPr lang="en-US" sz="1600" dirty="0"/>
          </a:p>
        </p:txBody>
      </p:sp>
      <p:sp>
        <p:nvSpPr>
          <p:cNvPr id="7" name="Shape 3"/>
          <p:cNvSpPr/>
          <p:nvPr/>
        </p:nvSpPr>
        <p:spPr>
          <a:xfrm>
            <a:off x="10180015" y="4526280"/>
            <a:ext cx="1463040" cy="54864"/>
          </a:xfrm>
          <a:prstGeom prst="rect">
            <a:avLst/>
          </a:prstGeom>
          <a:solidFill>
            <a:srgbClr val="C69A45"/>
          </a:solidFill>
          <a:ln w="12700">
            <a:solidFill>
              <a:srgbClr val="C69A45"/>
            </a:solidFill>
            <a:prstDash val="solid"/>
          </a:ln>
        </p:spPr>
      </p:sp>
      <p:sp>
        <p:nvSpPr>
          <p:cNvPr id="8" name="Text 4"/>
          <p:cNvSpPr txBox="1"/>
          <p:nvPr/>
        </p:nvSpPr>
        <p:spPr>
          <a:xfrm>
            <a:off x="6675120" y="4754880"/>
            <a:ext cx="4967935" cy="365760"/>
          </a:xfrm>
          <a:prstGeom prst="rect">
            <a:avLst/>
          </a:prstGeom>
          <a:noFill/>
          <a:ln/>
        </p:spPr>
        <p:txBody>
          <a:bodyPr wrap="square" lIns="0" tIns="0" rIns="0" bIns="0" rtlCol="0" anchor="ctr"/>
          <a:lstStyle/>
          <a:p>
            <a:pPr rtl="1" algn="r" indent="0" marL="0">
              <a:buNone/>
            </a:pPr>
            <a:r>
              <a:rPr lang="en-US" sz="1400" dirty="0">
                <a:solidFill>
                  <a:srgbClr val="C69A45"/>
                </a:solidFill>
                <a:latin typeface="Arial" pitchFamily="34" charset="0"/>
                <a:ea typeface="Arial" pitchFamily="34" charset="-122"/>
                <a:cs typeface="Arial" pitchFamily="34" charset="-120"/>
              </a:rPr>
              <a:t>الرياض  |  سبتمبر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0" y="384048"/>
            <a:ext cx="8442655" cy="640080"/>
          </a:xfrm>
          <a:prstGeom prst="rect">
            <a:avLst/>
          </a:prstGeom>
          <a:noFill/>
          <a:ln/>
        </p:spPr>
        <p:txBody>
          <a:bodyPr wrap="square" lIns="0" tIns="0" rIns="0" bIns="0" rtlCol="0" anchor="ctr"/>
          <a:lstStyle/>
          <a:p>
            <a:pPr rtl="1" algn="r" indent="0" marL="0">
              <a:buNone/>
            </a:pPr>
            <a:r>
              <a:rPr lang="en-US" sz="3000" b="1" dirty="0">
                <a:solidFill>
                  <a:srgbClr val="2B2522"/>
                </a:solidFill>
                <a:latin typeface="Arial" pitchFamily="34" charset="0"/>
                <a:ea typeface="Arial" pitchFamily="34" charset="-122"/>
                <a:cs typeface="Arial" pitchFamily="34" charset="-120"/>
              </a:rPr>
              <a:t>عن حَصِير</a:t>
            </a:r>
            <a:endParaRPr lang="en-US" sz="3000" dirty="0"/>
          </a:p>
        </p:txBody>
      </p:sp>
      <p:sp>
        <p:nvSpPr>
          <p:cNvPr id="3" name="Text 1"/>
          <p:cNvSpPr txBox="1"/>
          <p:nvPr/>
        </p:nvSpPr>
        <p:spPr>
          <a:xfrm>
            <a:off x="3200400" y="987552"/>
            <a:ext cx="8442655" cy="365760"/>
          </a:xfrm>
          <a:prstGeom prst="rect">
            <a:avLst/>
          </a:prstGeom>
          <a:noFill/>
          <a:ln/>
        </p:spPr>
        <p:txBody>
          <a:bodyPr wrap="square" lIns="0" tIns="0" rIns="0" bIns="0" rtlCol="0" anchor="ctr"/>
          <a:lstStyle/>
          <a:p>
            <a:pPr rtl="1" algn="r" indent="0" marL="0">
              <a:buNone/>
            </a:pPr>
            <a:r>
              <a:rPr lang="en-US" sz="1400" dirty="0">
                <a:solidFill>
                  <a:srgbClr val="8A807A"/>
                </a:solidFill>
                <a:latin typeface="Arial" pitchFamily="34" charset="0"/>
                <a:ea typeface="Arial" pitchFamily="34" charset="-122"/>
                <a:cs typeface="Arial" pitchFamily="34" charset="-120"/>
              </a:rPr>
              <a:t>نبني للحياة .. رواد النهضة العمرانية عبر التطوير العقاري</a:t>
            </a:r>
            <a:endParaRPr lang="en-US" sz="1400" dirty="0"/>
          </a:p>
        </p:txBody>
      </p:sp>
      <p:pic>
        <p:nvPicPr>
          <p:cNvPr id="4" name="Image 0" descr="/tmp/claude-0/-home-user-wagdy/f24981f4-70a0-5320-9840-62400667b25b/scratchpad/logo_dark.png">    </p:cNvPr>
          <p:cNvPicPr>
            <a:picLocks noChangeAspect="1"/>
          </p:cNvPicPr>
          <p:nvPr/>
        </p:nvPicPr>
        <p:blipFill>
          <a:blip r:embed="rId1"/>
          <a:stretch>
            <a:fillRect/>
          </a:stretch>
        </p:blipFill>
        <p:spPr>
          <a:xfrm>
            <a:off x="548640" y="457200"/>
            <a:ext cx="1206444" cy="457200"/>
          </a:xfrm>
          <a:prstGeom prst="rect">
            <a:avLst/>
          </a:prstGeom>
        </p:spPr>
      </p:pic>
      <p:pic>
        <p:nvPicPr>
          <p:cNvPr id="5" name="Image 1" descr="/tmp/claude-0/-home-user-wagdy/f24981f4-70a0-5320-9840-62400667b25b/scratchpad/a/p020.jpg">    </p:cNvPr>
          <p:cNvPicPr>
            <a:picLocks noChangeAspect="1"/>
          </p:cNvPicPr>
          <p:nvPr/>
        </p:nvPicPr>
        <p:blipFill>
          <a:blip r:embed="rId2"/>
          <a:stretch>
            <a:fillRect/>
          </a:stretch>
        </p:blipFill>
        <p:spPr>
          <a:xfrm>
            <a:off x="548640" y="1600200"/>
            <a:ext cx="5120640" cy="2881891"/>
          </a:xfrm>
          <a:prstGeom prst="rect">
            <a:avLst/>
          </a:prstGeom>
        </p:spPr>
      </p:pic>
      <p:sp>
        <p:nvSpPr>
          <p:cNvPr id="6" name="Text 2"/>
          <p:cNvSpPr txBox="1"/>
          <p:nvPr/>
        </p:nvSpPr>
        <p:spPr>
          <a:xfrm>
            <a:off x="6172200" y="1600200"/>
            <a:ext cx="5470855" cy="1600200"/>
          </a:xfrm>
          <a:prstGeom prst="rect">
            <a:avLst/>
          </a:prstGeom>
          <a:noFill/>
          <a:ln/>
        </p:spPr>
        <p:txBody>
          <a:bodyPr wrap="square" lIns="0" tIns="0" rIns="0" bIns="0" rtlCol="0" anchor="t"/>
          <a:lstStyle/>
          <a:p>
            <a:pPr rtl="1" algn="r" indent="0" marL="0">
              <a:lnSpc>
                <a:spcPct val="125000"/>
              </a:lnSpc>
              <a:buNone/>
            </a:pPr>
            <a:r>
              <a:rPr lang="en-US" sz="1500" dirty="0">
                <a:solidFill>
                  <a:srgbClr val="5C524C"/>
                </a:solidFill>
                <a:latin typeface="Arial" pitchFamily="34" charset="0"/>
                <a:ea typeface="Arial" pitchFamily="34" charset="-122"/>
                <a:cs typeface="Arial" pitchFamily="34" charset="-120"/>
              </a:rPr>
              <a:t>تأسست حَصِير للاستثمار في التطور المتسارع في المجال العقاري في المملكة العربية السعودية، ولتكون العلامة الرائدة في بناء المنتجات السكنية المستدامة والمتوائمة مع طموح المستهلك السعودي ومعايير جودة الحياة. تتمحور أعمال حَصِير حول الفلل والشقق السكنية عالية الجودة وعصرية التصميم، وتعمل على التعاون مع الأسماء الرائدة في المجال العقاري لإحداث نهضة عمرانية متكاملة عبر المشاريع النوعية.</a:t>
            </a:r>
            <a:endParaRPr lang="en-US" sz="1500" dirty="0"/>
          </a:p>
        </p:txBody>
      </p:sp>
      <p:sp>
        <p:nvSpPr>
          <p:cNvPr id="7" name="Shape 3"/>
          <p:cNvSpPr/>
          <p:nvPr/>
        </p:nvSpPr>
        <p:spPr>
          <a:xfrm>
            <a:off x="9052560" y="3337560"/>
            <a:ext cx="2590495" cy="1143000"/>
          </a:xfrm>
          <a:prstGeom prst="rect">
            <a:avLst/>
          </a:prstGeom>
          <a:solidFill>
            <a:srgbClr val="F6F3EE"/>
          </a:solidFill>
          <a:ln w="12700">
            <a:solidFill>
              <a:srgbClr val="F6F3EE"/>
            </a:solidFill>
            <a:prstDash val="solid"/>
          </a:ln>
        </p:spPr>
      </p:sp>
      <p:sp>
        <p:nvSpPr>
          <p:cNvPr id="8" name="Text 4"/>
          <p:cNvSpPr txBox="1"/>
          <p:nvPr/>
        </p:nvSpPr>
        <p:spPr>
          <a:xfrm>
            <a:off x="9235440" y="3447288"/>
            <a:ext cx="2224735" cy="566928"/>
          </a:xfrm>
          <a:prstGeom prst="rect">
            <a:avLst/>
          </a:prstGeom>
          <a:noFill/>
          <a:ln/>
        </p:spPr>
        <p:txBody>
          <a:bodyPr wrap="square" lIns="0" tIns="0" rIns="0" bIns="0" rtlCol="0" anchor="ctr"/>
          <a:lstStyle/>
          <a:p>
            <a:pPr rtl="1" algn="r" indent="0" marL="0">
              <a:buNone/>
            </a:pPr>
            <a:r>
              <a:rPr lang="en-US" sz="2600" b="1" dirty="0">
                <a:solidFill>
                  <a:srgbClr val="C69A45"/>
                </a:solidFill>
                <a:latin typeface="Arial" pitchFamily="34" charset="0"/>
                <a:ea typeface="Arial" pitchFamily="34" charset="-122"/>
                <a:cs typeface="Arial" pitchFamily="34" charset="-120"/>
              </a:rPr>
              <a:t>246</a:t>
            </a:r>
            <a:endParaRPr lang="en-US" sz="2600" dirty="0"/>
          </a:p>
        </p:txBody>
      </p:sp>
      <p:sp>
        <p:nvSpPr>
          <p:cNvPr id="9" name="Text 5"/>
          <p:cNvSpPr txBox="1"/>
          <p:nvPr/>
        </p:nvSpPr>
        <p:spPr>
          <a:xfrm>
            <a:off x="9235440" y="4014216"/>
            <a:ext cx="2224735" cy="365760"/>
          </a:xfrm>
          <a:prstGeom prst="rect">
            <a:avLst/>
          </a:prstGeom>
          <a:noFill/>
          <a:ln/>
        </p:spPr>
        <p:txBody>
          <a:bodyPr wrap="square" lIns="0" tIns="0" rIns="0" bIns="0" rtlCol="0" anchor="ctr"/>
          <a:lstStyle/>
          <a:p>
            <a:pPr rtl="1" algn="r" indent="0" marL="0">
              <a:buNone/>
            </a:pPr>
            <a:r>
              <a:rPr lang="en-US" sz="1200" dirty="0">
                <a:solidFill>
                  <a:srgbClr val="5C524C"/>
                </a:solidFill>
                <a:latin typeface="Arial" pitchFamily="34" charset="0"/>
                <a:ea typeface="Arial" pitchFamily="34" charset="-122"/>
                <a:cs typeface="Arial" pitchFamily="34" charset="-120"/>
              </a:rPr>
              <a:t>وحدة سكنية منفذة (2020 - 2023)</a:t>
            </a:r>
            <a:endParaRPr lang="en-US" sz="1200" dirty="0"/>
          </a:p>
        </p:txBody>
      </p:sp>
      <p:sp>
        <p:nvSpPr>
          <p:cNvPr id="10" name="Shape 6"/>
          <p:cNvSpPr/>
          <p:nvPr/>
        </p:nvSpPr>
        <p:spPr>
          <a:xfrm>
            <a:off x="6172200" y="3337560"/>
            <a:ext cx="2651760" cy="1143000"/>
          </a:xfrm>
          <a:prstGeom prst="rect">
            <a:avLst/>
          </a:prstGeom>
          <a:solidFill>
            <a:srgbClr val="2B2522"/>
          </a:solidFill>
          <a:ln w="12700">
            <a:solidFill>
              <a:srgbClr val="2B2522"/>
            </a:solidFill>
            <a:prstDash val="solid"/>
          </a:ln>
        </p:spPr>
      </p:sp>
      <p:sp>
        <p:nvSpPr>
          <p:cNvPr id="11" name="Text 7"/>
          <p:cNvSpPr txBox="1"/>
          <p:nvPr/>
        </p:nvSpPr>
        <p:spPr>
          <a:xfrm>
            <a:off x="6355080" y="3447288"/>
            <a:ext cx="2286000" cy="566928"/>
          </a:xfrm>
          <a:prstGeom prst="rect">
            <a:avLst/>
          </a:prstGeom>
          <a:noFill/>
          <a:ln/>
        </p:spPr>
        <p:txBody>
          <a:bodyPr wrap="square" lIns="0" tIns="0" rIns="0" bIns="0" rtlCol="0" anchor="ctr"/>
          <a:lstStyle/>
          <a:p>
            <a:pPr rtl="1" algn="r" indent="0" marL="0">
              <a:buNone/>
            </a:pPr>
            <a:r>
              <a:rPr lang="en-US" sz="2600" b="1" dirty="0">
                <a:solidFill>
                  <a:srgbClr val="C69A45"/>
                </a:solidFill>
                <a:latin typeface="Arial" pitchFamily="34" charset="0"/>
                <a:ea typeface="Arial" pitchFamily="34" charset="-122"/>
                <a:cs typeface="Arial" pitchFamily="34" charset="-120"/>
              </a:rPr>
              <a:t>+1000</a:t>
            </a:r>
            <a:endParaRPr lang="en-US" sz="2600" dirty="0"/>
          </a:p>
        </p:txBody>
      </p:sp>
      <p:sp>
        <p:nvSpPr>
          <p:cNvPr id="12" name="Text 8"/>
          <p:cNvSpPr txBox="1"/>
          <p:nvPr/>
        </p:nvSpPr>
        <p:spPr>
          <a:xfrm>
            <a:off x="6355080" y="4014216"/>
            <a:ext cx="2286000" cy="365760"/>
          </a:xfrm>
          <a:prstGeom prst="rect">
            <a:avLst/>
          </a:prstGeom>
          <a:noFill/>
          <a:ln/>
        </p:spPr>
        <p:txBody>
          <a:bodyPr wrap="square" lIns="0" tIns="0" rIns="0" bIns="0" rtlCol="0" anchor="ctr"/>
          <a:lstStyle/>
          <a:p>
            <a:pPr rtl="1" algn="r" indent="0" marL="0">
              <a:buNone/>
            </a:pPr>
            <a:r>
              <a:rPr lang="en-US" sz="1200" dirty="0">
                <a:solidFill>
                  <a:srgbClr val="E8E2DA"/>
                </a:solidFill>
                <a:latin typeface="Arial" pitchFamily="34" charset="0"/>
                <a:ea typeface="Arial" pitchFamily="34" charset="-122"/>
                <a:cs typeface="Arial" pitchFamily="34" charset="-120"/>
              </a:rPr>
              <a:t>وحدة مستهدفة (2024 - 2027)</a:t>
            </a:r>
            <a:endParaRPr lang="en-US" sz="1200" dirty="0"/>
          </a:p>
        </p:txBody>
      </p:sp>
      <p:sp>
        <p:nvSpPr>
          <p:cNvPr id="13" name="Text 9"/>
          <p:cNvSpPr txBox="1"/>
          <p:nvPr/>
        </p:nvSpPr>
        <p:spPr>
          <a:xfrm>
            <a:off x="548640" y="6473952"/>
            <a:ext cx="3657600" cy="228600"/>
          </a:xfrm>
          <a:prstGeom prst="rect">
            <a:avLst/>
          </a:prstGeom>
          <a:noFill/>
          <a:ln/>
        </p:spPr>
        <p:txBody>
          <a:bodyPr wrap="square" lIns="0" tIns="0" rIns="0" bIns="0" rtlCol="0" anchor="ctr"/>
          <a:lstStyle/>
          <a:p>
            <a:pPr rtl="1" algn="l" indent="0" marL="0">
              <a:buNone/>
            </a:pPr>
            <a:r>
              <a:rPr lang="en-US" sz="900" dirty="0">
                <a:solidFill>
                  <a:srgbClr val="8A807A"/>
                </a:solidFill>
                <a:latin typeface="Arial" pitchFamily="34" charset="0"/>
                <a:ea typeface="Arial" pitchFamily="34" charset="-122"/>
                <a:cs typeface="Arial" pitchFamily="34" charset="-120"/>
              </a:rPr>
              <a:t>مشروع أرض العليا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0" y="384048"/>
            <a:ext cx="8442655" cy="640080"/>
          </a:xfrm>
          <a:prstGeom prst="rect">
            <a:avLst/>
          </a:prstGeom>
          <a:noFill/>
          <a:ln/>
        </p:spPr>
        <p:txBody>
          <a:bodyPr wrap="square" lIns="0" tIns="0" rIns="0" bIns="0" rtlCol="0" anchor="ctr"/>
          <a:lstStyle/>
          <a:p>
            <a:pPr rtl="1" algn="r" indent="0" marL="0">
              <a:buNone/>
            </a:pPr>
            <a:r>
              <a:rPr lang="en-US" sz="3000" b="1" dirty="0">
                <a:solidFill>
                  <a:srgbClr val="2B2522"/>
                </a:solidFill>
                <a:latin typeface="Arial" pitchFamily="34" charset="0"/>
                <a:ea typeface="Arial" pitchFamily="34" charset="-122"/>
                <a:cs typeface="Arial" pitchFamily="34" charset="-120"/>
              </a:rPr>
              <a:t>الرؤية والقيم</a:t>
            </a:r>
            <a:endParaRPr lang="en-US" sz="3000" dirty="0"/>
          </a:p>
        </p:txBody>
      </p:sp>
      <p:pic>
        <p:nvPicPr>
          <p:cNvPr id="3" name="Image 0" descr="/tmp/claude-0/-home-user-wagdy/f24981f4-70a0-5320-9840-62400667b25b/scratchpad/logo_dark.png">    </p:cNvPr>
          <p:cNvPicPr>
            <a:picLocks noChangeAspect="1"/>
          </p:cNvPicPr>
          <p:nvPr/>
        </p:nvPicPr>
        <p:blipFill>
          <a:blip r:embed="rId1"/>
          <a:stretch>
            <a:fillRect/>
          </a:stretch>
        </p:blipFill>
        <p:spPr>
          <a:xfrm>
            <a:off x="548640" y="457200"/>
            <a:ext cx="1206444" cy="457200"/>
          </a:xfrm>
          <a:prstGeom prst="rect">
            <a:avLst/>
          </a:prstGeom>
        </p:spPr>
      </p:pic>
      <p:pic>
        <p:nvPicPr>
          <p:cNvPr id="4" name="Image 1" descr="/tmp/claude-0/-home-user-wagdy/f24981f4-70a0-5320-9840-62400667b25b/scratchpad/a/p016.jpg">    </p:cNvPr>
          <p:cNvPicPr>
            <a:picLocks noChangeAspect="1"/>
          </p:cNvPicPr>
          <p:nvPr/>
        </p:nvPicPr>
        <p:blipFill>
          <a:blip r:embed="rId2"/>
          <a:srcRect l="0" r="0" t="0" b="0"/>
          <a:stretch/>
        </p:blipFill>
        <p:spPr>
          <a:xfrm>
            <a:off x="548640" y="1325880"/>
            <a:ext cx="4023360" cy="5074920"/>
          </a:xfrm>
          <a:prstGeom prst="rect">
            <a:avLst/>
          </a:prstGeom>
        </p:spPr>
      </p:pic>
      <p:sp>
        <p:nvSpPr>
          <p:cNvPr id="5" name="Shape 1"/>
          <p:cNvSpPr/>
          <p:nvPr/>
        </p:nvSpPr>
        <p:spPr>
          <a:xfrm>
            <a:off x="4937760" y="1325880"/>
            <a:ext cx="6705295" cy="1417320"/>
          </a:xfrm>
          <a:prstGeom prst="rect">
            <a:avLst/>
          </a:prstGeom>
          <a:solidFill>
            <a:srgbClr val="2B2522"/>
          </a:solidFill>
          <a:ln w="12700">
            <a:solidFill>
              <a:srgbClr val="2B2522"/>
            </a:solidFill>
            <a:prstDash val="solid"/>
          </a:ln>
        </p:spPr>
      </p:sp>
      <p:sp>
        <p:nvSpPr>
          <p:cNvPr id="6" name="Text 2"/>
          <p:cNvSpPr txBox="1"/>
          <p:nvPr/>
        </p:nvSpPr>
        <p:spPr>
          <a:xfrm>
            <a:off x="5166360" y="1417320"/>
            <a:ext cx="6248095" cy="1234440"/>
          </a:xfrm>
          <a:prstGeom prst="rect">
            <a:avLst/>
          </a:prstGeom>
          <a:noFill/>
          <a:ln/>
        </p:spPr>
        <p:txBody>
          <a:bodyPr wrap="square" lIns="0" tIns="0" rIns="0" bIns="0" rtlCol="0" anchor="ctr"/>
          <a:lstStyle/>
          <a:p>
            <a:pPr algn="r" indent="0" marL="0">
              <a:lnSpc>
                <a:spcPct val="115000"/>
              </a:lnSpc>
              <a:buNone/>
            </a:pPr>
            <a:r>
              <a:rPr lang="en-US" sz="1600" b="1" dirty="0">
                <a:solidFill>
                  <a:srgbClr val="C69A45"/>
                </a:solidFill>
                <a:latin typeface="Arial" pitchFamily="34" charset="0"/>
                <a:ea typeface="Arial" pitchFamily="34" charset="-122"/>
                <a:cs typeface="Arial" pitchFamily="34" charset="-120"/>
              </a:rPr>
              <a:t>الرؤية</a:t>
            </a:r>
            <a:endParaRPr lang="en-US" sz="1600" dirty="0"/>
          </a:p>
          <a:p>
            <a:pPr algn="r" indent="0" marL="0">
              <a:lnSpc>
                <a:spcPct val="115000"/>
              </a:lnSpc>
              <a:buNone/>
            </a:pPr>
            <a:r>
              <a:rPr lang="en-US" sz="1300" dirty="0">
                <a:solidFill>
                  <a:srgbClr val="FFFFFF"/>
                </a:solidFill>
                <a:latin typeface="Arial" pitchFamily="34" charset="0"/>
                <a:ea typeface="Arial" pitchFamily="34" charset="-122"/>
                <a:cs typeface="Arial" pitchFamily="34" charset="-120"/>
              </a:rPr>
              <a:t>أن يكون اسم حَصِير شعاراً ودلالة للجودة الفائقة والموثوقية العالية والاستدامة، عبر الشراكات المثمرة مع رواد القطاع العقاري والمساهمة في نمو خارطة الحلول السكنية في المملكة.</a:t>
            </a:r>
            <a:endParaRPr lang="en-US" sz="1600" dirty="0"/>
          </a:p>
        </p:txBody>
      </p:sp>
      <p:sp>
        <p:nvSpPr>
          <p:cNvPr id="7" name="Shape 3"/>
          <p:cNvSpPr/>
          <p:nvPr/>
        </p:nvSpPr>
        <p:spPr>
          <a:xfrm>
            <a:off x="8427568" y="2971800"/>
            <a:ext cx="3215488" cy="1051560"/>
          </a:xfrm>
          <a:prstGeom prst="rect">
            <a:avLst/>
          </a:prstGeom>
          <a:solidFill>
            <a:srgbClr val="F6F3EE"/>
          </a:solidFill>
          <a:ln w="12700">
            <a:solidFill>
              <a:srgbClr val="F6F3EE"/>
            </a:solidFill>
            <a:prstDash val="solid"/>
          </a:ln>
        </p:spPr>
      </p:sp>
      <p:sp>
        <p:nvSpPr>
          <p:cNvPr id="8" name="Shape 4"/>
          <p:cNvSpPr/>
          <p:nvPr/>
        </p:nvSpPr>
        <p:spPr>
          <a:xfrm>
            <a:off x="11231575" y="3172968"/>
            <a:ext cx="201168" cy="201168"/>
          </a:xfrm>
          <a:prstGeom prst="rect">
            <a:avLst/>
          </a:prstGeom>
          <a:solidFill>
            <a:srgbClr val="C69A45"/>
          </a:solidFill>
          <a:ln w="12700">
            <a:solidFill>
              <a:srgbClr val="C69A45"/>
            </a:solidFill>
            <a:prstDash val="solid"/>
          </a:ln>
        </p:spPr>
      </p:sp>
      <p:sp>
        <p:nvSpPr>
          <p:cNvPr id="9" name="Text 5"/>
          <p:cNvSpPr txBox="1"/>
          <p:nvPr/>
        </p:nvSpPr>
        <p:spPr>
          <a:xfrm>
            <a:off x="8610448" y="3081528"/>
            <a:ext cx="2483968" cy="365760"/>
          </a:xfrm>
          <a:prstGeom prst="rect">
            <a:avLst/>
          </a:prstGeom>
          <a:noFill/>
          <a:ln/>
        </p:spPr>
        <p:txBody>
          <a:bodyPr wrap="square" lIns="0" tIns="0" rIns="0" bIns="0" rtlCol="0" anchor="ctr"/>
          <a:lstStyle/>
          <a:p>
            <a:pPr rtl="1" algn="r" indent="0" marL="0">
              <a:buNone/>
            </a:pPr>
            <a:r>
              <a:rPr lang="en-US" sz="1500" b="1" dirty="0">
                <a:solidFill>
                  <a:srgbClr val="2B2522"/>
                </a:solidFill>
                <a:latin typeface="Arial" pitchFamily="34" charset="0"/>
                <a:ea typeface="Arial" pitchFamily="34" charset="-122"/>
                <a:cs typeface="Arial" pitchFamily="34" charset="-120"/>
              </a:rPr>
              <a:t>الابتكار</a:t>
            </a:r>
            <a:endParaRPr lang="en-US" sz="1500" dirty="0"/>
          </a:p>
        </p:txBody>
      </p:sp>
      <p:sp>
        <p:nvSpPr>
          <p:cNvPr id="10" name="Text 6"/>
          <p:cNvSpPr txBox="1"/>
          <p:nvPr/>
        </p:nvSpPr>
        <p:spPr>
          <a:xfrm>
            <a:off x="8610448" y="3429000"/>
            <a:ext cx="2849728" cy="530352"/>
          </a:xfrm>
          <a:prstGeom prst="rect">
            <a:avLst/>
          </a:prstGeom>
          <a:noFill/>
          <a:ln/>
        </p:spPr>
        <p:txBody>
          <a:bodyPr wrap="square" lIns="0" tIns="0" rIns="0" bIns="0" rtlCol="0" anchor="t"/>
          <a:lstStyle/>
          <a:p>
            <a:pPr rtl="1" algn="r" indent="0" marL="0">
              <a:buNone/>
            </a:pPr>
            <a:r>
              <a:rPr lang="en-US" sz="1150" dirty="0">
                <a:solidFill>
                  <a:srgbClr val="5C524C"/>
                </a:solidFill>
                <a:latin typeface="Arial" pitchFamily="34" charset="0"/>
                <a:ea typeface="Arial" pitchFamily="34" charset="-122"/>
                <a:cs typeface="Arial" pitchFamily="34" charset="-120"/>
              </a:rPr>
              <a:t>الاستفادة من التجارب العالمية الناجحة والممارسات الهندسية الحديثة.</a:t>
            </a:r>
            <a:endParaRPr lang="en-US" sz="1150" dirty="0"/>
          </a:p>
        </p:txBody>
      </p:sp>
      <p:sp>
        <p:nvSpPr>
          <p:cNvPr id="11" name="Shape 7"/>
          <p:cNvSpPr/>
          <p:nvPr/>
        </p:nvSpPr>
        <p:spPr>
          <a:xfrm>
            <a:off x="4937760" y="2971800"/>
            <a:ext cx="3215488" cy="1051560"/>
          </a:xfrm>
          <a:prstGeom prst="rect">
            <a:avLst/>
          </a:prstGeom>
          <a:solidFill>
            <a:srgbClr val="F6F3EE"/>
          </a:solidFill>
          <a:ln w="12700">
            <a:solidFill>
              <a:srgbClr val="F6F3EE"/>
            </a:solidFill>
            <a:prstDash val="solid"/>
          </a:ln>
        </p:spPr>
      </p:sp>
      <p:sp>
        <p:nvSpPr>
          <p:cNvPr id="12" name="Shape 8"/>
          <p:cNvSpPr/>
          <p:nvPr/>
        </p:nvSpPr>
        <p:spPr>
          <a:xfrm>
            <a:off x="7741768" y="3172968"/>
            <a:ext cx="201168" cy="201168"/>
          </a:xfrm>
          <a:prstGeom prst="rect">
            <a:avLst/>
          </a:prstGeom>
          <a:solidFill>
            <a:srgbClr val="C69A45"/>
          </a:solidFill>
          <a:ln w="12700">
            <a:solidFill>
              <a:srgbClr val="C69A45"/>
            </a:solidFill>
            <a:prstDash val="solid"/>
          </a:ln>
        </p:spPr>
      </p:sp>
      <p:sp>
        <p:nvSpPr>
          <p:cNvPr id="13" name="Text 9"/>
          <p:cNvSpPr txBox="1"/>
          <p:nvPr/>
        </p:nvSpPr>
        <p:spPr>
          <a:xfrm>
            <a:off x="5120640" y="3081528"/>
            <a:ext cx="2483968" cy="365760"/>
          </a:xfrm>
          <a:prstGeom prst="rect">
            <a:avLst/>
          </a:prstGeom>
          <a:noFill/>
          <a:ln/>
        </p:spPr>
        <p:txBody>
          <a:bodyPr wrap="square" lIns="0" tIns="0" rIns="0" bIns="0" rtlCol="0" anchor="ctr"/>
          <a:lstStyle/>
          <a:p>
            <a:pPr rtl="1" algn="r" indent="0" marL="0">
              <a:buNone/>
            </a:pPr>
            <a:r>
              <a:rPr lang="en-US" sz="1500" b="1" dirty="0">
                <a:solidFill>
                  <a:srgbClr val="2B2522"/>
                </a:solidFill>
                <a:latin typeface="Arial" pitchFamily="34" charset="0"/>
                <a:ea typeface="Arial" pitchFamily="34" charset="-122"/>
                <a:cs typeface="Arial" pitchFamily="34" charset="-120"/>
              </a:rPr>
              <a:t>الأصالة</a:t>
            </a:r>
            <a:endParaRPr lang="en-US" sz="1500" dirty="0"/>
          </a:p>
        </p:txBody>
      </p:sp>
      <p:sp>
        <p:nvSpPr>
          <p:cNvPr id="14" name="Text 10"/>
          <p:cNvSpPr txBox="1"/>
          <p:nvPr/>
        </p:nvSpPr>
        <p:spPr>
          <a:xfrm>
            <a:off x="5120640" y="3429000"/>
            <a:ext cx="2849728" cy="530352"/>
          </a:xfrm>
          <a:prstGeom prst="rect">
            <a:avLst/>
          </a:prstGeom>
          <a:noFill/>
          <a:ln/>
        </p:spPr>
        <p:txBody>
          <a:bodyPr wrap="square" lIns="0" tIns="0" rIns="0" bIns="0" rtlCol="0" anchor="t"/>
          <a:lstStyle/>
          <a:p>
            <a:pPr rtl="1" algn="r" indent="0" marL="0">
              <a:buNone/>
            </a:pPr>
            <a:r>
              <a:rPr lang="en-US" sz="1150" dirty="0">
                <a:solidFill>
                  <a:srgbClr val="5C524C"/>
                </a:solidFill>
                <a:latin typeface="Arial" pitchFamily="34" charset="0"/>
                <a:ea typeface="Arial" pitchFamily="34" charset="-122"/>
                <a:cs typeface="Arial" pitchFamily="34" charset="-120"/>
              </a:rPr>
              <a:t>تصميم معماري يجعل المنتجات السكنية منارات حضارية لمحيطها.</a:t>
            </a:r>
            <a:endParaRPr lang="en-US" sz="1150" dirty="0"/>
          </a:p>
        </p:txBody>
      </p:sp>
      <p:sp>
        <p:nvSpPr>
          <p:cNvPr id="15" name="Shape 11"/>
          <p:cNvSpPr/>
          <p:nvPr/>
        </p:nvSpPr>
        <p:spPr>
          <a:xfrm>
            <a:off x="8427568" y="4206240"/>
            <a:ext cx="3215488" cy="1051560"/>
          </a:xfrm>
          <a:prstGeom prst="rect">
            <a:avLst/>
          </a:prstGeom>
          <a:solidFill>
            <a:srgbClr val="F6F3EE"/>
          </a:solidFill>
          <a:ln w="12700">
            <a:solidFill>
              <a:srgbClr val="F6F3EE"/>
            </a:solidFill>
            <a:prstDash val="solid"/>
          </a:ln>
        </p:spPr>
      </p:sp>
      <p:sp>
        <p:nvSpPr>
          <p:cNvPr id="16" name="Shape 12"/>
          <p:cNvSpPr/>
          <p:nvPr/>
        </p:nvSpPr>
        <p:spPr>
          <a:xfrm>
            <a:off x="11231575" y="4407408"/>
            <a:ext cx="201168" cy="201168"/>
          </a:xfrm>
          <a:prstGeom prst="rect">
            <a:avLst/>
          </a:prstGeom>
          <a:solidFill>
            <a:srgbClr val="C69A45"/>
          </a:solidFill>
          <a:ln w="12700">
            <a:solidFill>
              <a:srgbClr val="C69A45"/>
            </a:solidFill>
            <a:prstDash val="solid"/>
          </a:ln>
        </p:spPr>
      </p:sp>
      <p:sp>
        <p:nvSpPr>
          <p:cNvPr id="17" name="Text 13"/>
          <p:cNvSpPr txBox="1"/>
          <p:nvPr/>
        </p:nvSpPr>
        <p:spPr>
          <a:xfrm>
            <a:off x="8610448" y="4315968"/>
            <a:ext cx="2483968" cy="365760"/>
          </a:xfrm>
          <a:prstGeom prst="rect">
            <a:avLst/>
          </a:prstGeom>
          <a:noFill/>
          <a:ln/>
        </p:spPr>
        <p:txBody>
          <a:bodyPr wrap="square" lIns="0" tIns="0" rIns="0" bIns="0" rtlCol="0" anchor="ctr"/>
          <a:lstStyle/>
          <a:p>
            <a:pPr rtl="1" algn="r" indent="0" marL="0">
              <a:buNone/>
            </a:pPr>
            <a:r>
              <a:rPr lang="en-US" sz="1500" b="1" dirty="0">
                <a:solidFill>
                  <a:srgbClr val="2B2522"/>
                </a:solidFill>
                <a:latin typeface="Arial" pitchFamily="34" charset="0"/>
                <a:ea typeface="Arial" pitchFamily="34" charset="-122"/>
                <a:cs typeface="Arial" pitchFamily="34" charset="-120"/>
              </a:rPr>
              <a:t>الجودة</a:t>
            </a:r>
            <a:endParaRPr lang="en-US" sz="1500" dirty="0"/>
          </a:p>
        </p:txBody>
      </p:sp>
      <p:sp>
        <p:nvSpPr>
          <p:cNvPr id="18" name="Text 14"/>
          <p:cNvSpPr txBox="1"/>
          <p:nvPr/>
        </p:nvSpPr>
        <p:spPr>
          <a:xfrm>
            <a:off x="8610448" y="4663440"/>
            <a:ext cx="2849728" cy="530352"/>
          </a:xfrm>
          <a:prstGeom prst="rect">
            <a:avLst/>
          </a:prstGeom>
          <a:noFill/>
          <a:ln/>
        </p:spPr>
        <p:txBody>
          <a:bodyPr wrap="square" lIns="0" tIns="0" rIns="0" bIns="0" rtlCol="0" anchor="t"/>
          <a:lstStyle/>
          <a:p>
            <a:pPr rtl="1" algn="r" indent="0" marL="0">
              <a:buNone/>
            </a:pPr>
            <a:r>
              <a:rPr lang="en-US" sz="1150" dirty="0">
                <a:solidFill>
                  <a:srgbClr val="5C524C"/>
                </a:solidFill>
                <a:latin typeface="Arial" pitchFamily="34" charset="0"/>
                <a:ea typeface="Arial" pitchFamily="34" charset="-122"/>
                <a:cs typeface="Arial" pitchFamily="34" charset="-120"/>
              </a:rPr>
              <a:t>انتقاء دقيق للمواد والكفاءات لتكون وحدات حَصِير معياراً للجودة.</a:t>
            </a:r>
            <a:endParaRPr lang="en-US" sz="1150" dirty="0"/>
          </a:p>
        </p:txBody>
      </p:sp>
      <p:sp>
        <p:nvSpPr>
          <p:cNvPr id="19" name="Shape 15"/>
          <p:cNvSpPr/>
          <p:nvPr/>
        </p:nvSpPr>
        <p:spPr>
          <a:xfrm>
            <a:off x="4937760" y="4206240"/>
            <a:ext cx="3215488" cy="1051560"/>
          </a:xfrm>
          <a:prstGeom prst="rect">
            <a:avLst/>
          </a:prstGeom>
          <a:solidFill>
            <a:srgbClr val="F6F3EE"/>
          </a:solidFill>
          <a:ln w="12700">
            <a:solidFill>
              <a:srgbClr val="F6F3EE"/>
            </a:solidFill>
            <a:prstDash val="solid"/>
          </a:ln>
        </p:spPr>
      </p:sp>
      <p:sp>
        <p:nvSpPr>
          <p:cNvPr id="20" name="Shape 16"/>
          <p:cNvSpPr/>
          <p:nvPr/>
        </p:nvSpPr>
        <p:spPr>
          <a:xfrm>
            <a:off x="7741768" y="4407408"/>
            <a:ext cx="201168" cy="201168"/>
          </a:xfrm>
          <a:prstGeom prst="rect">
            <a:avLst/>
          </a:prstGeom>
          <a:solidFill>
            <a:srgbClr val="C69A45"/>
          </a:solidFill>
          <a:ln w="12700">
            <a:solidFill>
              <a:srgbClr val="C69A45"/>
            </a:solidFill>
            <a:prstDash val="solid"/>
          </a:ln>
        </p:spPr>
      </p:sp>
      <p:sp>
        <p:nvSpPr>
          <p:cNvPr id="21" name="Text 17"/>
          <p:cNvSpPr txBox="1"/>
          <p:nvPr/>
        </p:nvSpPr>
        <p:spPr>
          <a:xfrm>
            <a:off x="5120640" y="4315968"/>
            <a:ext cx="2483968" cy="365760"/>
          </a:xfrm>
          <a:prstGeom prst="rect">
            <a:avLst/>
          </a:prstGeom>
          <a:noFill/>
          <a:ln/>
        </p:spPr>
        <p:txBody>
          <a:bodyPr wrap="square" lIns="0" tIns="0" rIns="0" bIns="0" rtlCol="0" anchor="ctr"/>
          <a:lstStyle/>
          <a:p>
            <a:pPr rtl="1" algn="r" indent="0" marL="0">
              <a:buNone/>
            </a:pPr>
            <a:r>
              <a:rPr lang="en-US" sz="1500" b="1" dirty="0">
                <a:solidFill>
                  <a:srgbClr val="2B2522"/>
                </a:solidFill>
                <a:latin typeface="Arial" pitchFamily="34" charset="0"/>
                <a:ea typeface="Arial" pitchFamily="34" charset="-122"/>
                <a:cs typeface="Arial" pitchFamily="34" charset="-120"/>
              </a:rPr>
              <a:t>الشفافية</a:t>
            </a:r>
            <a:endParaRPr lang="en-US" sz="1500" dirty="0"/>
          </a:p>
        </p:txBody>
      </p:sp>
      <p:sp>
        <p:nvSpPr>
          <p:cNvPr id="22" name="Text 18"/>
          <p:cNvSpPr txBox="1"/>
          <p:nvPr/>
        </p:nvSpPr>
        <p:spPr>
          <a:xfrm>
            <a:off x="5120640" y="4663440"/>
            <a:ext cx="2849728" cy="530352"/>
          </a:xfrm>
          <a:prstGeom prst="rect">
            <a:avLst/>
          </a:prstGeom>
          <a:noFill/>
          <a:ln/>
        </p:spPr>
        <p:txBody>
          <a:bodyPr wrap="square" lIns="0" tIns="0" rIns="0" bIns="0" rtlCol="0" anchor="t"/>
          <a:lstStyle/>
          <a:p>
            <a:pPr rtl="1" algn="r" indent="0" marL="0">
              <a:buNone/>
            </a:pPr>
            <a:r>
              <a:rPr lang="en-US" sz="1150" dirty="0">
                <a:solidFill>
                  <a:srgbClr val="5C524C"/>
                </a:solidFill>
                <a:latin typeface="Arial" pitchFamily="34" charset="0"/>
                <a:ea typeface="Arial" pitchFamily="34" charset="-122"/>
                <a:cs typeface="Arial" pitchFamily="34" charset="-120"/>
              </a:rPr>
              <a:t>منهجيات مدروسة تضمن لجميع الأطراف تحقيق تطلعاتهم.</a:t>
            </a:r>
            <a:endParaRPr lang="en-US" sz="1150" dirty="0"/>
          </a:p>
        </p:txBody>
      </p:sp>
      <p:sp>
        <p:nvSpPr>
          <p:cNvPr id="23" name="Shape 19"/>
          <p:cNvSpPr/>
          <p:nvPr/>
        </p:nvSpPr>
        <p:spPr>
          <a:xfrm>
            <a:off x="8427568" y="5440680"/>
            <a:ext cx="3215488" cy="1051560"/>
          </a:xfrm>
          <a:prstGeom prst="rect">
            <a:avLst/>
          </a:prstGeom>
          <a:solidFill>
            <a:srgbClr val="F6F3EE"/>
          </a:solidFill>
          <a:ln w="12700">
            <a:solidFill>
              <a:srgbClr val="F6F3EE"/>
            </a:solidFill>
            <a:prstDash val="solid"/>
          </a:ln>
        </p:spPr>
      </p:sp>
      <p:sp>
        <p:nvSpPr>
          <p:cNvPr id="24" name="Shape 20"/>
          <p:cNvSpPr/>
          <p:nvPr/>
        </p:nvSpPr>
        <p:spPr>
          <a:xfrm>
            <a:off x="11231575" y="5641848"/>
            <a:ext cx="201168" cy="201168"/>
          </a:xfrm>
          <a:prstGeom prst="rect">
            <a:avLst/>
          </a:prstGeom>
          <a:solidFill>
            <a:srgbClr val="C69A45"/>
          </a:solidFill>
          <a:ln w="12700">
            <a:solidFill>
              <a:srgbClr val="C69A45"/>
            </a:solidFill>
            <a:prstDash val="solid"/>
          </a:ln>
        </p:spPr>
      </p:sp>
      <p:sp>
        <p:nvSpPr>
          <p:cNvPr id="25" name="Text 21"/>
          <p:cNvSpPr txBox="1"/>
          <p:nvPr/>
        </p:nvSpPr>
        <p:spPr>
          <a:xfrm>
            <a:off x="8610448" y="5550408"/>
            <a:ext cx="2483968" cy="365760"/>
          </a:xfrm>
          <a:prstGeom prst="rect">
            <a:avLst/>
          </a:prstGeom>
          <a:noFill/>
          <a:ln/>
        </p:spPr>
        <p:txBody>
          <a:bodyPr wrap="square" lIns="0" tIns="0" rIns="0" bIns="0" rtlCol="0" anchor="ctr"/>
          <a:lstStyle/>
          <a:p>
            <a:pPr rtl="1" algn="r" indent="0" marL="0">
              <a:buNone/>
            </a:pPr>
            <a:r>
              <a:rPr lang="en-US" sz="1500" b="1" dirty="0">
                <a:solidFill>
                  <a:srgbClr val="2B2522"/>
                </a:solidFill>
                <a:latin typeface="Arial" pitchFamily="34" charset="0"/>
                <a:ea typeface="Arial" pitchFamily="34" charset="-122"/>
                <a:cs typeface="Arial" pitchFamily="34" charset="-120"/>
              </a:rPr>
              <a:t>ثقافتنا</a:t>
            </a:r>
            <a:endParaRPr lang="en-US" sz="1500" dirty="0"/>
          </a:p>
        </p:txBody>
      </p:sp>
      <p:sp>
        <p:nvSpPr>
          <p:cNvPr id="26" name="Text 22"/>
          <p:cNvSpPr txBox="1"/>
          <p:nvPr/>
        </p:nvSpPr>
        <p:spPr>
          <a:xfrm>
            <a:off x="8610448" y="5897880"/>
            <a:ext cx="2849728" cy="530352"/>
          </a:xfrm>
          <a:prstGeom prst="rect">
            <a:avLst/>
          </a:prstGeom>
          <a:noFill/>
          <a:ln/>
        </p:spPr>
        <p:txBody>
          <a:bodyPr wrap="square" lIns="0" tIns="0" rIns="0" bIns="0" rtlCol="0" anchor="t"/>
          <a:lstStyle/>
          <a:p>
            <a:pPr rtl="1" algn="r" indent="0" marL="0">
              <a:buNone/>
            </a:pPr>
            <a:r>
              <a:rPr lang="en-US" sz="1150" dirty="0">
                <a:solidFill>
                  <a:srgbClr val="5C524C"/>
                </a:solidFill>
                <a:latin typeface="Arial" pitchFamily="34" charset="0"/>
                <a:ea typeface="Arial" pitchFamily="34" charset="-122"/>
                <a:cs typeface="Arial" pitchFamily="34" charset="-120"/>
              </a:rPr>
              <a:t>تحقيق القيمة المضافة للمساهمين والمستثمرين عبر أمهر الخبراء.</a:t>
            </a:r>
            <a:endParaRPr lang="en-US" sz="1150" dirty="0"/>
          </a:p>
        </p:txBody>
      </p:sp>
      <p:sp>
        <p:nvSpPr>
          <p:cNvPr id="27" name="Shape 23"/>
          <p:cNvSpPr/>
          <p:nvPr/>
        </p:nvSpPr>
        <p:spPr>
          <a:xfrm>
            <a:off x="4937760" y="5440680"/>
            <a:ext cx="3215488" cy="1051560"/>
          </a:xfrm>
          <a:prstGeom prst="rect">
            <a:avLst/>
          </a:prstGeom>
          <a:solidFill>
            <a:srgbClr val="F6F3EE"/>
          </a:solidFill>
          <a:ln w="12700">
            <a:solidFill>
              <a:srgbClr val="F6F3EE"/>
            </a:solidFill>
            <a:prstDash val="solid"/>
          </a:ln>
        </p:spPr>
      </p:sp>
      <p:sp>
        <p:nvSpPr>
          <p:cNvPr id="28" name="Shape 24"/>
          <p:cNvSpPr/>
          <p:nvPr/>
        </p:nvSpPr>
        <p:spPr>
          <a:xfrm>
            <a:off x="7741768" y="5641848"/>
            <a:ext cx="201168" cy="201168"/>
          </a:xfrm>
          <a:prstGeom prst="rect">
            <a:avLst/>
          </a:prstGeom>
          <a:solidFill>
            <a:srgbClr val="C69A45"/>
          </a:solidFill>
          <a:ln w="12700">
            <a:solidFill>
              <a:srgbClr val="C69A45"/>
            </a:solidFill>
            <a:prstDash val="solid"/>
          </a:ln>
        </p:spPr>
      </p:sp>
      <p:sp>
        <p:nvSpPr>
          <p:cNvPr id="29" name="Text 25"/>
          <p:cNvSpPr txBox="1"/>
          <p:nvPr/>
        </p:nvSpPr>
        <p:spPr>
          <a:xfrm>
            <a:off x="5120640" y="5550408"/>
            <a:ext cx="2483968" cy="365760"/>
          </a:xfrm>
          <a:prstGeom prst="rect">
            <a:avLst/>
          </a:prstGeom>
          <a:noFill/>
          <a:ln/>
        </p:spPr>
        <p:txBody>
          <a:bodyPr wrap="square" lIns="0" tIns="0" rIns="0" bIns="0" rtlCol="0" anchor="ctr"/>
          <a:lstStyle/>
          <a:p>
            <a:pPr rtl="1" algn="r" indent="0" marL="0">
              <a:buNone/>
            </a:pPr>
            <a:r>
              <a:rPr lang="en-US" sz="1500" b="1" dirty="0">
                <a:solidFill>
                  <a:srgbClr val="2B2522"/>
                </a:solidFill>
                <a:latin typeface="Arial" pitchFamily="34" charset="0"/>
                <a:ea typeface="Arial" pitchFamily="34" charset="-122"/>
                <a:cs typeface="Arial" pitchFamily="34" charset="-120"/>
              </a:rPr>
              <a:t>هدفنا</a:t>
            </a:r>
            <a:endParaRPr lang="en-US" sz="1500" dirty="0"/>
          </a:p>
        </p:txBody>
      </p:sp>
      <p:sp>
        <p:nvSpPr>
          <p:cNvPr id="30" name="Text 26"/>
          <p:cNvSpPr txBox="1"/>
          <p:nvPr/>
        </p:nvSpPr>
        <p:spPr>
          <a:xfrm>
            <a:off x="5120640" y="5897880"/>
            <a:ext cx="2849728" cy="530352"/>
          </a:xfrm>
          <a:prstGeom prst="rect">
            <a:avLst/>
          </a:prstGeom>
          <a:noFill/>
          <a:ln/>
        </p:spPr>
        <p:txBody>
          <a:bodyPr wrap="square" lIns="0" tIns="0" rIns="0" bIns="0" rtlCol="0" anchor="t"/>
          <a:lstStyle/>
          <a:p>
            <a:pPr rtl="1" algn="r" indent="0" marL="0">
              <a:buNone/>
            </a:pPr>
            <a:r>
              <a:rPr lang="en-US" sz="1150" dirty="0">
                <a:solidFill>
                  <a:srgbClr val="5C524C"/>
                </a:solidFill>
                <a:latin typeface="Arial" pitchFamily="34" charset="0"/>
                <a:ea typeface="Arial" pitchFamily="34" charset="-122"/>
                <a:cs typeface="Arial" pitchFamily="34" charset="-120"/>
              </a:rPr>
              <a:t>إنجازات معمارية تضيف قيمة حقيقية للمشهد الحضري وتطلعات المستثمرين.</a:t>
            </a:r>
            <a:endParaRPr lang="en-US" sz="1150" dirty="0"/>
          </a:p>
        </p:txBody>
      </p:sp>
      <p:sp>
        <p:nvSpPr>
          <p:cNvPr id="31" name="Text 27"/>
          <p:cNvSpPr txBox="1"/>
          <p:nvPr/>
        </p:nvSpPr>
        <p:spPr>
          <a:xfrm>
            <a:off x="548640" y="6473952"/>
            <a:ext cx="3657600" cy="228600"/>
          </a:xfrm>
          <a:prstGeom prst="rect">
            <a:avLst/>
          </a:prstGeom>
          <a:noFill/>
          <a:ln/>
        </p:spPr>
        <p:txBody>
          <a:bodyPr wrap="square" lIns="0" tIns="0" rIns="0" bIns="0" rtlCol="0" anchor="ctr"/>
          <a:lstStyle/>
          <a:p>
            <a:pPr rtl="1" algn="l" indent="0" marL="0">
              <a:buNone/>
            </a:pPr>
            <a:r>
              <a:rPr lang="en-US" sz="900" dirty="0">
                <a:solidFill>
                  <a:srgbClr val="8A807A"/>
                </a:solidFill>
                <a:latin typeface="Arial" pitchFamily="34" charset="0"/>
                <a:ea typeface="Arial" pitchFamily="34" charset="-122"/>
                <a:cs typeface="Arial" pitchFamily="34" charset="-120"/>
              </a:rPr>
              <a:t>مشروع أرض العليا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0" y="384048"/>
            <a:ext cx="8442655" cy="640080"/>
          </a:xfrm>
          <a:prstGeom prst="rect">
            <a:avLst/>
          </a:prstGeom>
          <a:noFill/>
          <a:ln/>
        </p:spPr>
        <p:txBody>
          <a:bodyPr wrap="square" lIns="0" tIns="0" rIns="0" bIns="0" rtlCol="0" anchor="ctr"/>
          <a:lstStyle/>
          <a:p>
            <a:pPr rtl="1" algn="r" indent="0" marL="0">
              <a:buNone/>
            </a:pPr>
            <a:r>
              <a:rPr lang="en-US" sz="3000" b="1" dirty="0">
                <a:solidFill>
                  <a:srgbClr val="2B2522"/>
                </a:solidFill>
                <a:latin typeface="Arial" pitchFamily="34" charset="0"/>
                <a:ea typeface="Arial" pitchFamily="34" charset="-122"/>
                <a:cs typeface="Arial" pitchFamily="34" charset="-120"/>
              </a:rPr>
              <a:t>منهج العمل</a:t>
            </a:r>
            <a:endParaRPr lang="en-US" sz="3000" dirty="0"/>
          </a:p>
        </p:txBody>
      </p:sp>
      <p:sp>
        <p:nvSpPr>
          <p:cNvPr id="3" name="Text 1"/>
          <p:cNvSpPr txBox="1"/>
          <p:nvPr/>
        </p:nvSpPr>
        <p:spPr>
          <a:xfrm>
            <a:off x="3200400" y="987552"/>
            <a:ext cx="8442655" cy="365760"/>
          </a:xfrm>
          <a:prstGeom prst="rect">
            <a:avLst/>
          </a:prstGeom>
          <a:noFill/>
          <a:ln/>
        </p:spPr>
        <p:txBody>
          <a:bodyPr wrap="square" lIns="0" tIns="0" rIns="0" bIns="0" rtlCol="0" anchor="ctr"/>
          <a:lstStyle/>
          <a:p>
            <a:pPr rtl="1" algn="r" indent="0" marL="0">
              <a:buNone/>
            </a:pPr>
            <a:r>
              <a:rPr lang="en-US" sz="1400" dirty="0">
                <a:solidFill>
                  <a:srgbClr val="8A807A"/>
                </a:solidFill>
                <a:latin typeface="Arial" pitchFamily="34" charset="0"/>
                <a:ea typeface="Arial" pitchFamily="34" charset="-122"/>
                <a:cs typeface="Arial" pitchFamily="34" charset="-120"/>
              </a:rPr>
              <a:t>خدمات حَصِير: التطوير العقاري، إدارة وتشغيل المشاريع</a:t>
            </a:r>
            <a:endParaRPr lang="en-US" sz="1400" dirty="0"/>
          </a:p>
        </p:txBody>
      </p:sp>
      <p:pic>
        <p:nvPicPr>
          <p:cNvPr id="4" name="Image 0" descr="/tmp/claude-0/-home-user-wagdy/f24981f4-70a0-5320-9840-62400667b25b/scratchpad/logo_dark.png">    </p:cNvPr>
          <p:cNvPicPr>
            <a:picLocks noChangeAspect="1"/>
          </p:cNvPicPr>
          <p:nvPr/>
        </p:nvPicPr>
        <p:blipFill>
          <a:blip r:embed="rId1"/>
          <a:stretch>
            <a:fillRect/>
          </a:stretch>
        </p:blipFill>
        <p:spPr>
          <a:xfrm>
            <a:off x="548640" y="457200"/>
            <a:ext cx="1206444" cy="457200"/>
          </a:xfrm>
          <a:prstGeom prst="rect">
            <a:avLst/>
          </a:prstGeom>
        </p:spPr>
      </p:pic>
      <p:pic>
        <p:nvPicPr>
          <p:cNvPr id="5" name="Image 1" descr="/tmp/claude-0/-home-user-wagdy/f24981f4-70a0-5320-9840-62400667b25b/scratchpad/a/p026.jpg">    </p:cNvPr>
          <p:cNvPicPr>
            <a:picLocks noChangeAspect="1"/>
          </p:cNvPicPr>
          <p:nvPr/>
        </p:nvPicPr>
        <p:blipFill>
          <a:blip r:embed="rId2"/>
          <a:srcRect l="0" r="0" t="0" b="0"/>
          <a:stretch/>
        </p:blipFill>
        <p:spPr>
          <a:xfrm>
            <a:off x="548640" y="1600200"/>
            <a:ext cx="4206240" cy="4709160"/>
          </a:xfrm>
          <a:prstGeom prst="rect">
            <a:avLst/>
          </a:prstGeom>
        </p:spPr>
      </p:pic>
      <p:sp>
        <p:nvSpPr>
          <p:cNvPr id="6" name="Shape 2"/>
          <p:cNvSpPr/>
          <p:nvPr/>
        </p:nvSpPr>
        <p:spPr>
          <a:xfrm>
            <a:off x="5120640" y="1600200"/>
            <a:ext cx="6522415" cy="1024128"/>
          </a:xfrm>
          <a:prstGeom prst="rect">
            <a:avLst/>
          </a:prstGeom>
          <a:solidFill>
            <a:srgbClr val="2B2522"/>
          </a:solidFill>
          <a:ln w="12700">
            <a:solidFill>
              <a:srgbClr val="2B2522"/>
            </a:solidFill>
            <a:prstDash val="solid"/>
          </a:ln>
        </p:spPr>
      </p:sp>
      <p:sp>
        <p:nvSpPr>
          <p:cNvPr id="7" name="Text 3"/>
          <p:cNvSpPr txBox="1"/>
          <p:nvPr/>
        </p:nvSpPr>
        <p:spPr>
          <a:xfrm>
            <a:off x="10591495" y="1600200"/>
            <a:ext cx="868680" cy="1024128"/>
          </a:xfrm>
          <a:prstGeom prst="rect">
            <a:avLst/>
          </a:prstGeom>
          <a:noFill/>
          <a:ln/>
        </p:spPr>
        <p:txBody>
          <a:bodyPr wrap="square" lIns="0" tIns="0" rIns="0" bIns="0" rtlCol="0" anchor="ctr"/>
          <a:lstStyle/>
          <a:p>
            <a:pPr rtl="1" algn="ctr" indent="0" marL="0">
              <a:buNone/>
            </a:pPr>
            <a:r>
              <a:rPr lang="en-US" sz="3000" b="1" dirty="0">
                <a:solidFill>
                  <a:srgbClr val="C69A45"/>
                </a:solidFill>
                <a:latin typeface="Arial" pitchFamily="34" charset="0"/>
                <a:ea typeface="Arial" pitchFamily="34" charset="-122"/>
                <a:cs typeface="Arial" pitchFamily="34" charset="-120"/>
              </a:rPr>
              <a:t>01</a:t>
            </a:r>
            <a:endParaRPr lang="en-US" sz="3000" dirty="0"/>
          </a:p>
        </p:txBody>
      </p:sp>
      <p:sp>
        <p:nvSpPr>
          <p:cNvPr id="8" name="Text 4"/>
          <p:cNvSpPr txBox="1"/>
          <p:nvPr/>
        </p:nvSpPr>
        <p:spPr>
          <a:xfrm>
            <a:off x="5394960" y="1728216"/>
            <a:ext cx="5059375" cy="384048"/>
          </a:xfrm>
          <a:prstGeom prst="rect">
            <a:avLst/>
          </a:prstGeom>
          <a:noFill/>
          <a:ln/>
        </p:spPr>
        <p:txBody>
          <a:bodyPr wrap="square" lIns="0" tIns="0" rIns="0" bIns="0"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تقييم الأرض</a:t>
            </a:r>
            <a:endParaRPr lang="en-US" sz="1700" dirty="0"/>
          </a:p>
        </p:txBody>
      </p:sp>
      <p:sp>
        <p:nvSpPr>
          <p:cNvPr id="9" name="Text 5"/>
          <p:cNvSpPr txBox="1"/>
          <p:nvPr/>
        </p:nvSpPr>
        <p:spPr>
          <a:xfrm>
            <a:off x="5394960" y="2112264"/>
            <a:ext cx="5059375" cy="384048"/>
          </a:xfrm>
          <a:prstGeom prst="rect">
            <a:avLst/>
          </a:prstGeom>
          <a:noFill/>
          <a:ln/>
        </p:spPr>
        <p:txBody>
          <a:bodyPr wrap="square" lIns="0" tIns="0" rIns="0" bIns="0" rtlCol="0" anchor="ctr"/>
          <a:lstStyle/>
          <a:p>
            <a:pPr rtl="1" algn="r" indent="0" marL="0">
              <a:buNone/>
            </a:pPr>
            <a:r>
              <a:rPr lang="en-US" sz="1300" dirty="0">
                <a:solidFill>
                  <a:srgbClr val="E8E2DA"/>
                </a:solidFill>
                <a:latin typeface="Arial" pitchFamily="34" charset="0"/>
                <a:ea typeface="Arial" pitchFamily="34" charset="-122"/>
                <a:cs typeface="Arial" pitchFamily="34" charset="-120"/>
              </a:rPr>
              <a:t>تحليل الموقع والمحيط والفرص المحيطة به.</a:t>
            </a:r>
            <a:endParaRPr lang="en-US" sz="1300" dirty="0"/>
          </a:p>
        </p:txBody>
      </p:sp>
      <p:sp>
        <p:nvSpPr>
          <p:cNvPr id="10" name="Shape 6"/>
          <p:cNvSpPr/>
          <p:nvPr/>
        </p:nvSpPr>
        <p:spPr>
          <a:xfrm>
            <a:off x="5120640" y="2807208"/>
            <a:ext cx="6522415" cy="1024128"/>
          </a:xfrm>
          <a:prstGeom prst="rect">
            <a:avLst/>
          </a:prstGeom>
          <a:solidFill>
            <a:srgbClr val="F6F3EE"/>
          </a:solidFill>
          <a:ln w="12700">
            <a:solidFill>
              <a:srgbClr val="F6F3EE"/>
            </a:solidFill>
            <a:prstDash val="solid"/>
          </a:ln>
        </p:spPr>
      </p:sp>
      <p:sp>
        <p:nvSpPr>
          <p:cNvPr id="11" name="Text 7"/>
          <p:cNvSpPr txBox="1"/>
          <p:nvPr/>
        </p:nvSpPr>
        <p:spPr>
          <a:xfrm>
            <a:off x="10591495" y="2807208"/>
            <a:ext cx="868680" cy="1024128"/>
          </a:xfrm>
          <a:prstGeom prst="rect">
            <a:avLst/>
          </a:prstGeom>
          <a:noFill/>
          <a:ln/>
        </p:spPr>
        <p:txBody>
          <a:bodyPr wrap="square" lIns="0" tIns="0" rIns="0" bIns="0" rtlCol="0" anchor="ctr"/>
          <a:lstStyle/>
          <a:p>
            <a:pPr rtl="1" algn="ctr" indent="0" marL="0">
              <a:buNone/>
            </a:pPr>
            <a:r>
              <a:rPr lang="en-US" sz="3000" b="1" dirty="0">
                <a:solidFill>
                  <a:srgbClr val="C69A45"/>
                </a:solidFill>
                <a:latin typeface="Arial" pitchFamily="34" charset="0"/>
                <a:ea typeface="Arial" pitchFamily="34" charset="-122"/>
                <a:cs typeface="Arial" pitchFamily="34" charset="-120"/>
              </a:rPr>
              <a:t>02</a:t>
            </a:r>
            <a:endParaRPr lang="en-US" sz="3000" dirty="0"/>
          </a:p>
        </p:txBody>
      </p:sp>
      <p:sp>
        <p:nvSpPr>
          <p:cNvPr id="12" name="Text 8"/>
          <p:cNvSpPr txBox="1"/>
          <p:nvPr/>
        </p:nvSpPr>
        <p:spPr>
          <a:xfrm>
            <a:off x="5394960" y="2935224"/>
            <a:ext cx="5059375" cy="384048"/>
          </a:xfrm>
          <a:prstGeom prst="rect">
            <a:avLst/>
          </a:prstGeom>
          <a:noFill/>
          <a:ln/>
        </p:spPr>
        <p:txBody>
          <a:bodyPr wrap="square" lIns="0" tIns="0" rIns="0" bIns="0" rtlCol="0" anchor="ctr"/>
          <a:lstStyle/>
          <a:p>
            <a:pPr rtl="1" algn="r" indent="0" marL="0">
              <a:buNone/>
            </a:pPr>
            <a:r>
              <a:rPr lang="en-US" sz="1700" b="1" dirty="0">
                <a:solidFill>
                  <a:srgbClr val="2B2522"/>
                </a:solidFill>
                <a:latin typeface="Arial" pitchFamily="34" charset="0"/>
                <a:ea typeface="Arial" pitchFamily="34" charset="-122"/>
                <a:cs typeface="Arial" pitchFamily="34" charset="-120"/>
              </a:rPr>
              <a:t>التصور والتصميم</a:t>
            </a:r>
            <a:endParaRPr lang="en-US" sz="1700" dirty="0"/>
          </a:p>
        </p:txBody>
      </p:sp>
      <p:sp>
        <p:nvSpPr>
          <p:cNvPr id="13" name="Text 9"/>
          <p:cNvSpPr txBox="1"/>
          <p:nvPr/>
        </p:nvSpPr>
        <p:spPr>
          <a:xfrm>
            <a:off x="5394960" y="3319272"/>
            <a:ext cx="5059375" cy="384048"/>
          </a:xfrm>
          <a:prstGeom prst="rect">
            <a:avLst/>
          </a:prstGeom>
          <a:noFill/>
          <a:ln/>
        </p:spPr>
        <p:txBody>
          <a:bodyPr wrap="square" lIns="0" tIns="0" rIns="0" bIns="0" rtlCol="0" anchor="ctr"/>
          <a:lstStyle/>
          <a:p>
            <a:pPr rtl="1" algn="r" indent="0" marL="0">
              <a:buNone/>
            </a:pPr>
            <a:r>
              <a:rPr lang="en-US" sz="1300" dirty="0">
                <a:solidFill>
                  <a:srgbClr val="5C524C"/>
                </a:solidFill>
                <a:latin typeface="Arial" pitchFamily="34" charset="0"/>
                <a:ea typeface="Arial" pitchFamily="34" charset="-122"/>
                <a:cs typeface="Arial" pitchFamily="34" charset="-120"/>
              </a:rPr>
              <a:t>وضع فكرة المشروع ونموذجه الاستثماري بما يناسب الأرض.</a:t>
            </a:r>
            <a:endParaRPr lang="en-US" sz="1300" dirty="0"/>
          </a:p>
        </p:txBody>
      </p:sp>
      <p:sp>
        <p:nvSpPr>
          <p:cNvPr id="14" name="Shape 10"/>
          <p:cNvSpPr/>
          <p:nvPr/>
        </p:nvSpPr>
        <p:spPr>
          <a:xfrm>
            <a:off x="5120640" y="4014216"/>
            <a:ext cx="6522415" cy="1024128"/>
          </a:xfrm>
          <a:prstGeom prst="rect">
            <a:avLst/>
          </a:prstGeom>
          <a:solidFill>
            <a:srgbClr val="2B2522"/>
          </a:solidFill>
          <a:ln w="12700">
            <a:solidFill>
              <a:srgbClr val="2B2522"/>
            </a:solidFill>
            <a:prstDash val="solid"/>
          </a:ln>
        </p:spPr>
      </p:sp>
      <p:sp>
        <p:nvSpPr>
          <p:cNvPr id="15" name="Text 11"/>
          <p:cNvSpPr txBox="1"/>
          <p:nvPr/>
        </p:nvSpPr>
        <p:spPr>
          <a:xfrm>
            <a:off x="10591495" y="4014216"/>
            <a:ext cx="868680" cy="1024128"/>
          </a:xfrm>
          <a:prstGeom prst="rect">
            <a:avLst/>
          </a:prstGeom>
          <a:noFill/>
          <a:ln/>
        </p:spPr>
        <p:txBody>
          <a:bodyPr wrap="square" lIns="0" tIns="0" rIns="0" bIns="0" rtlCol="0" anchor="ctr"/>
          <a:lstStyle/>
          <a:p>
            <a:pPr rtl="1" algn="ctr" indent="0" marL="0">
              <a:buNone/>
            </a:pPr>
            <a:r>
              <a:rPr lang="en-US" sz="3000" b="1" dirty="0">
                <a:solidFill>
                  <a:srgbClr val="C69A45"/>
                </a:solidFill>
                <a:latin typeface="Arial" pitchFamily="34" charset="0"/>
                <a:ea typeface="Arial" pitchFamily="34" charset="-122"/>
                <a:cs typeface="Arial" pitchFamily="34" charset="-120"/>
              </a:rPr>
              <a:t>03</a:t>
            </a:r>
            <a:endParaRPr lang="en-US" sz="3000" dirty="0"/>
          </a:p>
        </p:txBody>
      </p:sp>
      <p:sp>
        <p:nvSpPr>
          <p:cNvPr id="16" name="Text 12"/>
          <p:cNvSpPr txBox="1"/>
          <p:nvPr/>
        </p:nvSpPr>
        <p:spPr>
          <a:xfrm>
            <a:off x="5394960" y="4142232"/>
            <a:ext cx="5059375" cy="384048"/>
          </a:xfrm>
          <a:prstGeom prst="rect">
            <a:avLst/>
          </a:prstGeom>
          <a:noFill/>
          <a:ln/>
        </p:spPr>
        <p:txBody>
          <a:bodyPr wrap="square" lIns="0" tIns="0" rIns="0" bIns="0"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التنفيذ والتفعيل</a:t>
            </a:r>
            <a:endParaRPr lang="en-US" sz="1700" dirty="0"/>
          </a:p>
        </p:txBody>
      </p:sp>
      <p:sp>
        <p:nvSpPr>
          <p:cNvPr id="17" name="Text 13"/>
          <p:cNvSpPr txBox="1"/>
          <p:nvPr/>
        </p:nvSpPr>
        <p:spPr>
          <a:xfrm>
            <a:off x="5394960" y="4526280"/>
            <a:ext cx="5059375" cy="384048"/>
          </a:xfrm>
          <a:prstGeom prst="rect">
            <a:avLst/>
          </a:prstGeom>
          <a:noFill/>
          <a:ln/>
        </p:spPr>
        <p:txBody>
          <a:bodyPr wrap="square" lIns="0" tIns="0" rIns="0" bIns="0" rtlCol="0" anchor="ctr"/>
          <a:lstStyle/>
          <a:p>
            <a:pPr rtl="1" algn="r" indent="0" marL="0">
              <a:buNone/>
            </a:pPr>
            <a:r>
              <a:rPr lang="en-US" sz="1300" dirty="0">
                <a:solidFill>
                  <a:srgbClr val="E8E2DA"/>
                </a:solidFill>
                <a:latin typeface="Arial" pitchFamily="34" charset="0"/>
                <a:ea typeface="Arial" pitchFamily="34" charset="-122"/>
                <a:cs typeface="Arial" pitchFamily="34" charset="-120"/>
              </a:rPr>
              <a:t>تحويل الفكرة إلى واقع على الأرض خلال فترة وجيزة.</a:t>
            </a:r>
            <a:endParaRPr lang="en-US" sz="1300" dirty="0"/>
          </a:p>
        </p:txBody>
      </p:sp>
      <p:sp>
        <p:nvSpPr>
          <p:cNvPr id="18" name="Shape 14"/>
          <p:cNvSpPr/>
          <p:nvPr/>
        </p:nvSpPr>
        <p:spPr>
          <a:xfrm>
            <a:off x="5120640" y="5221224"/>
            <a:ext cx="6522415" cy="1024128"/>
          </a:xfrm>
          <a:prstGeom prst="rect">
            <a:avLst/>
          </a:prstGeom>
          <a:solidFill>
            <a:srgbClr val="F6F3EE"/>
          </a:solidFill>
          <a:ln w="12700">
            <a:solidFill>
              <a:srgbClr val="F6F3EE"/>
            </a:solidFill>
            <a:prstDash val="solid"/>
          </a:ln>
        </p:spPr>
      </p:sp>
      <p:sp>
        <p:nvSpPr>
          <p:cNvPr id="19" name="Text 15"/>
          <p:cNvSpPr txBox="1"/>
          <p:nvPr/>
        </p:nvSpPr>
        <p:spPr>
          <a:xfrm>
            <a:off x="10591495" y="5221224"/>
            <a:ext cx="868680" cy="1024128"/>
          </a:xfrm>
          <a:prstGeom prst="rect">
            <a:avLst/>
          </a:prstGeom>
          <a:noFill/>
          <a:ln/>
        </p:spPr>
        <p:txBody>
          <a:bodyPr wrap="square" lIns="0" tIns="0" rIns="0" bIns="0" rtlCol="0" anchor="ctr"/>
          <a:lstStyle/>
          <a:p>
            <a:pPr rtl="1" algn="ctr" indent="0" marL="0">
              <a:buNone/>
            </a:pPr>
            <a:r>
              <a:rPr lang="en-US" sz="3000" b="1" dirty="0">
                <a:solidFill>
                  <a:srgbClr val="C69A45"/>
                </a:solidFill>
                <a:latin typeface="Arial" pitchFamily="34" charset="0"/>
                <a:ea typeface="Arial" pitchFamily="34" charset="-122"/>
                <a:cs typeface="Arial" pitchFamily="34" charset="-120"/>
              </a:rPr>
              <a:t>04</a:t>
            </a:r>
            <a:endParaRPr lang="en-US" sz="3000" dirty="0"/>
          </a:p>
        </p:txBody>
      </p:sp>
      <p:sp>
        <p:nvSpPr>
          <p:cNvPr id="20" name="Text 16"/>
          <p:cNvSpPr txBox="1"/>
          <p:nvPr/>
        </p:nvSpPr>
        <p:spPr>
          <a:xfrm>
            <a:off x="5394960" y="5349240"/>
            <a:ext cx="5059375" cy="384048"/>
          </a:xfrm>
          <a:prstGeom prst="rect">
            <a:avLst/>
          </a:prstGeom>
          <a:noFill/>
          <a:ln/>
        </p:spPr>
        <p:txBody>
          <a:bodyPr wrap="square" lIns="0" tIns="0" rIns="0" bIns="0" rtlCol="0" anchor="ctr"/>
          <a:lstStyle/>
          <a:p>
            <a:pPr rtl="1" algn="r" indent="0" marL="0">
              <a:buNone/>
            </a:pPr>
            <a:r>
              <a:rPr lang="en-US" sz="1700" b="1" dirty="0">
                <a:solidFill>
                  <a:srgbClr val="2B2522"/>
                </a:solidFill>
                <a:latin typeface="Arial" pitchFamily="34" charset="0"/>
                <a:ea typeface="Arial" pitchFamily="34" charset="-122"/>
                <a:cs typeface="Arial" pitchFamily="34" charset="-120"/>
              </a:rPr>
              <a:t>التشغيل والمتابعة</a:t>
            </a:r>
            <a:endParaRPr lang="en-US" sz="1700" dirty="0"/>
          </a:p>
        </p:txBody>
      </p:sp>
      <p:sp>
        <p:nvSpPr>
          <p:cNvPr id="21" name="Text 17"/>
          <p:cNvSpPr txBox="1"/>
          <p:nvPr/>
        </p:nvSpPr>
        <p:spPr>
          <a:xfrm>
            <a:off x="5394960" y="5733288"/>
            <a:ext cx="5059375" cy="384048"/>
          </a:xfrm>
          <a:prstGeom prst="rect">
            <a:avLst/>
          </a:prstGeom>
          <a:noFill/>
          <a:ln/>
        </p:spPr>
        <p:txBody>
          <a:bodyPr wrap="square" lIns="0" tIns="0" rIns="0" bIns="0" rtlCol="0" anchor="ctr"/>
          <a:lstStyle/>
          <a:p>
            <a:pPr rtl="1" algn="r" indent="0" marL="0">
              <a:buNone/>
            </a:pPr>
            <a:r>
              <a:rPr lang="en-US" sz="1300" dirty="0">
                <a:solidFill>
                  <a:srgbClr val="5C524C"/>
                </a:solidFill>
                <a:latin typeface="Arial" pitchFamily="34" charset="0"/>
                <a:ea typeface="Arial" pitchFamily="34" charset="-122"/>
                <a:cs typeface="Arial" pitchFamily="34" charset="-120"/>
              </a:rPr>
              <a:t>إدارة النشاط واستمرارية العائد وتحديث الاستخدام عند الحاجة.</a:t>
            </a:r>
            <a:endParaRPr lang="en-US" sz="1300" dirty="0"/>
          </a:p>
        </p:txBody>
      </p:sp>
      <p:sp>
        <p:nvSpPr>
          <p:cNvPr id="22" name="Text 18"/>
          <p:cNvSpPr txBox="1"/>
          <p:nvPr/>
        </p:nvSpPr>
        <p:spPr>
          <a:xfrm>
            <a:off x="548640" y="6473952"/>
            <a:ext cx="3657600" cy="228600"/>
          </a:xfrm>
          <a:prstGeom prst="rect">
            <a:avLst/>
          </a:prstGeom>
          <a:noFill/>
          <a:ln/>
        </p:spPr>
        <p:txBody>
          <a:bodyPr wrap="square" lIns="0" tIns="0" rIns="0" bIns="0" rtlCol="0" anchor="ctr"/>
          <a:lstStyle/>
          <a:p>
            <a:pPr rtl="1" algn="l" indent="0" marL="0">
              <a:buNone/>
            </a:pPr>
            <a:r>
              <a:rPr lang="en-US" sz="900" dirty="0">
                <a:solidFill>
                  <a:srgbClr val="8A807A"/>
                </a:solidFill>
                <a:latin typeface="Arial" pitchFamily="34" charset="0"/>
                <a:ea typeface="Arial" pitchFamily="34" charset="-122"/>
                <a:cs typeface="Arial" pitchFamily="34" charset="-120"/>
              </a:rPr>
              <a:t>مشروع أرض العليا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0" y="384048"/>
            <a:ext cx="8442655" cy="640080"/>
          </a:xfrm>
          <a:prstGeom prst="rect">
            <a:avLst/>
          </a:prstGeom>
          <a:noFill/>
          <a:ln/>
        </p:spPr>
        <p:txBody>
          <a:bodyPr wrap="square" lIns="0" tIns="0" rIns="0" bIns="0" rtlCol="0" anchor="ctr"/>
          <a:lstStyle/>
          <a:p>
            <a:pPr rtl="1" algn="r" indent="0" marL="0">
              <a:buNone/>
            </a:pPr>
            <a:r>
              <a:rPr lang="en-US" sz="3000" b="1" dirty="0">
                <a:solidFill>
                  <a:srgbClr val="2B2522"/>
                </a:solidFill>
                <a:latin typeface="Arial" pitchFamily="34" charset="0"/>
                <a:ea typeface="Arial" pitchFamily="34" charset="-122"/>
                <a:cs typeface="Arial" pitchFamily="34" charset="-120"/>
              </a:rPr>
              <a:t>الموقع</a:t>
            </a:r>
            <a:endParaRPr lang="en-US" sz="3000" dirty="0"/>
          </a:p>
        </p:txBody>
      </p:sp>
      <p:sp>
        <p:nvSpPr>
          <p:cNvPr id="3" name="Text 1"/>
          <p:cNvSpPr txBox="1"/>
          <p:nvPr/>
        </p:nvSpPr>
        <p:spPr>
          <a:xfrm>
            <a:off x="3200400" y="987552"/>
            <a:ext cx="8442655" cy="365760"/>
          </a:xfrm>
          <a:prstGeom prst="rect">
            <a:avLst/>
          </a:prstGeom>
          <a:noFill/>
          <a:ln/>
        </p:spPr>
        <p:txBody>
          <a:bodyPr wrap="square" lIns="0" tIns="0" rIns="0" bIns="0" rtlCol="0" anchor="ctr"/>
          <a:lstStyle/>
          <a:p>
            <a:pPr rtl="1" algn="r" indent="0" marL="0">
              <a:buNone/>
            </a:pPr>
            <a:r>
              <a:rPr lang="en-US" sz="1400" dirty="0">
                <a:solidFill>
                  <a:srgbClr val="8A807A"/>
                </a:solidFill>
                <a:latin typeface="Arial" pitchFamily="34" charset="0"/>
                <a:ea typeface="Arial" pitchFamily="34" charset="-122"/>
                <a:cs typeface="Arial" pitchFamily="34" charset="-120"/>
              </a:rPr>
              <a:t>حي العليا - قلب الرياض التجاري</a:t>
            </a:r>
            <a:endParaRPr lang="en-US" sz="1400" dirty="0"/>
          </a:p>
        </p:txBody>
      </p:sp>
      <p:pic>
        <p:nvPicPr>
          <p:cNvPr id="4" name="Image 0" descr="/tmp/claude-0/-home-user-wagdy/f24981f4-70a0-5320-9840-62400667b25b/scratchpad/logo_dark.png">    </p:cNvPr>
          <p:cNvPicPr>
            <a:picLocks noChangeAspect="1"/>
          </p:cNvPicPr>
          <p:nvPr/>
        </p:nvPicPr>
        <p:blipFill>
          <a:blip r:embed="rId1"/>
          <a:stretch>
            <a:fillRect/>
          </a:stretch>
        </p:blipFill>
        <p:spPr>
          <a:xfrm>
            <a:off x="548640" y="457200"/>
            <a:ext cx="1206444" cy="457200"/>
          </a:xfrm>
          <a:prstGeom prst="rect">
            <a:avLst/>
          </a:prstGeom>
        </p:spPr>
      </p:pic>
      <p:pic>
        <p:nvPicPr>
          <p:cNvPr id="5" name="Image 1" descr="/tmp/claude-0/-home-user-wagdy/f24981f4-70a0-5320-9840-62400667b25b/scratchpad/a/p001.jpg">    </p:cNvPr>
          <p:cNvPicPr>
            <a:picLocks noChangeAspect="1"/>
          </p:cNvPicPr>
          <p:nvPr/>
        </p:nvPicPr>
        <p:blipFill>
          <a:blip r:embed="rId2"/>
          <a:srcRect l="0" r="0" t="0" b="0"/>
          <a:stretch/>
        </p:blipFill>
        <p:spPr>
          <a:xfrm>
            <a:off x="548640" y="1600200"/>
            <a:ext cx="6035040" cy="4709160"/>
          </a:xfrm>
          <a:prstGeom prst="rect">
            <a:avLst/>
          </a:prstGeom>
        </p:spPr>
      </p:pic>
      <p:sp>
        <p:nvSpPr>
          <p:cNvPr id="6" name="Text 2"/>
          <p:cNvSpPr txBox="1"/>
          <p:nvPr/>
        </p:nvSpPr>
        <p:spPr>
          <a:xfrm>
            <a:off x="9273388" y="1645920"/>
            <a:ext cx="2369668" cy="502920"/>
          </a:xfrm>
          <a:prstGeom prst="rect">
            <a:avLst/>
          </a:prstGeom>
          <a:noFill/>
          <a:ln/>
        </p:spPr>
        <p:txBody>
          <a:bodyPr wrap="square" lIns="0" tIns="0" rIns="0" bIns="0" rtlCol="0" anchor="ctr"/>
          <a:lstStyle/>
          <a:p>
            <a:pPr rtl="1" algn="r" indent="0" marL="0">
              <a:buNone/>
            </a:pPr>
            <a:r>
              <a:rPr lang="en-US" sz="1400" dirty="0">
                <a:solidFill>
                  <a:srgbClr val="8A807A"/>
                </a:solidFill>
                <a:latin typeface="Arial" pitchFamily="34" charset="0"/>
                <a:ea typeface="Arial" pitchFamily="34" charset="-122"/>
                <a:cs typeface="Arial" pitchFamily="34" charset="-120"/>
              </a:rPr>
              <a:t>المدينة / الحي</a:t>
            </a:r>
            <a:endParaRPr lang="en-US" sz="1400" dirty="0"/>
          </a:p>
        </p:txBody>
      </p:sp>
      <p:sp>
        <p:nvSpPr>
          <p:cNvPr id="7" name="Text 3"/>
          <p:cNvSpPr txBox="1"/>
          <p:nvPr/>
        </p:nvSpPr>
        <p:spPr>
          <a:xfrm>
            <a:off x="6903720" y="1645920"/>
            <a:ext cx="2369668" cy="502920"/>
          </a:xfrm>
          <a:prstGeom prst="rect">
            <a:avLst/>
          </a:prstGeom>
          <a:noFill/>
          <a:ln/>
        </p:spPr>
        <p:txBody>
          <a:bodyPr wrap="square" lIns="0" tIns="0" rIns="0" bIns="0" rtlCol="0" anchor="ctr"/>
          <a:lstStyle/>
          <a:p>
            <a:pPr rtl="1" algn="r" indent="0" marL="0">
              <a:buNone/>
            </a:pPr>
            <a:r>
              <a:rPr lang="en-US" sz="1600" b="1" dirty="0">
                <a:solidFill>
                  <a:srgbClr val="2B2522"/>
                </a:solidFill>
                <a:latin typeface="Arial" pitchFamily="34" charset="0"/>
                <a:ea typeface="Arial" pitchFamily="34" charset="-122"/>
                <a:cs typeface="Arial" pitchFamily="34" charset="-120"/>
              </a:rPr>
              <a:t>الرياض - حي العليا</a:t>
            </a:r>
            <a:endParaRPr lang="en-US" sz="1600" dirty="0"/>
          </a:p>
        </p:txBody>
      </p:sp>
      <p:sp>
        <p:nvSpPr>
          <p:cNvPr id="8" name="Shape 4"/>
          <p:cNvSpPr/>
          <p:nvPr/>
        </p:nvSpPr>
        <p:spPr>
          <a:xfrm>
            <a:off x="6903720" y="2231136"/>
            <a:ext cx="4739335" cy="0"/>
          </a:xfrm>
          <a:prstGeom prst="line">
            <a:avLst/>
          </a:prstGeom>
          <a:noFill/>
          <a:ln w="9525">
            <a:solidFill>
              <a:srgbClr val="E4DED6"/>
            </a:solidFill>
            <a:prstDash val="solid"/>
          </a:ln>
        </p:spPr>
      </p:sp>
      <p:sp>
        <p:nvSpPr>
          <p:cNvPr id="9" name="Text 5"/>
          <p:cNvSpPr txBox="1"/>
          <p:nvPr/>
        </p:nvSpPr>
        <p:spPr>
          <a:xfrm>
            <a:off x="9273388" y="2304288"/>
            <a:ext cx="2369668" cy="502920"/>
          </a:xfrm>
          <a:prstGeom prst="rect">
            <a:avLst/>
          </a:prstGeom>
          <a:noFill/>
          <a:ln/>
        </p:spPr>
        <p:txBody>
          <a:bodyPr wrap="square" lIns="0" tIns="0" rIns="0" bIns="0" rtlCol="0" anchor="ctr"/>
          <a:lstStyle/>
          <a:p>
            <a:pPr rtl="1" algn="r" indent="0" marL="0">
              <a:buNone/>
            </a:pPr>
            <a:r>
              <a:rPr lang="en-US" sz="1400" dirty="0">
                <a:solidFill>
                  <a:srgbClr val="8A807A"/>
                </a:solidFill>
                <a:latin typeface="Arial" pitchFamily="34" charset="0"/>
                <a:ea typeface="Arial" pitchFamily="34" charset="-122"/>
                <a:cs typeface="Arial" pitchFamily="34" charset="-120"/>
              </a:rPr>
              <a:t>مساحة الأرض</a:t>
            </a:r>
            <a:endParaRPr lang="en-US" sz="1400" dirty="0"/>
          </a:p>
        </p:txBody>
      </p:sp>
      <p:sp>
        <p:nvSpPr>
          <p:cNvPr id="10" name="Text 6"/>
          <p:cNvSpPr txBox="1"/>
          <p:nvPr/>
        </p:nvSpPr>
        <p:spPr>
          <a:xfrm>
            <a:off x="6903720" y="2304288"/>
            <a:ext cx="2369668" cy="502920"/>
          </a:xfrm>
          <a:prstGeom prst="rect">
            <a:avLst/>
          </a:prstGeom>
          <a:noFill/>
          <a:ln/>
        </p:spPr>
        <p:txBody>
          <a:bodyPr wrap="square" lIns="0" tIns="0" rIns="0" bIns="0" rtlCol="0" anchor="ctr"/>
          <a:lstStyle/>
          <a:p>
            <a:pPr rtl="1" algn="r" indent="0" marL="0">
              <a:buNone/>
            </a:pPr>
            <a:r>
              <a:rPr lang="en-US" sz="1600" b="1" dirty="0">
                <a:solidFill>
                  <a:srgbClr val="2B2522"/>
                </a:solidFill>
                <a:latin typeface="Arial" pitchFamily="34" charset="0"/>
                <a:ea typeface="Arial" pitchFamily="34" charset="-122"/>
                <a:cs typeface="Arial" pitchFamily="34" charset="-120"/>
              </a:rPr>
              <a:t>7,782 م²</a:t>
            </a:r>
            <a:endParaRPr lang="en-US" sz="1600" dirty="0"/>
          </a:p>
        </p:txBody>
      </p:sp>
      <p:sp>
        <p:nvSpPr>
          <p:cNvPr id="11" name="Shape 7"/>
          <p:cNvSpPr/>
          <p:nvPr/>
        </p:nvSpPr>
        <p:spPr>
          <a:xfrm>
            <a:off x="6903720" y="2889504"/>
            <a:ext cx="4739335" cy="0"/>
          </a:xfrm>
          <a:prstGeom prst="line">
            <a:avLst/>
          </a:prstGeom>
          <a:noFill/>
          <a:ln w="9525">
            <a:solidFill>
              <a:srgbClr val="E4DED6"/>
            </a:solidFill>
            <a:prstDash val="solid"/>
          </a:ln>
        </p:spPr>
      </p:sp>
      <p:sp>
        <p:nvSpPr>
          <p:cNvPr id="12" name="Text 8"/>
          <p:cNvSpPr txBox="1"/>
          <p:nvPr/>
        </p:nvSpPr>
        <p:spPr>
          <a:xfrm>
            <a:off x="9273388" y="2962656"/>
            <a:ext cx="2369668" cy="502920"/>
          </a:xfrm>
          <a:prstGeom prst="rect">
            <a:avLst/>
          </a:prstGeom>
          <a:noFill/>
          <a:ln/>
        </p:spPr>
        <p:txBody>
          <a:bodyPr wrap="square" lIns="0" tIns="0" rIns="0" bIns="0" rtlCol="0" anchor="ctr"/>
          <a:lstStyle/>
          <a:p>
            <a:pPr rtl="1" algn="r" indent="0" marL="0">
              <a:buNone/>
            </a:pPr>
            <a:r>
              <a:rPr lang="en-US" sz="1400" dirty="0">
                <a:solidFill>
                  <a:srgbClr val="8A807A"/>
                </a:solidFill>
                <a:latin typeface="Arial" pitchFamily="34" charset="0"/>
                <a:ea typeface="Arial" pitchFamily="34" charset="-122"/>
                <a:cs typeface="Arial" pitchFamily="34" charset="-120"/>
              </a:rPr>
              <a:t>الاستخدام المقترح</a:t>
            </a:r>
            <a:endParaRPr lang="en-US" sz="1400" dirty="0"/>
          </a:p>
        </p:txBody>
      </p:sp>
      <p:sp>
        <p:nvSpPr>
          <p:cNvPr id="13" name="Text 9"/>
          <p:cNvSpPr txBox="1"/>
          <p:nvPr/>
        </p:nvSpPr>
        <p:spPr>
          <a:xfrm>
            <a:off x="6903720" y="2962656"/>
            <a:ext cx="2369668" cy="502920"/>
          </a:xfrm>
          <a:prstGeom prst="rect">
            <a:avLst/>
          </a:prstGeom>
          <a:noFill/>
          <a:ln/>
        </p:spPr>
        <p:txBody>
          <a:bodyPr wrap="square" lIns="0" tIns="0" rIns="0" bIns="0" rtlCol="0" anchor="ctr"/>
          <a:lstStyle/>
          <a:p>
            <a:pPr rtl="1" algn="r" indent="0" marL="0">
              <a:buNone/>
            </a:pPr>
            <a:r>
              <a:rPr lang="en-US" sz="1600" b="1" dirty="0">
                <a:solidFill>
                  <a:srgbClr val="2B2522"/>
                </a:solidFill>
                <a:latin typeface="Arial" pitchFamily="34" charset="0"/>
                <a:ea typeface="Arial" pitchFamily="34" charset="-122"/>
                <a:cs typeface="Arial" pitchFamily="34" charset="-120"/>
              </a:rPr>
              <a:t>سكني (شقق) + مكتبي</a:t>
            </a:r>
            <a:endParaRPr lang="en-US" sz="1600" dirty="0"/>
          </a:p>
        </p:txBody>
      </p:sp>
      <p:sp>
        <p:nvSpPr>
          <p:cNvPr id="14" name="Shape 10"/>
          <p:cNvSpPr/>
          <p:nvPr/>
        </p:nvSpPr>
        <p:spPr>
          <a:xfrm>
            <a:off x="6903720" y="3547872"/>
            <a:ext cx="4739335" cy="0"/>
          </a:xfrm>
          <a:prstGeom prst="line">
            <a:avLst/>
          </a:prstGeom>
          <a:noFill/>
          <a:ln w="9525">
            <a:solidFill>
              <a:srgbClr val="E4DED6"/>
            </a:solidFill>
            <a:prstDash val="solid"/>
          </a:ln>
        </p:spPr>
      </p:sp>
      <p:sp>
        <p:nvSpPr>
          <p:cNvPr id="15" name="Text 11"/>
          <p:cNvSpPr txBox="1"/>
          <p:nvPr/>
        </p:nvSpPr>
        <p:spPr>
          <a:xfrm>
            <a:off x="9273388" y="3621024"/>
            <a:ext cx="2369668" cy="502920"/>
          </a:xfrm>
          <a:prstGeom prst="rect">
            <a:avLst/>
          </a:prstGeom>
          <a:noFill/>
          <a:ln/>
        </p:spPr>
        <p:txBody>
          <a:bodyPr wrap="square" lIns="0" tIns="0" rIns="0" bIns="0" rtlCol="0" anchor="ctr"/>
          <a:lstStyle/>
          <a:p>
            <a:pPr rtl="1" algn="r" indent="0" marL="0">
              <a:buNone/>
            </a:pPr>
            <a:r>
              <a:rPr lang="en-US" sz="1400" dirty="0">
                <a:solidFill>
                  <a:srgbClr val="8A807A"/>
                </a:solidFill>
                <a:latin typeface="Arial" pitchFamily="34" charset="0"/>
                <a:ea typeface="Arial" pitchFamily="34" charset="-122"/>
                <a:cs typeface="Arial" pitchFamily="34" charset="-120"/>
              </a:rPr>
              <a:t>توزيع الأرض</a:t>
            </a:r>
            <a:endParaRPr lang="en-US" sz="1400" dirty="0"/>
          </a:p>
        </p:txBody>
      </p:sp>
      <p:sp>
        <p:nvSpPr>
          <p:cNvPr id="16" name="Text 12"/>
          <p:cNvSpPr txBox="1"/>
          <p:nvPr/>
        </p:nvSpPr>
        <p:spPr>
          <a:xfrm>
            <a:off x="6903720" y="3621024"/>
            <a:ext cx="2369668" cy="502920"/>
          </a:xfrm>
          <a:prstGeom prst="rect">
            <a:avLst/>
          </a:prstGeom>
          <a:noFill/>
          <a:ln/>
        </p:spPr>
        <p:txBody>
          <a:bodyPr wrap="square" lIns="0" tIns="0" rIns="0" bIns="0" rtlCol="0" anchor="ctr"/>
          <a:lstStyle/>
          <a:p>
            <a:pPr rtl="1" algn="r" indent="0" marL="0">
              <a:buNone/>
            </a:pPr>
            <a:r>
              <a:rPr lang="en-US" sz="1600" b="1" dirty="0">
                <a:solidFill>
                  <a:srgbClr val="2B2522"/>
                </a:solidFill>
                <a:latin typeface="Arial" pitchFamily="34" charset="0"/>
                <a:ea typeface="Arial" pitchFamily="34" charset="-122"/>
                <a:cs typeface="Arial" pitchFamily="34" charset="-120"/>
              </a:rPr>
              <a:t>60% سكني  |  40% مكتبي</a:t>
            </a:r>
            <a:endParaRPr lang="en-US" sz="1600" dirty="0"/>
          </a:p>
        </p:txBody>
      </p:sp>
      <p:sp>
        <p:nvSpPr>
          <p:cNvPr id="17" name="Shape 13"/>
          <p:cNvSpPr/>
          <p:nvPr/>
        </p:nvSpPr>
        <p:spPr>
          <a:xfrm>
            <a:off x="6903720" y="4206240"/>
            <a:ext cx="4739335" cy="0"/>
          </a:xfrm>
          <a:prstGeom prst="line">
            <a:avLst/>
          </a:prstGeom>
          <a:noFill/>
          <a:ln w="9525">
            <a:solidFill>
              <a:srgbClr val="E4DED6"/>
            </a:solidFill>
            <a:prstDash val="solid"/>
          </a:ln>
        </p:spPr>
      </p:sp>
      <p:sp>
        <p:nvSpPr>
          <p:cNvPr id="18" name="Text 14"/>
          <p:cNvSpPr txBox="1"/>
          <p:nvPr/>
        </p:nvSpPr>
        <p:spPr>
          <a:xfrm>
            <a:off x="9273388" y="4279392"/>
            <a:ext cx="2369668" cy="502920"/>
          </a:xfrm>
          <a:prstGeom prst="rect">
            <a:avLst/>
          </a:prstGeom>
          <a:noFill/>
          <a:ln/>
        </p:spPr>
        <p:txBody>
          <a:bodyPr wrap="square" lIns="0" tIns="0" rIns="0" bIns="0" rtlCol="0" anchor="ctr"/>
          <a:lstStyle/>
          <a:p>
            <a:pPr rtl="1" algn="r" indent="0" marL="0">
              <a:buNone/>
            </a:pPr>
            <a:r>
              <a:rPr lang="en-US" sz="1400" dirty="0">
                <a:solidFill>
                  <a:srgbClr val="8A807A"/>
                </a:solidFill>
                <a:latin typeface="Arial" pitchFamily="34" charset="0"/>
                <a:ea typeface="Arial" pitchFamily="34" charset="-122"/>
                <a:cs typeface="Arial" pitchFamily="34" charset="-120"/>
              </a:rPr>
              <a:t>معامل البناء</a:t>
            </a:r>
            <a:endParaRPr lang="en-US" sz="1400" dirty="0"/>
          </a:p>
        </p:txBody>
      </p:sp>
      <p:sp>
        <p:nvSpPr>
          <p:cNvPr id="19" name="Text 15"/>
          <p:cNvSpPr txBox="1"/>
          <p:nvPr/>
        </p:nvSpPr>
        <p:spPr>
          <a:xfrm>
            <a:off x="6903720" y="4279392"/>
            <a:ext cx="2369668" cy="502920"/>
          </a:xfrm>
          <a:prstGeom prst="rect">
            <a:avLst/>
          </a:prstGeom>
          <a:noFill/>
          <a:ln/>
        </p:spPr>
        <p:txBody>
          <a:bodyPr wrap="square" lIns="0" tIns="0" rIns="0" bIns="0" rtlCol="0" anchor="ctr"/>
          <a:lstStyle/>
          <a:p>
            <a:pPr rtl="1" algn="r" indent="0" marL="0">
              <a:buNone/>
            </a:pPr>
            <a:r>
              <a:rPr lang="en-US" sz="1600" b="1" dirty="0">
                <a:solidFill>
                  <a:srgbClr val="2B2522"/>
                </a:solidFill>
                <a:latin typeface="Arial" pitchFamily="34" charset="0"/>
                <a:ea typeface="Arial" pitchFamily="34" charset="-122"/>
                <a:cs typeface="Arial" pitchFamily="34" charset="-120"/>
              </a:rPr>
              <a:t>6.00</a:t>
            </a:r>
            <a:endParaRPr lang="en-US" sz="1600" dirty="0"/>
          </a:p>
        </p:txBody>
      </p:sp>
      <p:sp>
        <p:nvSpPr>
          <p:cNvPr id="20" name="Shape 16"/>
          <p:cNvSpPr/>
          <p:nvPr/>
        </p:nvSpPr>
        <p:spPr>
          <a:xfrm>
            <a:off x="6903720" y="4864608"/>
            <a:ext cx="4739335" cy="0"/>
          </a:xfrm>
          <a:prstGeom prst="line">
            <a:avLst/>
          </a:prstGeom>
          <a:noFill/>
          <a:ln w="9525">
            <a:solidFill>
              <a:srgbClr val="E4DED6"/>
            </a:solidFill>
            <a:prstDash val="solid"/>
          </a:ln>
        </p:spPr>
      </p:sp>
      <p:sp>
        <p:nvSpPr>
          <p:cNvPr id="21" name="Text 17"/>
          <p:cNvSpPr txBox="1"/>
          <p:nvPr/>
        </p:nvSpPr>
        <p:spPr>
          <a:xfrm>
            <a:off x="9273388" y="4937760"/>
            <a:ext cx="2369668" cy="502920"/>
          </a:xfrm>
          <a:prstGeom prst="rect">
            <a:avLst/>
          </a:prstGeom>
          <a:noFill/>
          <a:ln/>
        </p:spPr>
        <p:txBody>
          <a:bodyPr wrap="square" lIns="0" tIns="0" rIns="0" bIns="0" rtlCol="0" anchor="ctr"/>
          <a:lstStyle/>
          <a:p>
            <a:pPr rtl="1" algn="r" indent="0" marL="0">
              <a:buNone/>
            </a:pPr>
            <a:r>
              <a:rPr lang="en-US" sz="1400" dirty="0">
                <a:solidFill>
                  <a:srgbClr val="8A807A"/>
                </a:solidFill>
                <a:latin typeface="Arial" pitchFamily="34" charset="0"/>
                <a:ea typeface="Arial" pitchFamily="34" charset="-122"/>
                <a:cs typeface="Arial" pitchFamily="34" charset="-120"/>
              </a:rPr>
              <a:t>عدد الأدوار</a:t>
            </a:r>
            <a:endParaRPr lang="en-US" sz="1400" dirty="0"/>
          </a:p>
        </p:txBody>
      </p:sp>
      <p:sp>
        <p:nvSpPr>
          <p:cNvPr id="22" name="Text 18"/>
          <p:cNvSpPr txBox="1"/>
          <p:nvPr/>
        </p:nvSpPr>
        <p:spPr>
          <a:xfrm>
            <a:off x="6903720" y="4937760"/>
            <a:ext cx="2369668" cy="502920"/>
          </a:xfrm>
          <a:prstGeom prst="rect">
            <a:avLst/>
          </a:prstGeom>
          <a:noFill/>
          <a:ln/>
        </p:spPr>
        <p:txBody>
          <a:bodyPr wrap="square" lIns="0" tIns="0" rIns="0" bIns="0" rtlCol="0" anchor="ctr"/>
          <a:lstStyle/>
          <a:p>
            <a:pPr rtl="1" algn="r" indent="0" marL="0">
              <a:buNone/>
            </a:pPr>
            <a:r>
              <a:rPr lang="en-US" sz="1600" b="1" dirty="0">
                <a:solidFill>
                  <a:srgbClr val="2B2522"/>
                </a:solidFill>
                <a:latin typeface="Arial" pitchFamily="34" charset="0"/>
                <a:ea typeface="Arial" pitchFamily="34" charset="-122"/>
                <a:cs typeface="Arial" pitchFamily="34" charset="-120"/>
              </a:rPr>
              <a:t>12 دور</a:t>
            </a:r>
            <a:endParaRPr lang="en-US" sz="1600" dirty="0"/>
          </a:p>
        </p:txBody>
      </p:sp>
      <p:sp>
        <p:nvSpPr>
          <p:cNvPr id="23" name="Shape 19"/>
          <p:cNvSpPr/>
          <p:nvPr/>
        </p:nvSpPr>
        <p:spPr>
          <a:xfrm>
            <a:off x="6903720" y="5522976"/>
            <a:ext cx="4739335" cy="0"/>
          </a:xfrm>
          <a:prstGeom prst="line">
            <a:avLst/>
          </a:prstGeom>
          <a:noFill/>
          <a:ln w="9525">
            <a:solidFill>
              <a:srgbClr val="E4DED6"/>
            </a:solidFill>
            <a:prstDash val="solid"/>
          </a:ln>
        </p:spPr>
      </p:sp>
      <p:sp>
        <p:nvSpPr>
          <p:cNvPr id="24" name="Text 20"/>
          <p:cNvSpPr txBox="1"/>
          <p:nvPr/>
        </p:nvSpPr>
        <p:spPr>
          <a:xfrm>
            <a:off x="9273388" y="5596128"/>
            <a:ext cx="2369668" cy="502920"/>
          </a:xfrm>
          <a:prstGeom prst="rect">
            <a:avLst/>
          </a:prstGeom>
          <a:noFill/>
          <a:ln/>
        </p:spPr>
        <p:txBody>
          <a:bodyPr wrap="square" lIns="0" tIns="0" rIns="0" bIns="0" rtlCol="0" anchor="ctr"/>
          <a:lstStyle/>
          <a:p>
            <a:pPr rtl="1" algn="r" indent="0" marL="0">
              <a:buNone/>
            </a:pPr>
            <a:r>
              <a:rPr lang="en-US" sz="1400" dirty="0">
                <a:solidFill>
                  <a:srgbClr val="8A807A"/>
                </a:solidFill>
                <a:latin typeface="Arial" pitchFamily="34" charset="0"/>
                <a:ea typeface="Arial" pitchFamily="34" charset="-122"/>
                <a:cs typeface="Arial" pitchFamily="34" charset="-120"/>
              </a:rPr>
              <a:t>سعر شراء المتر</a:t>
            </a:r>
            <a:endParaRPr lang="en-US" sz="1400" dirty="0"/>
          </a:p>
        </p:txBody>
      </p:sp>
      <p:sp>
        <p:nvSpPr>
          <p:cNvPr id="25" name="Text 21"/>
          <p:cNvSpPr txBox="1"/>
          <p:nvPr/>
        </p:nvSpPr>
        <p:spPr>
          <a:xfrm>
            <a:off x="6903720" y="5596128"/>
            <a:ext cx="2369668" cy="502920"/>
          </a:xfrm>
          <a:prstGeom prst="rect">
            <a:avLst/>
          </a:prstGeom>
          <a:noFill/>
          <a:ln/>
        </p:spPr>
        <p:txBody>
          <a:bodyPr wrap="square" lIns="0" tIns="0" rIns="0" bIns="0" rtlCol="0" anchor="ctr"/>
          <a:lstStyle/>
          <a:p>
            <a:pPr rtl="1" algn="r" indent="0" marL="0">
              <a:buNone/>
            </a:pPr>
            <a:r>
              <a:rPr lang="en-US" sz="1600" b="1" dirty="0">
                <a:solidFill>
                  <a:srgbClr val="2B2522"/>
                </a:solidFill>
                <a:latin typeface="Arial" pitchFamily="34" charset="0"/>
                <a:ea typeface="Arial" pitchFamily="34" charset="-122"/>
                <a:cs typeface="Arial" pitchFamily="34" charset="-120"/>
              </a:rPr>
              <a:t>21,000 ريال/م²</a:t>
            </a:r>
            <a:endParaRPr lang="en-US" sz="1600" dirty="0"/>
          </a:p>
        </p:txBody>
      </p:sp>
      <p:sp>
        <p:nvSpPr>
          <p:cNvPr id="26" name="Text 22"/>
          <p:cNvSpPr txBox="1"/>
          <p:nvPr/>
        </p:nvSpPr>
        <p:spPr>
          <a:xfrm>
            <a:off x="548640" y="6473952"/>
            <a:ext cx="3657600" cy="228600"/>
          </a:xfrm>
          <a:prstGeom prst="rect">
            <a:avLst/>
          </a:prstGeom>
          <a:noFill/>
          <a:ln/>
        </p:spPr>
        <p:txBody>
          <a:bodyPr wrap="square" lIns="0" tIns="0" rIns="0" bIns="0" rtlCol="0" anchor="ctr"/>
          <a:lstStyle/>
          <a:p>
            <a:pPr rtl="1" algn="l" indent="0" marL="0">
              <a:buNone/>
            </a:pPr>
            <a:r>
              <a:rPr lang="en-US" sz="900" dirty="0">
                <a:solidFill>
                  <a:srgbClr val="8A807A"/>
                </a:solidFill>
                <a:latin typeface="Arial" pitchFamily="34" charset="0"/>
                <a:ea typeface="Arial" pitchFamily="34" charset="-122"/>
                <a:cs typeface="Arial" pitchFamily="34" charset="-120"/>
              </a:rPr>
              <a:t>مشروع أرض العليا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0" y="384048"/>
            <a:ext cx="8442655" cy="640080"/>
          </a:xfrm>
          <a:prstGeom prst="rect">
            <a:avLst/>
          </a:prstGeom>
          <a:noFill/>
          <a:ln/>
        </p:spPr>
        <p:txBody>
          <a:bodyPr wrap="square" lIns="0" tIns="0" rIns="0" bIns="0" rtlCol="0" anchor="ctr"/>
          <a:lstStyle/>
          <a:p>
            <a:pPr rtl="1" algn="r" indent="0" marL="0">
              <a:buNone/>
            </a:pPr>
            <a:r>
              <a:rPr lang="en-US" sz="3000" b="1" dirty="0">
                <a:solidFill>
                  <a:srgbClr val="2B2522"/>
                </a:solidFill>
                <a:latin typeface="Arial" pitchFamily="34" charset="0"/>
                <a:ea typeface="Arial" pitchFamily="34" charset="-122"/>
                <a:cs typeface="Arial" pitchFamily="34" charset="-120"/>
              </a:rPr>
              <a:t>وصف المشروع</a:t>
            </a:r>
            <a:endParaRPr lang="en-US" sz="3000" dirty="0"/>
          </a:p>
        </p:txBody>
      </p:sp>
      <p:pic>
        <p:nvPicPr>
          <p:cNvPr id="3" name="Image 0" descr="/tmp/claude-0/-home-user-wagdy/f24981f4-70a0-5320-9840-62400667b25b/scratchpad/logo_dark.png">    </p:cNvPr>
          <p:cNvPicPr>
            <a:picLocks noChangeAspect="1"/>
          </p:cNvPicPr>
          <p:nvPr/>
        </p:nvPicPr>
        <p:blipFill>
          <a:blip r:embed="rId1"/>
          <a:stretch>
            <a:fillRect/>
          </a:stretch>
        </p:blipFill>
        <p:spPr>
          <a:xfrm>
            <a:off x="548640" y="457200"/>
            <a:ext cx="1206444" cy="45720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931920" y="1325880"/>
          <a:ext cx="7711135" cy="914400"/>
        </p:xfrm>
        <a:graphic>
          <a:graphicData uri="http://schemas.openxmlformats.org/drawingml/2006/table">
            <a:tbl>
              <a:tblPr/>
              <a:tblGrid>
                <a:gridCol w="1463040"/>
                <a:gridCol w="1463040"/>
                <a:gridCol w="1463040"/>
                <a:gridCol w="3322015"/>
              </a:tblGrid>
              <a:tr h="292608">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الإجمالي</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المكتبي</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السكني (شقق)</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البند</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r>
              <a:tr h="292608">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100%</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40%</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60%</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100" dirty="0">
                          <a:solidFill>
                            <a:srgbClr val="2B2522"/>
                          </a:solidFill>
                          <a:latin typeface="Arial" pitchFamily="34" charset="0"/>
                          <a:ea typeface="Arial" pitchFamily="34" charset="-122"/>
                          <a:cs typeface="Arial" pitchFamily="34" charset="-120"/>
                        </a:rPr>
                        <a:t>نسبة المخصص من الأرض</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292608">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7,782</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3,112.8</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4,669.2</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100" dirty="0">
                          <a:solidFill>
                            <a:srgbClr val="2B2522"/>
                          </a:solidFill>
                          <a:latin typeface="Arial" pitchFamily="34" charset="0"/>
                          <a:ea typeface="Arial" pitchFamily="34" charset="-122"/>
                          <a:cs typeface="Arial" pitchFamily="34" charset="-120"/>
                        </a:rPr>
                        <a:t>مساحة الأرض المخصصة م²</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292608">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50%</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50%</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50%</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100" dirty="0">
                          <a:solidFill>
                            <a:srgbClr val="2B2522"/>
                          </a:solidFill>
                          <a:latin typeface="Arial" pitchFamily="34" charset="0"/>
                          <a:ea typeface="Arial" pitchFamily="34" charset="-122"/>
                          <a:cs typeface="Arial" pitchFamily="34" charset="-120"/>
                        </a:rPr>
                        <a:t>نسبة البناء على الأرض</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292608">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3,891</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1,556.4</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2,334.6</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100" dirty="0">
                          <a:solidFill>
                            <a:srgbClr val="2B2522"/>
                          </a:solidFill>
                          <a:latin typeface="Arial" pitchFamily="34" charset="0"/>
                          <a:ea typeface="Arial" pitchFamily="34" charset="-122"/>
                          <a:cs typeface="Arial" pitchFamily="34" charset="-120"/>
                        </a:rPr>
                        <a:t>المساحة المبنى عليها م²</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292608">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6.00</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6.00</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6.00</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100" dirty="0">
                          <a:solidFill>
                            <a:srgbClr val="2B2522"/>
                          </a:solidFill>
                          <a:latin typeface="Arial" pitchFamily="34" charset="0"/>
                          <a:ea typeface="Arial" pitchFamily="34" charset="-122"/>
                          <a:cs typeface="Arial" pitchFamily="34" charset="-120"/>
                        </a:rPr>
                        <a:t>معامل البناء</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292608">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46,692</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18,677</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28,015</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100" dirty="0">
                          <a:solidFill>
                            <a:srgbClr val="2B2522"/>
                          </a:solidFill>
                          <a:latin typeface="Arial" pitchFamily="34" charset="0"/>
                          <a:ea typeface="Arial" pitchFamily="34" charset="-122"/>
                          <a:cs typeface="Arial" pitchFamily="34" charset="-120"/>
                        </a:rPr>
                        <a:t>المسطحات البنائية م²</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292608">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100" dirty="0">
                          <a:solidFill>
                            <a:srgbClr val="2B2522"/>
                          </a:solidFill>
                          <a:latin typeface="Arial" pitchFamily="34" charset="0"/>
                          <a:ea typeface="Arial" pitchFamily="34" charset="-122"/>
                          <a:cs typeface="Arial" pitchFamily="34" charset="-120"/>
                        </a:rPr>
                        <a:t>عدد الأدوار</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292608">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85%</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85%</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85%</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100" dirty="0">
                          <a:solidFill>
                            <a:srgbClr val="2B2522"/>
                          </a:solidFill>
                          <a:latin typeface="Arial" pitchFamily="34" charset="0"/>
                          <a:ea typeface="Arial" pitchFamily="34" charset="-122"/>
                          <a:cs typeface="Arial" pitchFamily="34" charset="-120"/>
                        </a:rPr>
                        <a:t>نسبة المساحة الصافية</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292608">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39,688</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15,875</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23,813</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100" dirty="0">
                          <a:solidFill>
                            <a:srgbClr val="2B2522"/>
                          </a:solidFill>
                          <a:latin typeface="Arial" pitchFamily="34" charset="0"/>
                          <a:ea typeface="Arial" pitchFamily="34" charset="-122"/>
                          <a:cs typeface="Arial" pitchFamily="34" charset="-120"/>
                        </a:rPr>
                        <a:t>المساحات الصافية البيعية م²</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292608">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120</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100" dirty="0">
                          <a:solidFill>
                            <a:srgbClr val="2B2522"/>
                          </a:solidFill>
                          <a:latin typeface="Arial" pitchFamily="34" charset="0"/>
                          <a:ea typeface="Arial" pitchFamily="34" charset="-122"/>
                          <a:cs typeface="Arial" pitchFamily="34" charset="-120"/>
                        </a:rPr>
                        <a:t>متوسط مساحة الوحدة م²</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292608">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198</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100" dirty="0">
                          <a:solidFill>
                            <a:srgbClr val="2B2522"/>
                          </a:solidFill>
                          <a:latin typeface="Arial" pitchFamily="34" charset="0"/>
                          <a:ea typeface="Arial" pitchFamily="34" charset="-122"/>
                          <a:cs typeface="Arial" pitchFamily="34" charset="-120"/>
                        </a:rPr>
                        <a:t>عدد الوحدات السكنية</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292608">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595</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397</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198</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100" dirty="0">
                          <a:solidFill>
                            <a:srgbClr val="2B2522"/>
                          </a:solidFill>
                          <a:latin typeface="Arial" pitchFamily="34" charset="0"/>
                          <a:ea typeface="Arial" pitchFamily="34" charset="-122"/>
                          <a:cs typeface="Arial" pitchFamily="34" charset="-120"/>
                        </a:rPr>
                        <a:t>عدد المواقف المطلوبة</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292608">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556</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381</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175</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100" dirty="0">
                          <a:solidFill>
                            <a:srgbClr val="2B2522"/>
                          </a:solidFill>
                          <a:latin typeface="Arial" pitchFamily="34" charset="0"/>
                          <a:ea typeface="Arial" pitchFamily="34" charset="-122"/>
                          <a:cs typeface="Arial" pitchFamily="34" charset="-120"/>
                        </a:rPr>
                        <a:t>مواقف القبو</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292608">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23,369</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100" dirty="0">
                          <a:solidFill>
                            <a:srgbClr val="2B2522"/>
                          </a:solidFill>
                          <a:latin typeface="Arial" pitchFamily="34" charset="0"/>
                          <a:ea typeface="Arial" pitchFamily="34" charset="-122"/>
                          <a:cs typeface="Arial" pitchFamily="34" charset="-120"/>
                        </a:rPr>
                        <a:t>إجمالي مسطحات القبو م²</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292608">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00" dirty="0">
                          <a:solidFill>
                            <a:srgbClr val="5C524C"/>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100" dirty="0">
                          <a:solidFill>
                            <a:srgbClr val="2B2522"/>
                          </a:solidFill>
                          <a:latin typeface="Arial" pitchFamily="34" charset="0"/>
                          <a:ea typeface="Arial" pitchFamily="34" charset="-122"/>
                          <a:cs typeface="Arial" pitchFamily="34" charset="-120"/>
                        </a:rPr>
                        <a:t>عدد أدوار القبو</a:t>
                      </a:r>
                      <a:endParaRPr lang="en-US" sz="11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bl>
          </a:graphicData>
        </a:graphic>
      </p:graphicFrame>
      <p:sp>
        <p:nvSpPr>
          <p:cNvPr id="5" name="Shape 1"/>
          <p:cNvSpPr/>
          <p:nvPr/>
        </p:nvSpPr>
        <p:spPr>
          <a:xfrm>
            <a:off x="548640" y="1325880"/>
            <a:ext cx="3108960" cy="1143000"/>
          </a:xfrm>
          <a:prstGeom prst="rect">
            <a:avLst/>
          </a:prstGeom>
          <a:solidFill>
            <a:srgbClr val="2B2522"/>
          </a:solidFill>
          <a:ln w="12700">
            <a:solidFill>
              <a:srgbClr val="2B2522"/>
            </a:solidFill>
            <a:prstDash val="solid"/>
          </a:ln>
        </p:spPr>
      </p:sp>
      <p:sp>
        <p:nvSpPr>
          <p:cNvPr id="6" name="Text 2"/>
          <p:cNvSpPr txBox="1"/>
          <p:nvPr/>
        </p:nvSpPr>
        <p:spPr>
          <a:xfrm>
            <a:off x="731520" y="1435608"/>
            <a:ext cx="2743200" cy="566928"/>
          </a:xfrm>
          <a:prstGeom prst="rect">
            <a:avLst/>
          </a:prstGeom>
          <a:noFill/>
          <a:ln/>
        </p:spPr>
        <p:txBody>
          <a:bodyPr wrap="square" lIns="0" tIns="0" rIns="0" bIns="0" rtlCol="0" anchor="ctr"/>
          <a:lstStyle/>
          <a:p>
            <a:pPr rtl="1" algn="r" indent="0" marL="0">
              <a:buNone/>
            </a:pPr>
            <a:r>
              <a:rPr lang="en-US" sz="2600" b="1" dirty="0">
                <a:solidFill>
                  <a:srgbClr val="C69A45"/>
                </a:solidFill>
                <a:latin typeface="Arial" pitchFamily="34" charset="0"/>
                <a:ea typeface="Arial" pitchFamily="34" charset="-122"/>
                <a:cs typeface="Arial" pitchFamily="34" charset="-120"/>
              </a:rPr>
              <a:t>7,782 م²</a:t>
            </a:r>
            <a:endParaRPr lang="en-US" sz="2600" dirty="0"/>
          </a:p>
        </p:txBody>
      </p:sp>
      <p:sp>
        <p:nvSpPr>
          <p:cNvPr id="7" name="Text 3"/>
          <p:cNvSpPr txBox="1"/>
          <p:nvPr/>
        </p:nvSpPr>
        <p:spPr>
          <a:xfrm>
            <a:off x="731520" y="2002536"/>
            <a:ext cx="2743200" cy="365760"/>
          </a:xfrm>
          <a:prstGeom prst="rect">
            <a:avLst/>
          </a:prstGeom>
          <a:noFill/>
          <a:ln/>
        </p:spPr>
        <p:txBody>
          <a:bodyPr wrap="square" lIns="0" tIns="0" rIns="0" bIns="0" rtlCol="0" anchor="ctr"/>
          <a:lstStyle/>
          <a:p>
            <a:pPr rtl="1" algn="r" indent="0" marL="0">
              <a:buNone/>
            </a:pPr>
            <a:r>
              <a:rPr lang="en-US" sz="1200" dirty="0">
                <a:solidFill>
                  <a:srgbClr val="E8E2DA"/>
                </a:solidFill>
                <a:latin typeface="Arial" pitchFamily="34" charset="0"/>
                <a:ea typeface="Arial" pitchFamily="34" charset="-122"/>
                <a:cs typeface="Arial" pitchFamily="34" charset="-120"/>
              </a:rPr>
              <a:t>مساحة الأرض</a:t>
            </a:r>
            <a:endParaRPr lang="en-US" sz="1200" dirty="0"/>
          </a:p>
        </p:txBody>
      </p:sp>
      <p:sp>
        <p:nvSpPr>
          <p:cNvPr id="8" name="Shape 4"/>
          <p:cNvSpPr/>
          <p:nvPr/>
        </p:nvSpPr>
        <p:spPr>
          <a:xfrm>
            <a:off x="548640" y="2651760"/>
            <a:ext cx="3108960" cy="1143000"/>
          </a:xfrm>
          <a:prstGeom prst="rect">
            <a:avLst/>
          </a:prstGeom>
          <a:solidFill>
            <a:srgbClr val="F6F3EE"/>
          </a:solidFill>
          <a:ln w="12700">
            <a:solidFill>
              <a:srgbClr val="F6F3EE"/>
            </a:solidFill>
            <a:prstDash val="solid"/>
          </a:ln>
        </p:spPr>
      </p:sp>
      <p:sp>
        <p:nvSpPr>
          <p:cNvPr id="9" name="Text 5"/>
          <p:cNvSpPr txBox="1"/>
          <p:nvPr/>
        </p:nvSpPr>
        <p:spPr>
          <a:xfrm>
            <a:off x="731520" y="2761488"/>
            <a:ext cx="2743200" cy="566928"/>
          </a:xfrm>
          <a:prstGeom prst="rect">
            <a:avLst/>
          </a:prstGeom>
          <a:noFill/>
          <a:ln/>
        </p:spPr>
        <p:txBody>
          <a:bodyPr wrap="square" lIns="0" tIns="0" rIns="0" bIns="0" rtlCol="0" anchor="ctr"/>
          <a:lstStyle/>
          <a:p>
            <a:pPr rtl="1" algn="r" indent="0" marL="0">
              <a:buNone/>
            </a:pPr>
            <a:r>
              <a:rPr lang="en-US" sz="2600" b="1" dirty="0">
                <a:solidFill>
                  <a:srgbClr val="C69A45"/>
                </a:solidFill>
                <a:latin typeface="Arial" pitchFamily="34" charset="0"/>
                <a:ea typeface="Arial" pitchFamily="34" charset="-122"/>
                <a:cs typeface="Arial" pitchFamily="34" charset="-120"/>
              </a:rPr>
              <a:t>46,692 م²</a:t>
            </a:r>
            <a:endParaRPr lang="en-US" sz="2600" dirty="0"/>
          </a:p>
        </p:txBody>
      </p:sp>
      <p:sp>
        <p:nvSpPr>
          <p:cNvPr id="10" name="Text 6"/>
          <p:cNvSpPr txBox="1"/>
          <p:nvPr/>
        </p:nvSpPr>
        <p:spPr>
          <a:xfrm>
            <a:off x="731520" y="3328416"/>
            <a:ext cx="2743200" cy="365760"/>
          </a:xfrm>
          <a:prstGeom prst="rect">
            <a:avLst/>
          </a:prstGeom>
          <a:noFill/>
          <a:ln/>
        </p:spPr>
        <p:txBody>
          <a:bodyPr wrap="square" lIns="0" tIns="0" rIns="0" bIns="0" rtlCol="0" anchor="ctr"/>
          <a:lstStyle/>
          <a:p>
            <a:pPr rtl="1" algn="r" indent="0" marL="0">
              <a:buNone/>
            </a:pPr>
            <a:r>
              <a:rPr lang="en-US" sz="1200" dirty="0">
                <a:solidFill>
                  <a:srgbClr val="5C524C"/>
                </a:solidFill>
                <a:latin typeface="Arial" pitchFamily="34" charset="0"/>
                <a:ea typeface="Arial" pitchFamily="34" charset="-122"/>
                <a:cs typeface="Arial" pitchFamily="34" charset="-120"/>
              </a:rPr>
              <a:t>إجمالي المسطحات البنائية</a:t>
            </a:r>
            <a:endParaRPr lang="en-US" sz="1200" dirty="0"/>
          </a:p>
        </p:txBody>
      </p:sp>
      <p:sp>
        <p:nvSpPr>
          <p:cNvPr id="11" name="Shape 7"/>
          <p:cNvSpPr/>
          <p:nvPr/>
        </p:nvSpPr>
        <p:spPr>
          <a:xfrm>
            <a:off x="548640" y="3977640"/>
            <a:ext cx="3108960" cy="1143000"/>
          </a:xfrm>
          <a:prstGeom prst="rect">
            <a:avLst/>
          </a:prstGeom>
          <a:solidFill>
            <a:srgbClr val="F6F3EE"/>
          </a:solidFill>
          <a:ln w="12700">
            <a:solidFill>
              <a:srgbClr val="F6F3EE"/>
            </a:solidFill>
            <a:prstDash val="solid"/>
          </a:ln>
        </p:spPr>
      </p:sp>
      <p:sp>
        <p:nvSpPr>
          <p:cNvPr id="12" name="Text 8"/>
          <p:cNvSpPr txBox="1"/>
          <p:nvPr/>
        </p:nvSpPr>
        <p:spPr>
          <a:xfrm>
            <a:off x="731520" y="4087368"/>
            <a:ext cx="2743200" cy="566928"/>
          </a:xfrm>
          <a:prstGeom prst="rect">
            <a:avLst/>
          </a:prstGeom>
          <a:noFill/>
          <a:ln/>
        </p:spPr>
        <p:txBody>
          <a:bodyPr wrap="square" lIns="0" tIns="0" rIns="0" bIns="0" rtlCol="0" anchor="ctr"/>
          <a:lstStyle/>
          <a:p>
            <a:pPr rtl="1" algn="r" indent="0" marL="0">
              <a:buNone/>
            </a:pPr>
            <a:r>
              <a:rPr lang="en-US" sz="2600" b="1" dirty="0">
                <a:solidFill>
                  <a:srgbClr val="C69A45"/>
                </a:solidFill>
                <a:latin typeface="Arial" pitchFamily="34" charset="0"/>
                <a:ea typeface="Arial" pitchFamily="34" charset="-122"/>
                <a:cs typeface="Arial" pitchFamily="34" charset="-120"/>
              </a:rPr>
              <a:t>39,688 م²</a:t>
            </a:r>
            <a:endParaRPr lang="en-US" sz="2600" dirty="0"/>
          </a:p>
        </p:txBody>
      </p:sp>
      <p:sp>
        <p:nvSpPr>
          <p:cNvPr id="13" name="Text 9"/>
          <p:cNvSpPr txBox="1"/>
          <p:nvPr/>
        </p:nvSpPr>
        <p:spPr>
          <a:xfrm>
            <a:off x="731520" y="4654296"/>
            <a:ext cx="2743200" cy="365760"/>
          </a:xfrm>
          <a:prstGeom prst="rect">
            <a:avLst/>
          </a:prstGeom>
          <a:noFill/>
          <a:ln/>
        </p:spPr>
        <p:txBody>
          <a:bodyPr wrap="square" lIns="0" tIns="0" rIns="0" bIns="0" rtlCol="0" anchor="ctr"/>
          <a:lstStyle/>
          <a:p>
            <a:pPr rtl="1" algn="r" indent="0" marL="0">
              <a:buNone/>
            </a:pPr>
            <a:r>
              <a:rPr lang="en-US" sz="1200" dirty="0">
                <a:solidFill>
                  <a:srgbClr val="5C524C"/>
                </a:solidFill>
                <a:latin typeface="Arial" pitchFamily="34" charset="0"/>
                <a:ea typeface="Arial" pitchFamily="34" charset="-122"/>
                <a:cs typeface="Arial" pitchFamily="34" charset="-120"/>
              </a:rPr>
              <a:t>المساحات الصافية البيعية</a:t>
            </a:r>
            <a:endParaRPr lang="en-US" sz="1200" dirty="0"/>
          </a:p>
        </p:txBody>
      </p:sp>
      <p:sp>
        <p:nvSpPr>
          <p:cNvPr id="14" name="Shape 10"/>
          <p:cNvSpPr/>
          <p:nvPr/>
        </p:nvSpPr>
        <p:spPr>
          <a:xfrm>
            <a:off x="548640" y="5303520"/>
            <a:ext cx="3108960" cy="1143000"/>
          </a:xfrm>
          <a:prstGeom prst="rect">
            <a:avLst/>
          </a:prstGeom>
          <a:solidFill>
            <a:srgbClr val="F6F3EE"/>
          </a:solidFill>
          <a:ln w="12700">
            <a:solidFill>
              <a:srgbClr val="F6F3EE"/>
            </a:solidFill>
            <a:prstDash val="solid"/>
          </a:ln>
        </p:spPr>
      </p:sp>
      <p:sp>
        <p:nvSpPr>
          <p:cNvPr id="15" name="Text 11"/>
          <p:cNvSpPr txBox="1"/>
          <p:nvPr/>
        </p:nvSpPr>
        <p:spPr>
          <a:xfrm>
            <a:off x="731520" y="5413248"/>
            <a:ext cx="2743200" cy="566928"/>
          </a:xfrm>
          <a:prstGeom prst="rect">
            <a:avLst/>
          </a:prstGeom>
          <a:noFill/>
          <a:ln/>
        </p:spPr>
        <p:txBody>
          <a:bodyPr wrap="square" lIns="0" tIns="0" rIns="0" bIns="0" rtlCol="0" anchor="ctr"/>
          <a:lstStyle/>
          <a:p>
            <a:pPr rtl="1" algn="r" indent="0" marL="0">
              <a:buNone/>
            </a:pPr>
            <a:r>
              <a:rPr lang="en-US" sz="2600" b="1" dirty="0">
                <a:solidFill>
                  <a:srgbClr val="C69A45"/>
                </a:solidFill>
                <a:latin typeface="Arial" pitchFamily="34" charset="0"/>
                <a:ea typeface="Arial" pitchFamily="34" charset="-122"/>
                <a:cs typeface="Arial" pitchFamily="34" charset="-120"/>
              </a:rPr>
              <a:t>198 شقة</a:t>
            </a:r>
            <a:endParaRPr lang="en-US" sz="2600" dirty="0"/>
          </a:p>
        </p:txBody>
      </p:sp>
      <p:sp>
        <p:nvSpPr>
          <p:cNvPr id="16" name="Text 12"/>
          <p:cNvSpPr txBox="1"/>
          <p:nvPr/>
        </p:nvSpPr>
        <p:spPr>
          <a:xfrm>
            <a:off x="731520" y="5980176"/>
            <a:ext cx="2743200" cy="365760"/>
          </a:xfrm>
          <a:prstGeom prst="rect">
            <a:avLst/>
          </a:prstGeom>
          <a:noFill/>
          <a:ln/>
        </p:spPr>
        <p:txBody>
          <a:bodyPr wrap="square" lIns="0" tIns="0" rIns="0" bIns="0" rtlCol="0" anchor="ctr"/>
          <a:lstStyle/>
          <a:p>
            <a:pPr rtl="1" algn="r" indent="0" marL="0">
              <a:buNone/>
            </a:pPr>
            <a:r>
              <a:rPr lang="en-US" sz="1200" dirty="0">
                <a:solidFill>
                  <a:srgbClr val="5C524C"/>
                </a:solidFill>
                <a:latin typeface="Arial" pitchFamily="34" charset="0"/>
                <a:ea typeface="Arial" pitchFamily="34" charset="-122"/>
                <a:cs typeface="Arial" pitchFamily="34" charset="-120"/>
              </a:rPr>
              <a:t>بمتوسط 120 م² للوحدة</a:t>
            </a:r>
            <a:endParaRPr lang="en-US" sz="1200" dirty="0"/>
          </a:p>
        </p:txBody>
      </p:sp>
      <p:sp>
        <p:nvSpPr>
          <p:cNvPr id="17" name="Text 13"/>
          <p:cNvSpPr txBox="1"/>
          <p:nvPr/>
        </p:nvSpPr>
        <p:spPr>
          <a:xfrm>
            <a:off x="548640" y="6473952"/>
            <a:ext cx="3657600" cy="228600"/>
          </a:xfrm>
          <a:prstGeom prst="rect">
            <a:avLst/>
          </a:prstGeom>
          <a:noFill/>
          <a:ln/>
        </p:spPr>
        <p:txBody>
          <a:bodyPr wrap="square" lIns="0" tIns="0" rIns="0" bIns="0" rtlCol="0" anchor="ctr"/>
          <a:lstStyle/>
          <a:p>
            <a:pPr rtl="1" algn="l" indent="0" marL="0">
              <a:buNone/>
            </a:pPr>
            <a:r>
              <a:rPr lang="en-US" sz="900" dirty="0">
                <a:solidFill>
                  <a:srgbClr val="8A807A"/>
                </a:solidFill>
                <a:latin typeface="Arial" pitchFamily="34" charset="0"/>
                <a:ea typeface="Arial" pitchFamily="34" charset="-122"/>
                <a:cs typeface="Arial" pitchFamily="34" charset="-120"/>
              </a:rPr>
              <a:t>مشروع أرض العليا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0" y="384048"/>
            <a:ext cx="8442655" cy="640080"/>
          </a:xfrm>
          <a:prstGeom prst="rect">
            <a:avLst/>
          </a:prstGeom>
          <a:noFill/>
          <a:ln/>
        </p:spPr>
        <p:txBody>
          <a:bodyPr wrap="square" lIns="0" tIns="0" rIns="0" bIns="0" rtlCol="0" anchor="ctr"/>
          <a:lstStyle/>
          <a:p>
            <a:pPr rtl="1" algn="r" indent="0" marL="0">
              <a:buNone/>
            </a:pPr>
            <a:r>
              <a:rPr lang="en-US" sz="3000" b="1" dirty="0">
                <a:solidFill>
                  <a:srgbClr val="2B2522"/>
                </a:solidFill>
                <a:latin typeface="Arial" pitchFamily="34" charset="0"/>
                <a:ea typeface="Arial" pitchFamily="34" charset="-122"/>
                <a:cs typeface="Arial" pitchFamily="34" charset="-120"/>
              </a:rPr>
              <a:t>تكاليف المشروع</a:t>
            </a:r>
            <a:endParaRPr lang="en-US" sz="3000" dirty="0"/>
          </a:p>
        </p:txBody>
      </p:sp>
      <p:pic>
        <p:nvPicPr>
          <p:cNvPr id="3" name="Image 0" descr="/tmp/claude-0/-home-user-wagdy/f24981f4-70a0-5320-9840-62400667b25b/scratchpad/logo_dark.png">    </p:cNvPr>
          <p:cNvPicPr>
            <a:picLocks noChangeAspect="1"/>
          </p:cNvPicPr>
          <p:nvPr/>
        </p:nvPicPr>
        <p:blipFill>
          <a:blip r:embed="rId1"/>
          <a:stretch>
            <a:fillRect/>
          </a:stretch>
        </p:blipFill>
        <p:spPr>
          <a:xfrm>
            <a:off x="548640" y="457200"/>
            <a:ext cx="1206444" cy="457200"/>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931920" y="1325880"/>
          <a:ext cx="7711135" cy="914400"/>
        </p:xfrm>
        <a:graphic>
          <a:graphicData uri="http://schemas.openxmlformats.org/drawingml/2006/table">
            <a:tbl>
              <a:tblPr/>
              <a:tblGrid>
                <a:gridCol w="868680"/>
                <a:gridCol w="1417320"/>
                <a:gridCol w="960120"/>
                <a:gridCol w="1143000"/>
                <a:gridCol w="3322015"/>
              </a:tblGrid>
              <a:tr h="301752">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أ × ب</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ب</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أ</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تكلفة الأرض</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r>
              <a:tr h="301752">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36.12%</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163,422,000</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21,000</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7,782</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050" dirty="0">
                          <a:solidFill>
                            <a:srgbClr val="2B2522"/>
                          </a:solidFill>
                          <a:latin typeface="Arial" pitchFamily="34" charset="0"/>
                          <a:ea typeface="Arial" pitchFamily="34" charset="-122"/>
                          <a:cs typeface="Arial" pitchFamily="34" charset="-120"/>
                        </a:rPr>
                        <a:t>شراء الأرض</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01752">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0.77%</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3,500,000</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050" dirty="0">
                          <a:solidFill>
                            <a:srgbClr val="2B2522"/>
                          </a:solidFill>
                          <a:latin typeface="Arial" pitchFamily="34" charset="0"/>
                          <a:ea typeface="Arial" pitchFamily="34" charset="-122"/>
                          <a:cs typeface="Arial" pitchFamily="34" charset="-120"/>
                        </a:rPr>
                        <a:t>السعي والضريبة</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01752">
                <a:tc>
                  <a:txBody>
                    <a:bodyPr/>
                    <a:lstStyle/>
                    <a:p>
                      <a:pPr algn="ctr" indent="0" marL="0">
                        <a:buNone/>
                      </a:pPr>
                      <a:r>
                        <a:rPr lang="en-US" sz="1050" b="1" dirty="0">
                          <a:solidFill>
                            <a:srgbClr val="2B2522"/>
                          </a:solidFill>
                          <a:latin typeface="Arial" pitchFamily="34" charset="0"/>
                          <a:ea typeface="Arial" pitchFamily="34" charset="-122"/>
                          <a:cs typeface="Arial" pitchFamily="34" charset="-120"/>
                        </a:rPr>
                        <a:t>36.89%</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ctr" indent="0" marL="0">
                        <a:buNone/>
                      </a:pPr>
                      <a:r>
                        <a:rPr lang="en-US" sz="1050" b="1" dirty="0">
                          <a:solidFill>
                            <a:srgbClr val="2B2522"/>
                          </a:solidFill>
                          <a:latin typeface="Arial" pitchFamily="34" charset="0"/>
                          <a:ea typeface="Arial" pitchFamily="34" charset="-122"/>
                          <a:cs typeface="Arial" pitchFamily="34" charset="-120"/>
                        </a:rPr>
                        <a:t>166,922,000</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ctr" indent="0" marL="0">
                        <a:buNone/>
                      </a:pPr>
                      <a:r>
                        <a:rPr lang="en-US" sz="1050" b="1" dirty="0">
                          <a:solidFill>
                            <a:srgbClr val="2B2522"/>
                          </a:solidFill>
                          <a:latin typeface="Arial" pitchFamily="34" charset="0"/>
                          <a:ea typeface="Arial" pitchFamily="34" charset="-122"/>
                          <a:cs typeface="Arial" pitchFamily="34" charset="-120"/>
                        </a:rPr>
                        <a:t>21,450</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ctr" indent="0" marL="0">
                        <a:buNone/>
                      </a:pPr>
                      <a:r>
                        <a:rPr lang="en-US" sz="1050" b="1" dirty="0">
                          <a:solidFill>
                            <a:srgbClr val="2B2522"/>
                          </a:solidFill>
                          <a:latin typeface="Arial" pitchFamily="34" charset="0"/>
                          <a:ea typeface="Arial" pitchFamily="34" charset="-122"/>
                          <a:cs typeface="Arial" pitchFamily="34" charset="-120"/>
                        </a:rPr>
                        <a:t>7,782</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r" indent="0" marL="0">
                        <a:buNone/>
                      </a:pPr>
                      <a:r>
                        <a:rPr lang="en-US" sz="1050" b="1" dirty="0">
                          <a:solidFill>
                            <a:srgbClr val="2B2522"/>
                          </a:solidFill>
                          <a:latin typeface="Arial" pitchFamily="34" charset="0"/>
                          <a:ea typeface="Arial" pitchFamily="34" charset="-122"/>
                          <a:cs typeface="Arial" pitchFamily="34" charset="-120"/>
                        </a:rPr>
                        <a:t>تكلفة شراء الأرض</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r>
              <a:tr h="301752">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أ × ب</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ب</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أ</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تكاليف البناء</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r>
              <a:tr h="301752">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22.91%</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103,656,240</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3,700</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28,015</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050" dirty="0">
                          <a:solidFill>
                            <a:srgbClr val="2B2522"/>
                          </a:solidFill>
                          <a:latin typeface="Arial" pitchFamily="34" charset="0"/>
                          <a:ea typeface="Arial" pitchFamily="34" charset="-122"/>
                          <a:cs typeface="Arial" pitchFamily="34" charset="-120"/>
                        </a:rPr>
                        <a:t>السكني - شقق</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01752">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13.21%</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59,765,760</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3,200</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18,677</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050" dirty="0">
                          <a:solidFill>
                            <a:srgbClr val="2B2522"/>
                          </a:solidFill>
                          <a:latin typeface="Arial" pitchFamily="34" charset="0"/>
                          <a:ea typeface="Arial" pitchFamily="34" charset="-122"/>
                          <a:cs typeface="Arial" pitchFamily="34" charset="-120"/>
                        </a:rPr>
                        <a:t>المكتبي</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01752">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13.95%</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63,097,234</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2,700</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23,369</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050" dirty="0">
                          <a:solidFill>
                            <a:srgbClr val="2B2522"/>
                          </a:solidFill>
                          <a:latin typeface="Arial" pitchFamily="34" charset="0"/>
                          <a:ea typeface="Arial" pitchFamily="34" charset="-122"/>
                          <a:cs typeface="Arial" pitchFamily="34" charset="-120"/>
                        </a:rPr>
                        <a:t>القبو - مواقف وخدمات</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01752">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0.39%</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1,750,950</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450</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3,891</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050" dirty="0">
                          <a:solidFill>
                            <a:srgbClr val="2B2522"/>
                          </a:solidFill>
                          <a:latin typeface="Arial" pitchFamily="34" charset="0"/>
                          <a:ea typeface="Arial" pitchFamily="34" charset="-122"/>
                          <a:cs typeface="Arial" pitchFamily="34" charset="-120"/>
                        </a:rPr>
                        <a:t>الموقع العام</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01752">
                <a:tc>
                  <a:txBody>
                    <a:bodyPr/>
                    <a:lstStyle/>
                    <a:p>
                      <a:pPr algn="ctr" indent="0" marL="0">
                        <a:buNone/>
                      </a:pPr>
                      <a:r>
                        <a:rPr lang="en-US" sz="1050" b="1" dirty="0">
                          <a:solidFill>
                            <a:srgbClr val="2B2522"/>
                          </a:solidFill>
                          <a:latin typeface="Arial" pitchFamily="34" charset="0"/>
                          <a:ea typeface="Arial" pitchFamily="34" charset="-122"/>
                          <a:cs typeface="Arial" pitchFamily="34" charset="-120"/>
                        </a:rPr>
                        <a:t>50.45%</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ctr" indent="0" marL="0">
                        <a:buNone/>
                      </a:pPr>
                      <a:r>
                        <a:rPr lang="en-US" sz="1050" b="1" dirty="0">
                          <a:solidFill>
                            <a:srgbClr val="2B2522"/>
                          </a:solidFill>
                          <a:latin typeface="Arial" pitchFamily="34" charset="0"/>
                          <a:ea typeface="Arial" pitchFamily="34" charset="-122"/>
                          <a:cs typeface="Arial" pitchFamily="34" charset="-120"/>
                        </a:rPr>
                        <a:t>228,270,184</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ctr" indent="0" marL="0">
                        <a:buNone/>
                      </a:pPr>
                      <a:r>
                        <a:rPr lang="en-US" sz="1050" b="1" dirty="0">
                          <a:solidFill>
                            <a:srgbClr val="2B2522"/>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ctr" indent="0" marL="0">
                        <a:buNone/>
                      </a:pPr>
                      <a:r>
                        <a:rPr lang="en-US" sz="1050" b="1" dirty="0">
                          <a:solidFill>
                            <a:srgbClr val="2B2522"/>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r" indent="0" marL="0">
                        <a:buNone/>
                      </a:pPr>
                      <a:r>
                        <a:rPr lang="en-US" sz="1050" b="1" dirty="0">
                          <a:solidFill>
                            <a:srgbClr val="2B2522"/>
                          </a:solidFill>
                          <a:latin typeface="Arial" pitchFamily="34" charset="0"/>
                          <a:ea typeface="Arial" pitchFamily="34" charset="-122"/>
                          <a:cs typeface="Arial" pitchFamily="34" charset="-120"/>
                        </a:rPr>
                        <a:t>التكاليف المباشرة</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r>
              <a:tr h="301752">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أ × ب</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ب</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أ</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التكاليف غير المباشرة</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r>
              <a:tr h="301752">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3.83%</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17,331,675</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7.59%</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228,270,184</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050" dirty="0">
                          <a:solidFill>
                            <a:srgbClr val="2B2522"/>
                          </a:solidFill>
                          <a:latin typeface="Arial" pitchFamily="34" charset="0"/>
                          <a:ea typeface="Arial" pitchFamily="34" charset="-122"/>
                          <a:cs typeface="Arial" pitchFamily="34" charset="-120"/>
                        </a:rPr>
                        <a:t>التصاميم، الإشراف، الرسوم الحكومية، التسويق</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01752">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1.26%</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5,706,755</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2.5%</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228,270,184</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050" dirty="0">
                          <a:solidFill>
                            <a:srgbClr val="2B2522"/>
                          </a:solidFill>
                          <a:latin typeface="Arial" pitchFamily="34" charset="0"/>
                          <a:ea typeface="Arial" pitchFamily="34" charset="-122"/>
                          <a:cs typeface="Arial" pitchFamily="34" charset="-120"/>
                        </a:rPr>
                        <a:t>الاحتياطي</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01752">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7.57%</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34,240,528</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15%</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050" dirty="0">
                          <a:solidFill>
                            <a:srgbClr val="5C524C"/>
                          </a:solidFill>
                          <a:latin typeface="Arial" pitchFamily="34" charset="0"/>
                          <a:ea typeface="Arial" pitchFamily="34" charset="-122"/>
                          <a:cs typeface="Arial" pitchFamily="34" charset="-120"/>
                        </a:rPr>
                        <a:t>228,270,184</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050" dirty="0">
                          <a:solidFill>
                            <a:srgbClr val="2B2522"/>
                          </a:solidFill>
                          <a:latin typeface="Arial" pitchFamily="34" charset="0"/>
                          <a:ea typeface="Arial" pitchFamily="34" charset="-122"/>
                          <a:cs typeface="Arial" pitchFamily="34" charset="-120"/>
                        </a:rPr>
                        <a:t>أتعاب المطور</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01752">
                <a:tc>
                  <a:txBody>
                    <a:bodyPr/>
                    <a:lstStyle/>
                    <a:p>
                      <a:pPr algn="ctr" indent="0" marL="0">
                        <a:buNone/>
                      </a:pPr>
                      <a:r>
                        <a:rPr lang="en-US" sz="1050" b="1" dirty="0">
                          <a:solidFill>
                            <a:srgbClr val="2B2522"/>
                          </a:solidFill>
                          <a:latin typeface="Arial" pitchFamily="34" charset="0"/>
                          <a:ea typeface="Arial" pitchFamily="34" charset="-122"/>
                          <a:cs typeface="Arial" pitchFamily="34" charset="-120"/>
                        </a:rPr>
                        <a:t>12.66%</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ctr" indent="0" marL="0">
                        <a:buNone/>
                      </a:pPr>
                      <a:r>
                        <a:rPr lang="en-US" sz="1050" b="1" dirty="0">
                          <a:solidFill>
                            <a:srgbClr val="2B2522"/>
                          </a:solidFill>
                          <a:latin typeface="Arial" pitchFamily="34" charset="0"/>
                          <a:ea typeface="Arial" pitchFamily="34" charset="-122"/>
                          <a:cs typeface="Arial" pitchFamily="34" charset="-120"/>
                        </a:rPr>
                        <a:t>57,278,958</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ctr" indent="0" marL="0">
                        <a:buNone/>
                      </a:pPr>
                      <a:r>
                        <a:rPr lang="en-US" sz="1050" b="1" dirty="0">
                          <a:solidFill>
                            <a:srgbClr val="2B2522"/>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ctr" indent="0" marL="0">
                        <a:buNone/>
                      </a:pPr>
                      <a:r>
                        <a:rPr lang="en-US" sz="1050" b="1" dirty="0">
                          <a:solidFill>
                            <a:srgbClr val="2B2522"/>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r" indent="0" marL="0">
                        <a:buNone/>
                      </a:pPr>
                      <a:r>
                        <a:rPr lang="en-US" sz="1050" b="1" dirty="0">
                          <a:solidFill>
                            <a:srgbClr val="2B2522"/>
                          </a:solidFill>
                          <a:latin typeface="Arial" pitchFamily="34" charset="0"/>
                          <a:ea typeface="Arial" pitchFamily="34" charset="-122"/>
                          <a:cs typeface="Arial" pitchFamily="34" charset="-120"/>
                        </a:rPr>
                        <a:t>إجمالي التكاليف غير المباشرة</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r>
              <a:tr h="301752">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C69A45"/>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452,471,142</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C69A45"/>
                    </a:solidFill>
                  </a:tcPr>
                </a:tc>
                <a:tc>
                  <a:txBody>
                    <a:bodyPr/>
                    <a:lstStyle/>
                    <a:p>
                      <a:pPr indent="0" marL="0">
                        <a:buNone/>
                      </a:pP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C69A45"/>
                    </a:solidFill>
                  </a:tcPr>
                </a:tc>
                <a:tc>
                  <a:txBody>
                    <a:bodyPr/>
                    <a:lstStyle/>
                    <a:p>
                      <a:pPr indent="0" marL="0">
                        <a:buNone/>
                      </a:pP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C69A45"/>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إجمالي تكلفة المشروع</a:t>
                      </a:r>
                      <a:endParaRPr lang="en-US" sz="10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C69A45"/>
                    </a:solidFill>
                  </a:tcPr>
                </a:tc>
              </a:tr>
            </a:tbl>
          </a:graphicData>
        </a:graphic>
      </p:graphicFrame>
      <p:graphicFrame>
        <p:nvGraphicFramePr>
          <p:cNvPr id="5" name="Chart 0" descr=""/>
          <p:cNvGraphicFramePr/>
          <p:nvPr/>
        </p:nvGraphicFramePr>
        <p:xfrm>
          <a:off x="548640" y="1325880"/>
          <a:ext cx="3108960" cy="3291840"/>
        </p:xfrm>
        <a:graphic xmlns:a="http://schemas.openxmlformats.org/drawingml/2006/main">
          <a:graphicData uri="http://schemas.openxmlformats.org/drawingml/2006/chart">
            <c:chart xmlns:c="http://schemas.openxmlformats.org/drawingml/2006/chart" r:id="rId2"/>
          </a:graphicData>
        </a:graphic>
      </p:graphicFrame>
      <p:sp>
        <p:nvSpPr>
          <p:cNvPr id="6" name="Shape 1"/>
          <p:cNvSpPr/>
          <p:nvPr/>
        </p:nvSpPr>
        <p:spPr>
          <a:xfrm>
            <a:off x="548640" y="4846320"/>
            <a:ext cx="3108960" cy="1143000"/>
          </a:xfrm>
          <a:prstGeom prst="rect">
            <a:avLst/>
          </a:prstGeom>
          <a:solidFill>
            <a:srgbClr val="2B2522"/>
          </a:solidFill>
          <a:ln w="12700">
            <a:solidFill>
              <a:srgbClr val="2B2522"/>
            </a:solidFill>
            <a:prstDash val="solid"/>
          </a:ln>
        </p:spPr>
      </p:sp>
      <p:sp>
        <p:nvSpPr>
          <p:cNvPr id="7" name="Text 2"/>
          <p:cNvSpPr txBox="1"/>
          <p:nvPr/>
        </p:nvSpPr>
        <p:spPr>
          <a:xfrm>
            <a:off x="731520" y="4956048"/>
            <a:ext cx="2743200" cy="566928"/>
          </a:xfrm>
          <a:prstGeom prst="rect">
            <a:avLst/>
          </a:prstGeom>
          <a:noFill/>
          <a:ln/>
        </p:spPr>
        <p:txBody>
          <a:bodyPr wrap="square" lIns="0" tIns="0" rIns="0" bIns="0" rtlCol="0" anchor="ctr"/>
          <a:lstStyle/>
          <a:p>
            <a:pPr rtl="1" algn="r" indent="0" marL="0">
              <a:buNone/>
            </a:pPr>
            <a:r>
              <a:rPr lang="en-US" sz="2600" b="1" dirty="0">
                <a:solidFill>
                  <a:srgbClr val="C69A45"/>
                </a:solidFill>
                <a:latin typeface="Arial" pitchFamily="34" charset="0"/>
                <a:ea typeface="Arial" pitchFamily="34" charset="-122"/>
                <a:cs typeface="Arial" pitchFamily="34" charset="-120"/>
              </a:rPr>
              <a:t>452.5 م</a:t>
            </a:r>
            <a:endParaRPr lang="en-US" sz="2600" dirty="0"/>
          </a:p>
        </p:txBody>
      </p:sp>
      <p:sp>
        <p:nvSpPr>
          <p:cNvPr id="8" name="Text 3"/>
          <p:cNvSpPr txBox="1"/>
          <p:nvPr/>
        </p:nvSpPr>
        <p:spPr>
          <a:xfrm>
            <a:off x="731520" y="5522976"/>
            <a:ext cx="2743200" cy="365760"/>
          </a:xfrm>
          <a:prstGeom prst="rect">
            <a:avLst/>
          </a:prstGeom>
          <a:noFill/>
          <a:ln/>
        </p:spPr>
        <p:txBody>
          <a:bodyPr wrap="square" lIns="0" tIns="0" rIns="0" bIns="0" rtlCol="0" anchor="ctr"/>
          <a:lstStyle/>
          <a:p>
            <a:pPr rtl="1" algn="r" indent="0" marL="0">
              <a:buNone/>
            </a:pPr>
            <a:r>
              <a:rPr lang="en-US" sz="1200" dirty="0">
                <a:solidFill>
                  <a:srgbClr val="E8E2DA"/>
                </a:solidFill>
                <a:latin typeface="Arial" pitchFamily="34" charset="0"/>
                <a:ea typeface="Arial" pitchFamily="34" charset="-122"/>
                <a:cs typeface="Arial" pitchFamily="34" charset="-120"/>
              </a:rPr>
              <a:t>إجمالي تكلفة المشروع (مليون ريال)</a:t>
            </a:r>
            <a:endParaRPr lang="en-US" sz="1200" dirty="0"/>
          </a:p>
        </p:txBody>
      </p:sp>
      <p:sp>
        <p:nvSpPr>
          <p:cNvPr id="9" name="Text 4"/>
          <p:cNvSpPr txBox="1"/>
          <p:nvPr/>
        </p:nvSpPr>
        <p:spPr>
          <a:xfrm>
            <a:off x="548640" y="6473952"/>
            <a:ext cx="3657600" cy="228600"/>
          </a:xfrm>
          <a:prstGeom prst="rect">
            <a:avLst/>
          </a:prstGeom>
          <a:noFill/>
          <a:ln/>
        </p:spPr>
        <p:txBody>
          <a:bodyPr wrap="square" lIns="0" tIns="0" rIns="0" bIns="0" rtlCol="0" anchor="ctr"/>
          <a:lstStyle/>
          <a:p>
            <a:pPr rtl="1" algn="l" indent="0" marL="0">
              <a:buNone/>
            </a:pPr>
            <a:r>
              <a:rPr lang="en-US" sz="900" dirty="0">
                <a:solidFill>
                  <a:srgbClr val="8A807A"/>
                </a:solidFill>
                <a:latin typeface="Arial" pitchFamily="34" charset="0"/>
                <a:ea typeface="Arial" pitchFamily="34" charset="-122"/>
                <a:cs typeface="Arial" pitchFamily="34" charset="-120"/>
              </a:rPr>
              <a:t>مشروع أرض العليا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0" y="384048"/>
            <a:ext cx="8442655" cy="640080"/>
          </a:xfrm>
          <a:prstGeom prst="rect">
            <a:avLst/>
          </a:prstGeom>
          <a:noFill/>
          <a:ln/>
        </p:spPr>
        <p:txBody>
          <a:bodyPr wrap="square" lIns="0" tIns="0" rIns="0" bIns="0" rtlCol="0" anchor="ctr"/>
          <a:lstStyle/>
          <a:p>
            <a:pPr rtl="1" algn="r" indent="0" marL="0">
              <a:buNone/>
            </a:pPr>
            <a:r>
              <a:rPr lang="en-US" sz="3000" b="1" dirty="0">
                <a:solidFill>
                  <a:srgbClr val="2B2522"/>
                </a:solidFill>
                <a:latin typeface="Arial" pitchFamily="34" charset="0"/>
                <a:ea typeface="Arial" pitchFamily="34" charset="-122"/>
                <a:cs typeface="Arial" pitchFamily="34" charset="-120"/>
              </a:rPr>
              <a:t>هيكل التمويل وحجم الاستثمار</a:t>
            </a:r>
            <a:endParaRPr lang="en-US" sz="3000" dirty="0"/>
          </a:p>
        </p:txBody>
      </p:sp>
      <p:pic>
        <p:nvPicPr>
          <p:cNvPr id="3" name="Image 0" descr="/tmp/claude-0/-home-user-wagdy/f24981f4-70a0-5320-9840-62400667b25b/scratchpad/logo_dark.png">    </p:cNvPr>
          <p:cNvPicPr>
            <a:picLocks noChangeAspect="1"/>
          </p:cNvPicPr>
          <p:nvPr/>
        </p:nvPicPr>
        <p:blipFill>
          <a:blip r:embed="rId1"/>
          <a:stretch>
            <a:fillRect/>
          </a:stretch>
        </p:blipFill>
        <p:spPr>
          <a:xfrm>
            <a:off x="548640" y="457200"/>
            <a:ext cx="1206444" cy="457200"/>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0" y="1325880"/>
          <a:ext cx="5973775" cy="914400"/>
        </p:xfrm>
        <a:graphic>
          <a:graphicData uri="http://schemas.openxmlformats.org/drawingml/2006/table">
            <a:tbl>
              <a:tblPr/>
              <a:tblGrid>
                <a:gridCol w="914400"/>
                <a:gridCol w="1737360"/>
                <a:gridCol w="3322015"/>
              </a:tblGrid>
              <a:tr h="347472">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المبلغ (ريال)</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r" indent="0" marL="0">
                        <a:buNone/>
                      </a:pPr>
                      <a:r>
                        <a:rPr lang="en-US" sz="1150" b="1" dirty="0">
                          <a:solidFill>
                            <a:srgbClr val="FFFFFF"/>
                          </a:solidFill>
                          <a:latin typeface="Arial" pitchFamily="34" charset="0"/>
                          <a:ea typeface="Arial" pitchFamily="34" charset="-122"/>
                          <a:cs typeface="Arial" pitchFamily="34" charset="-120"/>
                        </a:rPr>
                        <a:t>حجم الاستثمار</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r>
              <a:tr h="347472">
                <a:tc>
                  <a:txBody>
                    <a:bodyPr/>
                    <a:lstStyle/>
                    <a:p>
                      <a:pPr algn="ctr" indent="0" marL="0">
                        <a:buNone/>
                      </a:pPr>
                      <a:r>
                        <a:rPr lang="en-US" sz="1150" dirty="0">
                          <a:solidFill>
                            <a:srgbClr val="5C524C"/>
                          </a:solidFill>
                          <a:latin typeface="Arial" pitchFamily="34" charset="0"/>
                          <a:ea typeface="Arial" pitchFamily="34" charset="-122"/>
                          <a:cs typeface="Arial" pitchFamily="34" charset="-120"/>
                        </a:rPr>
                        <a:t>59.2%</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50" dirty="0">
                          <a:solidFill>
                            <a:srgbClr val="5C524C"/>
                          </a:solidFill>
                          <a:latin typeface="Arial" pitchFamily="34" charset="0"/>
                          <a:ea typeface="Arial" pitchFamily="34" charset="-122"/>
                          <a:cs typeface="Arial" pitchFamily="34" charset="-120"/>
                        </a:rPr>
                        <a:t>285,549,142</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150" dirty="0">
                          <a:solidFill>
                            <a:srgbClr val="2B2522"/>
                          </a:solidFill>
                          <a:latin typeface="Arial" pitchFamily="34" charset="0"/>
                          <a:ea typeface="Arial" pitchFamily="34" charset="-122"/>
                          <a:cs typeface="Arial" pitchFamily="34" charset="-120"/>
                        </a:rPr>
                        <a:t>تكاليف البناء والتطوير</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47472">
                <a:tc>
                  <a:txBody>
                    <a:bodyPr/>
                    <a:lstStyle/>
                    <a:p>
                      <a:pPr algn="ctr" indent="0" marL="0">
                        <a:buNone/>
                      </a:pPr>
                      <a:r>
                        <a:rPr lang="en-US" sz="1150" dirty="0">
                          <a:solidFill>
                            <a:srgbClr val="5C524C"/>
                          </a:solidFill>
                          <a:latin typeface="Arial" pitchFamily="34" charset="0"/>
                          <a:ea typeface="Arial" pitchFamily="34" charset="-122"/>
                          <a:cs typeface="Arial" pitchFamily="34" charset="-120"/>
                        </a:rPr>
                        <a:t>34.6%</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50" dirty="0">
                          <a:solidFill>
                            <a:srgbClr val="5C524C"/>
                          </a:solidFill>
                          <a:latin typeface="Arial" pitchFamily="34" charset="0"/>
                          <a:ea typeface="Arial" pitchFamily="34" charset="-122"/>
                          <a:cs typeface="Arial" pitchFamily="34" charset="-120"/>
                        </a:rPr>
                        <a:t>166,922,000</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150" dirty="0">
                          <a:solidFill>
                            <a:srgbClr val="2B2522"/>
                          </a:solidFill>
                          <a:latin typeface="Arial" pitchFamily="34" charset="0"/>
                          <a:ea typeface="Arial" pitchFamily="34" charset="-122"/>
                          <a:cs typeface="Arial" pitchFamily="34" charset="-120"/>
                        </a:rPr>
                        <a:t>تكاليف الأرض</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47472">
                <a:tc>
                  <a:txBody>
                    <a:bodyPr/>
                    <a:lstStyle/>
                    <a:p>
                      <a:pPr algn="ctr" indent="0" marL="0">
                        <a:buNone/>
                      </a:pPr>
                      <a:r>
                        <a:rPr lang="en-US" sz="1150" b="1" dirty="0">
                          <a:solidFill>
                            <a:srgbClr val="2B2522"/>
                          </a:solidFill>
                          <a:latin typeface="Arial" pitchFamily="34" charset="0"/>
                          <a:ea typeface="Arial" pitchFamily="34" charset="-122"/>
                          <a:cs typeface="Arial" pitchFamily="34" charset="-120"/>
                        </a:rPr>
                        <a:t>93.9%</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ctr" indent="0" marL="0">
                        <a:buNone/>
                      </a:pPr>
                      <a:r>
                        <a:rPr lang="en-US" sz="1150" b="1" dirty="0">
                          <a:solidFill>
                            <a:srgbClr val="2B2522"/>
                          </a:solidFill>
                          <a:latin typeface="Arial" pitchFamily="34" charset="0"/>
                          <a:ea typeface="Arial" pitchFamily="34" charset="-122"/>
                          <a:cs typeface="Arial" pitchFamily="34" charset="-120"/>
                        </a:rPr>
                        <a:t>452,471,142</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r" indent="0" marL="0">
                        <a:buNone/>
                      </a:pPr>
                      <a:r>
                        <a:rPr lang="en-US" sz="1150" b="1" dirty="0">
                          <a:solidFill>
                            <a:srgbClr val="2B2522"/>
                          </a:solidFill>
                          <a:latin typeface="Arial" pitchFamily="34" charset="0"/>
                          <a:ea typeface="Arial" pitchFamily="34" charset="-122"/>
                          <a:cs typeface="Arial" pitchFamily="34" charset="-120"/>
                        </a:rPr>
                        <a:t>تكلفة المشروع</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r>
              <a:tr h="347472">
                <a:tc>
                  <a:txBody>
                    <a:bodyPr/>
                    <a:lstStyle/>
                    <a:p>
                      <a:pPr algn="ctr" indent="0" marL="0">
                        <a:buNone/>
                      </a:pPr>
                      <a:r>
                        <a:rPr lang="en-US" sz="1150" dirty="0">
                          <a:solidFill>
                            <a:srgbClr val="5C524C"/>
                          </a:solidFill>
                          <a:latin typeface="Arial" pitchFamily="34" charset="0"/>
                          <a:ea typeface="Arial" pitchFamily="34" charset="-122"/>
                          <a:cs typeface="Arial" pitchFamily="34" charset="-120"/>
                        </a:rPr>
                        <a:t>0.22%</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50" dirty="0">
                          <a:solidFill>
                            <a:srgbClr val="5C524C"/>
                          </a:solidFill>
                          <a:latin typeface="Arial" pitchFamily="34" charset="0"/>
                          <a:ea typeface="Arial" pitchFamily="34" charset="-122"/>
                          <a:cs typeface="Arial" pitchFamily="34" charset="-120"/>
                        </a:rPr>
                        <a:t>1,040,684</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150" dirty="0">
                          <a:solidFill>
                            <a:srgbClr val="2B2522"/>
                          </a:solidFill>
                          <a:latin typeface="Arial" pitchFamily="34" charset="0"/>
                          <a:ea typeface="Arial" pitchFamily="34" charset="-122"/>
                          <a:cs typeface="Arial" pitchFamily="34" charset="-120"/>
                        </a:rPr>
                        <a:t>رسوم ترتيب التمويل (1%)</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47472">
                <a:tc>
                  <a:txBody>
                    <a:bodyPr/>
                    <a:lstStyle/>
                    <a:p>
                      <a:pPr algn="ctr" indent="0" marL="0">
                        <a:buNone/>
                      </a:pPr>
                      <a:r>
                        <a:rPr lang="en-US" sz="1150" dirty="0">
                          <a:solidFill>
                            <a:srgbClr val="5C524C"/>
                          </a:solidFill>
                          <a:latin typeface="Arial" pitchFamily="34" charset="0"/>
                          <a:ea typeface="Arial" pitchFamily="34" charset="-122"/>
                          <a:cs typeface="Arial" pitchFamily="34" charset="-120"/>
                        </a:rPr>
                        <a:t>4.8%</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50" dirty="0">
                          <a:solidFill>
                            <a:srgbClr val="5C524C"/>
                          </a:solidFill>
                          <a:latin typeface="Arial" pitchFamily="34" charset="0"/>
                          <a:ea typeface="Arial" pitchFamily="34" charset="-122"/>
                          <a:cs typeface="Arial" pitchFamily="34" charset="-120"/>
                        </a:rPr>
                        <a:t>23,098,360</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150" dirty="0">
                          <a:solidFill>
                            <a:srgbClr val="2B2522"/>
                          </a:solidFill>
                          <a:latin typeface="Arial" pitchFamily="34" charset="0"/>
                          <a:ea typeface="Arial" pitchFamily="34" charset="-122"/>
                          <a:cs typeface="Arial" pitchFamily="34" charset="-120"/>
                        </a:rPr>
                        <a:t>تكاليف المرابحة (7%)</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47472">
                <a:tc>
                  <a:txBody>
                    <a:bodyPr/>
                    <a:lstStyle/>
                    <a:p>
                      <a:pPr algn="ctr" indent="0" marL="0">
                        <a:buNone/>
                      </a:pPr>
                      <a:r>
                        <a:rPr lang="en-US" sz="1150" dirty="0">
                          <a:solidFill>
                            <a:srgbClr val="5C524C"/>
                          </a:solidFill>
                          <a:latin typeface="Arial" pitchFamily="34" charset="0"/>
                          <a:ea typeface="Arial" pitchFamily="34" charset="-122"/>
                          <a:cs typeface="Arial" pitchFamily="34" charset="-120"/>
                        </a:rPr>
                        <a:t>0.10%</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50" dirty="0">
                          <a:solidFill>
                            <a:srgbClr val="5C524C"/>
                          </a:solidFill>
                          <a:latin typeface="Arial" pitchFamily="34" charset="0"/>
                          <a:ea typeface="Arial" pitchFamily="34" charset="-122"/>
                          <a:cs typeface="Arial" pitchFamily="34" charset="-120"/>
                        </a:rPr>
                        <a:t>500,000</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150" dirty="0">
                          <a:solidFill>
                            <a:srgbClr val="2B2522"/>
                          </a:solidFill>
                          <a:latin typeface="Arial" pitchFamily="34" charset="0"/>
                          <a:ea typeface="Arial" pitchFamily="34" charset="-122"/>
                          <a:cs typeface="Arial" pitchFamily="34" charset="-120"/>
                        </a:rPr>
                        <a:t>رسوم تأسيس الصندوق</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47472">
                <a:tc>
                  <a:txBody>
                    <a:bodyPr/>
                    <a:lstStyle/>
                    <a:p>
                      <a:pPr algn="ctr" indent="0" marL="0">
                        <a:buNone/>
                      </a:pPr>
                      <a:r>
                        <a:rPr lang="en-US" sz="1150" dirty="0">
                          <a:solidFill>
                            <a:srgbClr val="5C524C"/>
                          </a:solidFill>
                          <a:latin typeface="Arial" pitchFamily="34" charset="0"/>
                          <a:ea typeface="Arial" pitchFamily="34" charset="-122"/>
                          <a:cs typeface="Arial" pitchFamily="34" charset="-120"/>
                        </a:rPr>
                        <a:t>1.0%</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50" dirty="0">
                          <a:solidFill>
                            <a:srgbClr val="5C524C"/>
                          </a:solidFill>
                          <a:latin typeface="Arial" pitchFamily="34" charset="0"/>
                          <a:ea typeface="Arial" pitchFamily="34" charset="-122"/>
                          <a:cs typeface="Arial" pitchFamily="34" charset="-120"/>
                        </a:rPr>
                        <a:t>5,000,000</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150" dirty="0">
                          <a:solidFill>
                            <a:srgbClr val="2B2522"/>
                          </a:solidFill>
                          <a:latin typeface="Arial" pitchFamily="34" charset="0"/>
                          <a:ea typeface="Arial" pitchFamily="34" charset="-122"/>
                          <a:cs typeface="Arial" pitchFamily="34" charset="-120"/>
                        </a:rPr>
                        <a:t>رسوم الشركة المالية</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47472">
                <a:tc>
                  <a:txBody>
                    <a:bodyPr/>
                    <a:lstStyle/>
                    <a:p>
                      <a:pPr algn="ctr" indent="0" marL="0">
                        <a:buNone/>
                      </a:pPr>
                      <a:r>
                        <a:rPr lang="en-US" sz="1150" b="1" dirty="0">
                          <a:solidFill>
                            <a:srgbClr val="2B2522"/>
                          </a:solidFill>
                          <a:latin typeface="Arial" pitchFamily="34" charset="0"/>
                          <a:ea typeface="Arial" pitchFamily="34" charset="-122"/>
                          <a:cs typeface="Arial" pitchFamily="34" charset="-120"/>
                        </a:rPr>
                        <a:t>100%</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ctr" indent="0" marL="0">
                        <a:buNone/>
                      </a:pPr>
                      <a:r>
                        <a:rPr lang="en-US" sz="1150" b="1" dirty="0">
                          <a:solidFill>
                            <a:srgbClr val="2B2522"/>
                          </a:solidFill>
                          <a:latin typeface="Arial" pitchFamily="34" charset="0"/>
                          <a:ea typeface="Arial" pitchFamily="34" charset="-122"/>
                          <a:cs typeface="Arial" pitchFamily="34" charset="-120"/>
                        </a:rPr>
                        <a:t>482,110,185</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r" indent="0" marL="0">
                        <a:buNone/>
                      </a:pPr>
                      <a:r>
                        <a:rPr lang="en-US" sz="1150" b="1" dirty="0">
                          <a:solidFill>
                            <a:srgbClr val="2B2522"/>
                          </a:solidFill>
                          <a:latin typeface="Arial" pitchFamily="34" charset="0"/>
                          <a:ea typeface="Arial" pitchFamily="34" charset="-122"/>
                          <a:cs typeface="Arial" pitchFamily="34" charset="-120"/>
                        </a:rPr>
                        <a:t>حجم الاستثمار / الصندوق</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r>
              <a:tr h="347472">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المبلغ (ريال)</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r" indent="0" marL="0">
                        <a:buNone/>
                      </a:pPr>
                      <a:r>
                        <a:rPr lang="en-US" sz="1150" b="1" dirty="0">
                          <a:solidFill>
                            <a:srgbClr val="FFFFFF"/>
                          </a:solidFill>
                          <a:latin typeface="Arial" pitchFamily="34" charset="0"/>
                          <a:ea typeface="Arial" pitchFamily="34" charset="-122"/>
                          <a:cs typeface="Arial" pitchFamily="34" charset="-120"/>
                        </a:rPr>
                        <a:t>الهيكل المالي</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r>
              <a:tr h="347472">
                <a:tc>
                  <a:txBody>
                    <a:bodyPr/>
                    <a:lstStyle/>
                    <a:p>
                      <a:pPr algn="ctr" indent="0" marL="0">
                        <a:buNone/>
                      </a:pPr>
                      <a:r>
                        <a:rPr lang="en-US" sz="1150" dirty="0">
                          <a:solidFill>
                            <a:srgbClr val="5C524C"/>
                          </a:solidFill>
                          <a:latin typeface="Arial" pitchFamily="34" charset="0"/>
                          <a:ea typeface="Arial" pitchFamily="34" charset="-122"/>
                          <a:cs typeface="Arial" pitchFamily="34" charset="-120"/>
                        </a:rPr>
                        <a:t>43.5%</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50" dirty="0">
                          <a:solidFill>
                            <a:srgbClr val="5C524C"/>
                          </a:solidFill>
                          <a:latin typeface="Arial" pitchFamily="34" charset="0"/>
                          <a:ea typeface="Arial" pitchFamily="34" charset="-122"/>
                          <a:cs typeface="Arial" pitchFamily="34" charset="-120"/>
                        </a:rPr>
                        <a:t>209,579,139</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150" dirty="0">
                          <a:solidFill>
                            <a:srgbClr val="2B2522"/>
                          </a:solidFill>
                          <a:latin typeface="Arial" pitchFamily="34" charset="0"/>
                          <a:ea typeface="Arial" pitchFamily="34" charset="-122"/>
                          <a:cs typeface="Arial" pitchFamily="34" charset="-120"/>
                        </a:rPr>
                        <a:t>صافي متحصلات المبيعات (إعادة تدوير)</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47472">
                <a:tc>
                  <a:txBody>
                    <a:bodyPr/>
                    <a:lstStyle/>
                    <a:p>
                      <a:pPr algn="ctr" indent="0" marL="0">
                        <a:buNone/>
                      </a:pPr>
                      <a:r>
                        <a:rPr lang="en-US" sz="1150" dirty="0">
                          <a:solidFill>
                            <a:srgbClr val="5C524C"/>
                          </a:solidFill>
                          <a:latin typeface="Arial" pitchFamily="34" charset="0"/>
                          <a:ea typeface="Arial" pitchFamily="34" charset="-122"/>
                          <a:cs typeface="Arial" pitchFamily="34" charset="-120"/>
                        </a:rPr>
                        <a:t>21.6%</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50" dirty="0">
                          <a:solidFill>
                            <a:srgbClr val="5C524C"/>
                          </a:solidFill>
                          <a:latin typeface="Arial" pitchFamily="34" charset="0"/>
                          <a:ea typeface="Arial" pitchFamily="34" charset="-122"/>
                          <a:cs typeface="Arial" pitchFamily="34" charset="-120"/>
                        </a:rPr>
                        <a:t>104,068,363</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150" dirty="0">
                          <a:solidFill>
                            <a:srgbClr val="2B2522"/>
                          </a:solidFill>
                          <a:latin typeface="Arial" pitchFamily="34" charset="0"/>
                          <a:ea typeface="Arial" pitchFamily="34" charset="-122"/>
                          <a:cs typeface="Arial" pitchFamily="34" charset="-120"/>
                        </a:rPr>
                        <a:t>التمويل البنكي (23% من التكلفة)</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47472">
                <a:tc>
                  <a:txBody>
                    <a:bodyPr/>
                    <a:lstStyle/>
                    <a:p>
                      <a:pPr algn="ctr" indent="0" marL="0">
                        <a:buNone/>
                      </a:pPr>
                      <a:r>
                        <a:rPr lang="en-US" sz="1150" dirty="0">
                          <a:solidFill>
                            <a:srgbClr val="5C524C"/>
                          </a:solidFill>
                          <a:latin typeface="Arial" pitchFamily="34" charset="0"/>
                          <a:ea typeface="Arial" pitchFamily="34" charset="-122"/>
                          <a:cs typeface="Arial" pitchFamily="34" charset="-120"/>
                        </a:rPr>
                        <a:t>34.9%</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150" dirty="0">
                          <a:solidFill>
                            <a:srgbClr val="5C524C"/>
                          </a:solidFill>
                          <a:latin typeface="Arial" pitchFamily="34" charset="0"/>
                          <a:ea typeface="Arial" pitchFamily="34" charset="-122"/>
                          <a:cs typeface="Arial" pitchFamily="34" charset="-120"/>
                        </a:rPr>
                        <a:t>168,462,684</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150" dirty="0">
                          <a:solidFill>
                            <a:srgbClr val="2B2522"/>
                          </a:solidFill>
                          <a:latin typeface="Arial" pitchFamily="34" charset="0"/>
                          <a:ea typeface="Arial" pitchFamily="34" charset="-122"/>
                          <a:cs typeface="Arial" pitchFamily="34" charset="-120"/>
                        </a:rPr>
                        <a:t>رأس مال المساهمين</a:t>
                      </a:r>
                      <a:endParaRPr lang="en-US" sz="115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bl>
          </a:graphicData>
        </a:graphic>
      </p:graphicFrame>
      <p:graphicFrame>
        <p:nvGraphicFramePr>
          <p:cNvPr id="5" name="Chart 0" descr=""/>
          <p:cNvGraphicFramePr/>
          <p:nvPr/>
        </p:nvGraphicFramePr>
        <p:xfrm>
          <a:off x="548640" y="1325880"/>
          <a:ext cx="4754880" cy="3383280"/>
        </p:xfrm>
        <a:graphic xmlns:a="http://schemas.openxmlformats.org/drawingml/2006/main">
          <a:graphicData uri="http://schemas.openxmlformats.org/drawingml/2006/chart">
            <c:chart xmlns:c="http://schemas.openxmlformats.org/drawingml/2006/chart" r:id="rId2"/>
          </a:graphicData>
        </a:graphic>
      </p:graphicFrame>
      <p:sp>
        <p:nvSpPr>
          <p:cNvPr id="6" name="Shape 1"/>
          <p:cNvSpPr/>
          <p:nvPr/>
        </p:nvSpPr>
        <p:spPr>
          <a:xfrm>
            <a:off x="3017520" y="4983480"/>
            <a:ext cx="2286000" cy="1143000"/>
          </a:xfrm>
          <a:prstGeom prst="rect">
            <a:avLst/>
          </a:prstGeom>
          <a:solidFill>
            <a:srgbClr val="2B2522"/>
          </a:solidFill>
          <a:ln w="12700">
            <a:solidFill>
              <a:srgbClr val="2B2522"/>
            </a:solidFill>
            <a:prstDash val="solid"/>
          </a:ln>
        </p:spPr>
      </p:sp>
      <p:sp>
        <p:nvSpPr>
          <p:cNvPr id="7" name="Text 2"/>
          <p:cNvSpPr txBox="1"/>
          <p:nvPr/>
        </p:nvSpPr>
        <p:spPr>
          <a:xfrm>
            <a:off x="3200400" y="5093208"/>
            <a:ext cx="1920240" cy="566928"/>
          </a:xfrm>
          <a:prstGeom prst="rect">
            <a:avLst/>
          </a:prstGeom>
          <a:noFill/>
          <a:ln/>
        </p:spPr>
        <p:txBody>
          <a:bodyPr wrap="square" lIns="0" tIns="0" rIns="0" bIns="0" rtlCol="0" anchor="ctr"/>
          <a:lstStyle/>
          <a:p>
            <a:pPr rtl="1" algn="r" indent="0" marL="0">
              <a:buNone/>
            </a:pPr>
            <a:r>
              <a:rPr lang="en-US" sz="2600" b="1" dirty="0">
                <a:solidFill>
                  <a:srgbClr val="C69A45"/>
                </a:solidFill>
                <a:latin typeface="Arial" pitchFamily="34" charset="0"/>
                <a:ea typeface="Arial" pitchFamily="34" charset="-122"/>
                <a:cs typeface="Arial" pitchFamily="34" charset="-120"/>
              </a:rPr>
              <a:t>168.5 م</a:t>
            </a:r>
            <a:endParaRPr lang="en-US" sz="2600" dirty="0"/>
          </a:p>
        </p:txBody>
      </p:sp>
      <p:sp>
        <p:nvSpPr>
          <p:cNvPr id="8" name="Text 3"/>
          <p:cNvSpPr txBox="1"/>
          <p:nvPr/>
        </p:nvSpPr>
        <p:spPr>
          <a:xfrm>
            <a:off x="3200400" y="5660136"/>
            <a:ext cx="1920240" cy="365760"/>
          </a:xfrm>
          <a:prstGeom prst="rect">
            <a:avLst/>
          </a:prstGeom>
          <a:noFill/>
          <a:ln/>
        </p:spPr>
        <p:txBody>
          <a:bodyPr wrap="square" lIns="0" tIns="0" rIns="0" bIns="0" rtlCol="0" anchor="ctr"/>
          <a:lstStyle/>
          <a:p>
            <a:pPr rtl="1" algn="r" indent="0" marL="0">
              <a:buNone/>
            </a:pPr>
            <a:r>
              <a:rPr lang="en-US" sz="1200" dirty="0">
                <a:solidFill>
                  <a:srgbClr val="E8E2DA"/>
                </a:solidFill>
                <a:latin typeface="Arial" pitchFamily="34" charset="0"/>
                <a:ea typeface="Arial" pitchFamily="34" charset="-122"/>
                <a:cs typeface="Arial" pitchFamily="34" charset="-120"/>
              </a:rPr>
              <a:t>رأس المال المطلوب (ريال)</a:t>
            </a:r>
            <a:endParaRPr lang="en-US" sz="1200" dirty="0"/>
          </a:p>
        </p:txBody>
      </p:sp>
      <p:sp>
        <p:nvSpPr>
          <p:cNvPr id="9" name="Shape 4"/>
          <p:cNvSpPr/>
          <p:nvPr/>
        </p:nvSpPr>
        <p:spPr>
          <a:xfrm>
            <a:off x="548640" y="4983480"/>
            <a:ext cx="2286000" cy="1143000"/>
          </a:xfrm>
          <a:prstGeom prst="rect">
            <a:avLst/>
          </a:prstGeom>
          <a:solidFill>
            <a:srgbClr val="F6F3EE"/>
          </a:solidFill>
          <a:ln w="12700">
            <a:solidFill>
              <a:srgbClr val="F6F3EE"/>
            </a:solidFill>
            <a:prstDash val="solid"/>
          </a:ln>
        </p:spPr>
      </p:sp>
      <p:sp>
        <p:nvSpPr>
          <p:cNvPr id="10" name="Text 5"/>
          <p:cNvSpPr txBox="1"/>
          <p:nvPr/>
        </p:nvSpPr>
        <p:spPr>
          <a:xfrm>
            <a:off x="731520" y="5093208"/>
            <a:ext cx="1920240" cy="566928"/>
          </a:xfrm>
          <a:prstGeom prst="rect">
            <a:avLst/>
          </a:prstGeom>
          <a:noFill/>
          <a:ln/>
        </p:spPr>
        <p:txBody>
          <a:bodyPr wrap="square" lIns="0" tIns="0" rIns="0" bIns="0" rtlCol="0" anchor="ctr"/>
          <a:lstStyle/>
          <a:p>
            <a:pPr rtl="1" algn="r" indent="0" marL="0">
              <a:buNone/>
            </a:pPr>
            <a:r>
              <a:rPr lang="en-US" sz="2600" b="1" dirty="0">
                <a:solidFill>
                  <a:srgbClr val="C69A45"/>
                </a:solidFill>
                <a:latin typeface="Arial" pitchFamily="34" charset="0"/>
                <a:ea typeface="Arial" pitchFamily="34" charset="-122"/>
                <a:cs typeface="Arial" pitchFamily="34" charset="-120"/>
              </a:rPr>
              <a:t>104.1 م</a:t>
            </a:r>
            <a:endParaRPr lang="en-US" sz="2600" dirty="0"/>
          </a:p>
        </p:txBody>
      </p:sp>
      <p:sp>
        <p:nvSpPr>
          <p:cNvPr id="11" name="Text 6"/>
          <p:cNvSpPr txBox="1"/>
          <p:nvPr/>
        </p:nvSpPr>
        <p:spPr>
          <a:xfrm>
            <a:off x="731520" y="5660136"/>
            <a:ext cx="1920240" cy="365760"/>
          </a:xfrm>
          <a:prstGeom prst="rect">
            <a:avLst/>
          </a:prstGeom>
          <a:noFill/>
          <a:ln/>
        </p:spPr>
        <p:txBody>
          <a:bodyPr wrap="square" lIns="0" tIns="0" rIns="0" bIns="0" rtlCol="0" anchor="ctr"/>
          <a:lstStyle/>
          <a:p>
            <a:pPr rtl="1" algn="r" indent="0" marL="0">
              <a:buNone/>
            </a:pPr>
            <a:r>
              <a:rPr lang="en-US" sz="1200" dirty="0">
                <a:solidFill>
                  <a:srgbClr val="5C524C"/>
                </a:solidFill>
                <a:latin typeface="Arial" pitchFamily="34" charset="0"/>
                <a:ea typeface="Arial" pitchFamily="34" charset="-122"/>
                <a:cs typeface="Arial" pitchFamily="34" charset="-120"/>
              </a:rPr>
              <a:t>التمويل البنكي (ريال)</a:t>
            </a:r>
            <a:endParaRPr lang="en-US" sz="1200" dirty="0"/>
          </a:p>
        </p:txBody>
      </p:sp>
      <p:sp>
        <p:nvSpPr>
          <p:cNvPr id="12" name="Text 7"/>
          <p:cNvSpPr txBox="1"/>
          <p:nvPr/>
        </p:nvSpPr>
        <p:spPr>
          <a:xfrm>
            <a:off x="548640" y="6473952"/>
            <a:ext cx="3657600" cy="228600"/>
          </a:xfrm>
          <a:prstGeom prst="rect">
            <a:avLst/>
          </a:prstGeom>
          <a:noFill/>
          <a:ln/>
        </p:spPr>
        <p:txBody>
          <a:bodyPr wrap="square" lIns="0" tIns="0" rIns="0" bIns="0" rtlCol="0" anchor="ctr"/>
          <a:lstStyle/>
          <a:p>
            <a:pPr rtl="1" algn="l" indent="0" marL="0">
              <a:buNone/>
            </a:pPr>
            <a:r>
              <a:rPr lang="en-US" sz="900" dirty="0">
                <a:solidFill>
                  <a:srgbClr val="8A807A"/>
                </a:solidFill>
                <a:latin typeface="Arial" pitchFamily="34" charset="0"/>
                <a:ea typeface="Arial" pitchFamily="34" charset="-122"/>
                <a:cs typeface="Arial" pitchFamily="34" charset="-120"/>
              </a:rPr>
              <a:t>مشروع أرض العليا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0" y="384048"/>
            <a:ext cx="8442655" cy="640080"/>
          </a:xfrm>
          <a:prstGeom prst="rect">
            <a:avLst/>
          </a:prstGeom>
          <a:noFill/>
          <a:ln/>
        </p:spPr>
        <p:txBody>
          <a:bodyPr wrap="square" lIns="0" tIns="0" rIns="0" bIns="0" rtlCol="0" anchor="ctr"/>
          <a:lstStyle/>
          <a:p>
            <a:pPr rtl="1" algn="r" indent="0" marL="0">
              <a:buNone/>
            </a:pPr>
            <a:r>
              <a:rPr lang="en-US" sz="3000" b="1" dirty="0">
                <a:solidFill>
                  <a:srgbClr val="2B2522"/>
                </a:solidFill>
                <a:latin typeface="Arial" pitchFamily="34" charset="0"/>
                <a:ea typeface="Arial" pitchFamily="34" charset="-122"/>
                <a:cs typeface="Arial" pitchFamily="34" charset="-120"/>
              </a:rPr>
              <a:t>الإيرادات - البيع على الخارطة</a:t>
            </a:r>
            <a:endParaRPr lang="en-US" sz="3000" dirty="0"/>
          </a:p>
        </p:txBody>
      </p:sp>
      <p:pic>
        <p:nvPicPr>
          <p:cNvPr id="3" name="Image 0" descr="/tmp/claude-0/-home-user-wagdy/f24981f4-70a0-5320-9840-62400667b25b/scratchpad/logo_dark.png">    </p:cNvPr>
          <p:cNvPicPr>
            <a:picLocks noChangeAspect="1"/>
          </p:cNvPicPr>
          <p:nvPr/>
        </p:nvPicPr>
        <p:blipFill>
          <a:blip r:embed="rId1"/>
          <a:stretch>
            <a:fillRect/>
          </a:stretch>
        </p:blipFill>
        <p:spPr>
          <a:xfrm>
            <a:off x="548640" y="457200"/>
            <a:ext cx="1206444" cy="457200"/>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0" y="1325880"/>
          <a:ext cx="5242255" cy="914400"/>
        </p:xfrm>
        <a:graphic>
          <a:graphicData uri="http://schemas.openxmlformats.org/drawingml/2006/table">
            <a:tbl>
              <a:tblPr/>
              <a:tblGrid>
                <a:gridCol w="1600200"/>
                <a:gridCol w="1600200"/>
                <a:gridCol w="2041855"/>
              </a:tblGrid>
              <a:tr h="45720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المكتبي</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السكني (شقق)</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البند</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r>
              <a:tr h="457200">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100%</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100%</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200" dirty="0">
                          <a:solidFill>
                            <a:srgbClr val="2B2522"/>
                          </a:solidFill>
                          <a:latin typeface="Arial" pitchFamily="34" charset="0"/>
                          <a:ea typeface="Arial" pitchFamily="34" charset="-122"/>
                          <a:cs typeface="Arial" pitchFamily="34" charset="-120"/>
                        </a:rPr>
                        <a:t>نسبة المساحة المباعة</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457200">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15,875</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23,813</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200" dirty="0">
                          <a:solidFill>
                            <a:srgbClr val="2B2522"/>
                          </a:solidFill>
                          <a:latin typeface="Arial" pitchFamily="34" charset="0"/>
                          <a:ea typeface="Arial" pitchFamily="34" charset="-122"/>
                          <a:cs typeface="Arial" pitchFamily="34" charset="-120"/>
                        </a:rPr>
                        <a:t>المساحات المباعة م²</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457200">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16,000</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14,000</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200" dirty="0">
                          <a:solidFill>
                            <a:srgbClr val="2B2522"/>
                          </a:solidFill>
                          <a:latin typeface="Arial" pitchFamily="34" charset="0"/>
                          <a:ea typeface="Arial" pitchFamily="34" charset="-122"/>
                          <a:cs typeface="Arial" pitchFamily="34" charset="-120"/>
                        </a:rPr>
                        <a:t>متوسط سعر المتر (ريال)</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457200">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198</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200" dirty="0">
                          <a:solidFill>
                            <a:srgbClr val="2B2522"/>
                          </a:solidFill>
                          <a:latin typeface="Arial" pitchFamily="34" charset="0"/>
                          <a:ea typeface="Arial" pitchFamily="34" charset="-122"/>
                          <a:cs typeface="Arial" pitchFamily="34" charset="-120"/>
                        </a:rPr>
                        <a:t>عدد الوحدات</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457200">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1,680,000</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200" dirty="0">
                          <a:solidFill>
                            <a:srgbClr val="2B2522"/>
                          </a:solidFill>
                          <a:latin typeface="Arial" pitchFamily="34" charset="0"/>
                          <a:ea typeface="Arial" pitchFamily="34" charset="-122"/>
                          <a:cs typeface="Arial" pitchFamily="34" charset="-120"/>
                        </a:rPr>
                        <a:t>متوسط سعر الوحدة (ريال)</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457200">
                <a:tc>
                  <a:txBody>
                    <a:bodyPr/>
                    <a:lstStyle/>
                    <a:p>
                      <a:pPr algn="ctr" indent="0" marL="0">
                        <a:buNone/>
                      </a:pPr>
                      <a:r>
                        <a:rPr lang="en-US" sz="1200" b="1" dirty="0">
                          <a:solidFill>
                            <a:srgbClr val="2B2522"/>
                          </a:solidFill>
                          <a:latin typeface="Arial" pitchFamily="34" charset="0"/>
                          <a:ea typeface="Arial" pitchFamily="34" charset="-122"/>
                          <a:cs typeface="Arial" pitchFamily="34" charset="-120"/>
                        </a:rPr>
                        <a:t>254,004,480</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ctr" indent="0" marL="0">
                        <a:buNone/>
                      </a:pPr>
                      <a:r>
                        <a:rPr lang="en-US" sz="1200" b="1" dirty="0">
                          <a:solidFill>
                            <a:srgbClr val="2B2522"/>
                          </a:solidFill>
                          <a:latin typeface="Arial" pitchFamily="34" charset="0"/>
                          <a:ea typeface="Arial" pitchFamily="34" charset="-122"/>
                          <a:cs typeface="Arial" pitchFamily="34" charset="-120"/>
                        </a:rPr>
                        <a:t>333,380,880</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r" indent="0" marL="0">
                        <a:buNone/>
                      </a:pPr>
                      <a:r>
                        <a:rPr lang="en-US" sz="1200" b="1" dirty="0">
                          <a:solidFill>
                            <a:srgbClr val="2B2522"/>
                          </a:solidFill>
                          <a:latin typeface="Arial" pitchFamily="34" charset="0"/>
                          <a:ea typeface="Arial" pitchFamily="34" charset="-122"/>
                          <a:cs typeface="Arial" pitchFamily="34" charset="-120"/>
                        </a:rPr>
                        <a:t>إجمالي المبيعات (ريال)</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r>
              <a:tr h="457200">
                <a:tc gridSpan="2">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587,385,360</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C69A45"/>
                    </a:solidFill>
                  </a:tcPr>
                </a:tc>
                <a:tc hMerge="1">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إجمالي الإيرادات</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C69A45"/>
                    </a:solidFill>
                  </a:tcPr>
                </a:tc>
              </a:tr>
            </a:tbl>
          </a:graphicData>
        </a:graphic>
      </p:graphicFrame>
      <p:graphicFrame>
        <p:nvGraphicFramePr>
          <p:cNvPr id="5" name="Chart 0" descr=""/>
          <p:cNvGraphicFramePr/>
          <p:nvPr/>
        </p:nvGraphicFramePr>
        <p:xfrm>
          <a:off x="548640" y="1325880"/>
          <a:ext cx="5486400" cy="4846320"/>
        </p:xfrm>
        <a:graphic xmlns:a="http://schemas.openxmlformats.org/drawingml/2006/main">
          <a:graphicData uri="http://schemas.openxmlformats.org/drawingml/2006/chart">
            <c:chart xmlns:c="http://schemas.openxmlformats.org/drawingml/2006/chart" r:id="rId2"/>
          </a:graphicData>
        </a:graphic>
      </p:graphicFrame>
      <p:sp>
        <p:nvSpPr>
          <p:cNvPr id="6" name="Text 1"/>
          <p:cNvSpPr txBox="1"/>
          <p:nvPr/>
        </p:nvSpPr>
        <p:spPr>
          <a:xfrm>
            <a:off x="6400800" y="5257800"/>
            <a:ext cx="5242255" cy="731520"/>
          </a:xfrm>
          <a:prstGeom prst="rect">
            <a:avLst/>
          </a:prstGeom>
          <a:noFill/>
          <a:ln/>
        </p:spPr>
        <p:txBody>
          <a:bodyPr wrap="square" lIns="0" tIns="0" rIns="0" bIns="0" rtlCol="0" anchor="t"/>
          <a:lstStyle/>
          <a:p>
            <a:pPr rtl="1" algn="r" indent="0" marL="0">
              <a:buNone/>
            </a:pPr>
            <a:r>
              <a:rPr lang="en-US" sz="1200" dirty="0">
                <a:solidFill>
                  <a:srgbClr val="5C524C"/>
                </a:solidFill>
                <a:latin typeface="Arial" pitchFamily="34" charset="0"/>
                <a:ea typeface="Arial" pitchFamily="34" charset="-122"/>
                <a:cs typeface="Arial" pitchFamily="34" charset="-120"/>
              </a:rPr>
              <a:t>توزيع المبيعات: 33% في السنة الثانية، 14% في الثالثة، 53% في الرابعة - والتحصيل وفق نسب الإنجاز.</a:t>
            </a:r>
            <a:endParaRPr lang="en-US" sz="1200" dirty="0"/>
          </a:p>
        </p:txBody>
      </p:sp>
      <p:sp>
        <p:nvSpPr>
          <p:cNvPr id="7" name="Text 2"/>
          <p:cNvSpPr txBox="1"/>
          <p:nvPr/>
        </p:nvSpPr>
        <p:spPr>
          <a:xfrm>
            <a:off x="548640" y="6473952"/>
            <a:ext cx="3657600" cy="228600"/>
          </a:xfrm>
          <a:prstGeom prst="rect">
            <a:avLst/>
          </a:prstGeom>
          <a:noFill/>
          <a:ln/>
        </p:spPr>
        <p:txBody>
          <a:bodyPr wrap="square" lIns="0" tIns="0" rIns="0" bIns="0" rtlCol="0" anchor="ctr"/>
          <a:lstStyle/>
          <a:p>
            <a:pPr rtl="1" algn="l" indent="0" marL="0">
              <a:buNone/>
            </a:pPr>
            <a:r>
              <a:rPr lang="en-US" sz="900" dirty="0">
                <a:solidFill>
                  <a:srgbClr val="8A807A"/>
                </a:solidFill>
                <a:latin typeface="Arial" pitchFamily="34" charset="0"/>
                <a:ea typeface="Arial" pitchFamily="34" charset="-122"/>
                <a:cs typeface="Arial" pitchFamily="34" charset="-120"/>
              </a:rPr>
              <a:t>مشروع أرض العليا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0" y="384048"/>
            <a:ext cx="8442655" cy="640080"/>
          </a:xfrm>
          <a:prstGeom prst="rect">
            <a:avLst/>
          </a:prstGeom>
          <a:noFill/>
          <a:ln/>
        </p:spPr>
        <p:txBody>
          <a:bodyPr wrap="square" lIns="0" tIns="0" rIns="0" bIns="0" rtlCol="0" anchor="ctr"/>
          <a:lstStyle/>
          <a:p>
            <a:pPr rtl="1" algn="r" indent="0" marL="0">
              <a:buNone/>
            </a:pPr>
            <a:r>
              <a:rPr lang="en-US" sz="3000" b="1" dirty="0">
                <a:solidFill>
                  <a:srgbClr val="2B2522"/>
                </a:solidFill>
                <a:latin typeface="Arial" pitchFamily="34" charset="0"/>
                <a:ea typeface="Arial" pitchFamily="34" charset="-122"/>
                <a:cs typeface="Arial" pitchFamily="34" charset="-120"/>
              </a:rPr>
              <a:t>التدفقات النقدية للمشروع</a:t>
            </a:r>
            <a:endParaRPr lang="en-US" sz="3000" dirty="0"/>
          </a:p>
        </p:txBody>
      </p:sp>
      <p:sp>
        <p:nvSpPr>
          <p:cNvPr id="3" name="Text 1"/>
          <p:cNvSpPr txBox="1"/>
          <p:nvPr/>
        </p:nvSpPr>
        <p:spPr>
          <a:xfrm>
            <a:off x="3200400" y="987552"/>
            <a:ext cx="8442655" cy="365760"/>
          </a:xfrm>
          <a:prstGeom prst="rect">
            <a:avLst/>
          </a:prstGeom>
          <a:noFill/>
          <a:ln/>
        </p:spPr>
        <p:txBody>
          <a:bodyPr wrap="square" lIns="0" tIns="0" rIns="0" bIns="0" rtlCol="0" anchor="ctr"/>
          <a:lstStyle/>
          <a:p>
            <a:pPr rtl="1" algn="r" indent="0" marL="0">
              <a:buNone/>
            </a:pPr>
            <a:r>
              <a:rPr lang="en-US" sz="1400" dirty="0">
                <a:solidFill>
                  <a:srgbClr val="8A807A"/>
                </a:solidFill>
                <a:latin typeface="Arial" pitchFamily="34" charset="0"/>
                <a:ea typeface="Arial" pitchFamily="34" charset="-122"/>
                <a:cs typeface="Arial" pitchFamily="34" charset="-120"/>
              </a:rPr>
              <a:t>بالمليون ريال - القيم بين الأقواس سالبة - السنة 0 هي سنة شراء الأرض</a:t>
            </a:r>
            <a:endParaRPr lang="en-US" sz="1400" dirty="0"/>
          </a:p>
        </p:txBody>
      </p:sp>
      <p:pic>
        <p:nvPicPr>
          <p:cNvPr id="4" name="Image 0" descr="/tmp/claude-0/-home-user-wagdy/f24981f4-70a0-5320-9840-62400667b25b/scratchpad/logo_dark.png">    </p:cNvPr>
          <p:cNvPicPr>
            <a:picLocks noChangeAspect="1"/>
          </p:cNvPicPr>
          <p:nvPr/>
        </p:nvPicPr>
        <p:blipFill>
          <a:blip r:embed="rId1"/>
          <a:stretch>
            <a:fillRect/>
          </a:stretch>
        </p:blipFill>
        <p:spPr>
          <a:xfrm>
            <a:off x="548640" y="457200"/>
            <a:ext cx="1206444" cy="457200"/>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1143000"/>
                <a:gridCol w="1143000"/>
                <a:gridCol w="1143000"/>
                <a:gridCol w="1143000"/>
                <a:gridCol w="1143000"/>
                <a:gridCol w="1143000"/>
                <a:gridCol w="4236415"/>
              </a:tblGrid>
              <a:tr h="36576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الإجمالي</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السنة 4</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السنة 3</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السنة 2</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السنة 1</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السنة 0</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البند</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r>
              <a:tr h="365760">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587.4</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457.8</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65.7</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64.0</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200" dirty="0">
                          <a:solidFill>
                            <a:srgbClr val="2B2522"/>
                          </a:solidFill>
                          <a:latin typeface="Arial" pitchFamily="34" charset="0"/>
                          <a:ea typeface="Arial" pitchFamily="34" charset="-122"/>
                          <a:cs typeface="Arial" pitchFamily="34" charset="-120"/>
                        </a:rPr>
                        <a:t>متحصلات البيع على الخارطة</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65760">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(166.9)</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(166.9)</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200" dirty="0">
                          <a:solidFill>
                            <a:srgbClr val="2B2522"/>
                          </a:solidFill>
                          <a:latin typeface="Arial" pitchFamily="34" charset="0"/>
                          <a:ea typeface="Arial" pitchFamily="34" charset="-122"/>
                          <a:cs typeface="Arial" pitchFamily="34" charset="-120"/>
                        </a:rPr>
                        <a:t>تكلفة الأرض</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65760">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(285.5)</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(71.9)</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(85.7)</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(85.7)</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(42.3)</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200" dirty="0">
                          <a:solidFill>
                            <a:srgbClr val="2B2522"/>
                          </a:solidFill>
                          <a:latin typeface="Arial" pitchFamily="34" charset="0"/>
                          <a:ea typeface="Arial" pitchFamily="34" charset="-122"/>
                          <a:cs typeface="Arial" pitchFamily="34" charset="-120"/>
                        </a:rPr>
                        <a:t>تكاليف البناء والتطوير</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65760">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(24.1)</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(111.4)</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21.8</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23.0</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43.5</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200" dirty="0">
                          <a:solidFill>
                            <a:srgbClr val="2B2522"/>
                          </a:solidFill>
                          <a:latin typeface="Arial" pitchFamily="34" charset="0"/>
                          <a:ea typeface="Arial" pitchFamily="34" charset="-122"/>
                          <a:cs typeface="Arial" pitchFamily="34" charset="-120"/>
                        </a:rPr>
                        <a:t>صافي الحركة البنكية (سحب/سداد/مرابحة)</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65760">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(5.5)</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(1.3)</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(1.3)</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(1.3)</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(1.3)</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(0.5)</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200" dirty="0">
                          <a:solidFill>
                            <a:srgbClr val="2B2522"/>
                          </a:solidFill>
                          <a:latin typeface="Arial" pitchFamily="34" charset="0"/>
                          <a:ea typeface="Arial" pitchFamily="34" charset="-122"/>
                          <a:cs typeface="Arial" pitchFamily="34" charset="-120"/>
                        </a:rPr>
                        <a:t>رسوم الصندوق والشركة المالية</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65760">
                <a:tc>
                  <a:txBody>
                    <a:bodyPr/>
                    <a:lstStyle/>
                    <a:p>
                      <a:pPr algn="ctr" indent="0" marL="0">
                        <a:buNone/>
                      </a:pPr>
                      <a:r>
                        <a:rPr lang="en-US" sz="1200" b="1" dirty="0">
                          <a:solidFill>
                            <a:srgbClr val="2B2522"/>
                          </a:solidFill>
                          <a:latin typeface="Arial" pitchFamily="34" charset="0"/>
                          <a:ea typeface="Arial" pitchFamily="34" charset="-122"/>
                          <a:cs typeface="Arial" pitchFamily="34" charset="-120"/>
                        </a:rPr>
                        <a:t>105.3</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ctr" indent="0" marL="0">
                        <a:buNone/>
                      </a:pPr>
                      <a:r>
                        <a:rPr lang="en-US" sz="1200" b="1" dirty="0">
                          <a:solidFill>
                            <a:srgbClr val="2B2522"/>
                          </a:solidFill>
                          <a:latin typeface="Arial" pitchFamily="34" charset="0"/>
                          <a:ea typeface="Arial" pitchFamily="34" charset="-122"/>
                          <a:cs typeface="Arial" pitchFamily="34" charset="-120"/>
                        </a:rPr>
                        <a:t>273.2</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ctr" indent="0" marL="0">
                        <a:buNone/>
                      </a:pPr>
                      <a:r>
                        <a:rPr lang="en-US" sz="1200" b="1" dirty="0">
                          <a:solidFill>
                            <a:srgbClr val="2B2522"/>
                          </a:solidFill>
                          <a:latin typeface="Arial" pitchFamily="34" charset="0"/>
                          <a:ea typeface="Arial" pitchFamily="34" charset="-122"/>
                          <a:cs typeface="Arial" pitchFamily="34" charset="-120"/>
                        </a:rPr>
                        <a:t>0.5</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ctr" indent="0" marL="0">
                        <a:buNone/>
                      </a:pPr>
                      <a:r>
                        <a:rPr lang="en-US" sz="1200" b="1" dirty="0">
                          <a:solidFill>
                            <a:srgbClr val="2B2522"/>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ctr" indent="0" marL="0">
                        <a:buNone/>
                      </a:pPr>
                      <a:r>
                        <a:rPr lang="en-US" sz="1200" b="1" dirty="0">
                          <a:solidFill>
                            <a:srgbClr val="2B2522"/>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ctr" indent="0" marL="0">
                        <a:buNone/>
                      </a:pPr>
                      <a:r>
                        <a:rPr lang="en-US" sz="1200" b="1" dirty="0">
                          <a:solidFill>
                            <a:srgbClr val="2B2522"/>
                          </a:solidFill>
                          <a:latin typeface="Arial" pitchFamily="34" charset="0"/>
                          <a:ea typeface="Arial" pitchFamily="34" charset="-122"/>
                          <a:cs typeface="Arial" pitchFamily="34" charset="-120"/>
                        </a:rPr>
                        <a:t>(168.5)</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r" indent="0" marL="0">
                        <a:buNone/>
                      </a:pPr>
                      <a:r>
                        <a:rPr lang="en-US" sz="1200" b="1" dirty="0">
                          <a:solidFill>
                            <a:srgbClr val="2B2522"/>
                          </a:solidFill>
                          <a:latin typeface="Arial" pitchFamily="34" charset="0"/>
                          <a:ea typeface="Arial" pitchFamily="34" charset="-122"/>
                          <a:cs typeface="Arial" pitchFamily="34" charset="-120"/>
                        </a:rPr>
                        <a:t>صافي التدفق النقدي قبل حافز الأداء</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r>
            </a:tbl>
          </a:graphicData>
        </a:graphic>
      </p:graphicFrame>
      <p:graphicFrame>
        <p:nvGraphicFramePr>
          <p:cNvPr id="6" name="Chart 0" descr=""/>
          <p:cNvGraphicFramePr/>
          <p:nvPr/>
        </p:nvGraphicFramePr>
        <p:xfrm>
          <a:off x="548640" y="4206240"/>
          <a:ext cx="11094415" cy="2240280"/>
        </p:xfrm>
        <a:graphic xmlns:a="http://schemas.openxmlformats.org/drawingml/2006/main">
          <a:graphicData uri="http://schemas.openxmlformats.org/drawingml/2006/chart">
            <c:chart xmlns:c="http://schemas.openxmlformats.org/drawingml/2006/chart" r:id="rId2"/>
          </a:graphicData>
        </a:graphic>
      </p:graphicFrame>
      <p:sp>
        <p:nvSpPr>
          <p:cNvPr id="7" name="Text 2"/>
          <p:cNvSpPr txBox="1"/>
          <p:nvPr/>
        </p:nvSpPr>
        <p:spPr>
          <a:xfrm>
            <a:off x="548640" y="6473952"/>
            <a:ext cx="3657600" cy="228600"/>
          </a:xfrm>
          <a:prstGeom prst="rect">
            <a:avLst/>
          </a:prstGeom>
          <a:noFill/>
          <a:ln/>
        </p:spPr>
        <p:txBody>
          <a:bodyPr wrap="square" lIns="0" tIns="0" rIns="0" bIns="0" rtlCol="0" anchor="ctr"/>
          <a:lstStyle/>
          <a:p>
            <a:pPr rtl="1" algn="l" indent="0" marL="0">
              <a:buNone/>
            </a:pPr>
            <a:r>
              <a:rPr lang="en-US" sz="900" dirty="0">
                <a:solidFill>
                  <a:srgbClr val="8A807A"/>
                </a:solidFill>
                <a:latin typeface="Arial" pitchFamily="34" charset="0"/>
                <a:ea typeface="Arial" pitchFamily="34" charset="-122"/>
                <a:cs typeface="Arial" pitchFamily="34" charset="-120"/>
              </a:rPr>
              <a:t>مشروع أرض العليا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0" y="384048"/>
            <a:ext cx="8442655" cy="640080"/>
          </a:xfrm>
          <a:prstGeom prst="rect">
            <a:avLst/>
          </a:prstGeom>
          <a:noFill/>
          <a:ln/>
        </p:spPr>
        <p:txBody>
          <a:bodyPr wrap="square" lIns="0" tIns="0" rIns="0" bIns="0" rtlCol="0" anchor="ctr"/>
          <a:lstStyle/>
          <a:p>
            <a:pPr rtl="1" algn="r" indent="0" marL="0">
              <a:buNone/>
            </a:pPr>
            <a:r>
              <a:rPr lang="en-US" sz="3000" b="1" dirty="0">
                <a:solidFill>
                  <a:srgbClr val="2B2522"/>
                </a:solidFill>
                <a:latin typeface="Arial" pitchFamily="34" charset="0"/>
                <a:ea typeface="Arial" pitchFamily="34" charset="-122"/>
                <a:cs typeface="Arial" pitchFamily="34" charset="-120"/>
              </a:rPr>
              <a:t>ملخص النتائج المالية</a:t>
            </a:r>
            <a:endParaRPr lang="en-US" sz="3000" dirty="0"/>
          </a:p>
        </p:txBody>
      </p:sp>
      <p:pic>
        <p:nvPicPr>
          <p:cNvPr id="3" name="Image 0" descr="/tmp/claude-0/-home-user-wagdy/f24981f4-70a0-5320-9840-62400667b25b/scratchpad/logo_dark.png">    </p:cNvPr>
          <p:cNvPicPr>
            <a:picLocks noChangeAspect="1"/>
          </p:cNvPicPr>
          <p:nvPr/>
        </p:nvPicPr>
        <p:blipFill>
          <a:blip r:embed="rId1"/>
          <a:stretch>
            <a:fillRect/>
          </a:stretch>
        </p:blipFill>
        <p:spPr>
          <a:xfrm>
            <a:off x="548640" y="457200"/>
            <a:ext cx="1206444" cy="457200"/>
          </a:xfrm>
          <a:prstGeom prst="rect">
            <a:avLst/>
          </a:prstGeom>
        </p:spPr>
      </p:pic>
      <p:sp>
        <p:nvSpPr>
          <p:cNvPr id="4" name="Shape 1"/>
          <p:cNvSpPr/>
          <p:nvPr/>
        </p:nvSpPr>
        <p:spPr>
          <a:xfrm>
            <a:off x="9075191" y="1325880"/>
            <a:ext cx="2567864" cy="1143000"/>
          </a:xfrm>
          <a:prstGeom prst="rect">
            <a:avLst/>
          </a:prstGeom>
          <a:solidFill>
            <a:srgbClr val="2B2522"/>
          </a:solidFill>
          <a:ln w="12700">
            <a:solidFill>
              <a:srgbClr val="2B2522"/>
            </a:solidFill>
            <a:prstDash val="solid"/>
          </a:ln>
        </p:spPr>
      </p:sp>
      <p:sp>
        <p:nvSpPr>
          <p:cNvPr id="5" name="Text 2"/>
          <p:cNvSpPr txBox="1"/>
          <p:nvPr/>
        </p:nvSpPr>
        <p:spPr>
          <a:xfrm>
            <a:off x="9258071" y="1435608"/>
            <a:ext cx="2202104" cy="566928"/>
          </a:xfrm>
          <a:prstGeom prst="rect">
            <a:avLst/>
          </a:prstGeom>
          <a:noFill/>
          <a:ln/>
        </p:spPr>
        <p:txBody>
          <a:bodyPr wrap="square" lIns="0" tIns="0" rIns="0" bIns="0" rtlCol="0" anchor="ctr"/>
          <a:lstStyle/>
          <a:p>
            <a:pPr rtl="1" algn="r" indent="0" marL="0">
              <a:buNone/>
            </a:pPr>
            <a:r>
              <a:rPr lang="en-US" sz="2600" b="1" dirty="0">
                <a:solidFill>
                  <a:srgbClr val="C69A45"/>
                </a:solidFill>
                <a:latin typeface="Arial" pitchFamily="34" charset="0"/>
                <a:ea typeface="Arial" pitchFamily="34" charset="-122"/>
                <a:cs typeface="Arial" pitchFamily="34" charset="-120"/>
              </a:rPr>
              <a:t>587.4 م</a:t>
            </a:r>
            <a:endParaRPr lang="en-US" sz="2600" dirty="0"/>
          </a:p>
        </p:txBody>
      </p:sp>
      <p:sp>
        <p:nvSpPr>
          <p:cNvPr id="6" name="Text 3"/>
          <p:cNvSpPr txBox="1"/>
          <p:nvPr/>
        </p:nvSpPr>
        <p:spPr>
          <a:xfrm>
            <a:off x="9258071" y="2002536"/>
            <a:ext cx="2202104" cy="365760"/>
          </a:xfrm>
          <a:prstGeom prst="rect">
            <a:avLst/>
          </a:prstGeom>
          <a:noFill/>
          <a:ln/>
        </p:spPr>
        <p:txBody>
          <a:bodyPr wrap="square" lIns="0" tIns="0" rIns="0" bIns="0" rtlCol="0" anchor="ctr"/>
          <a:lstStyle/>
          <a:p>
            <a:pPr rtl="1" algn="r" indent="0" marL="0">
              <a:buNone/>
            </a:pPr>
            <a:r>
              <a:rPr lang="en-US" sz="1200" dirty="0">
                <a:solidFill>
                  <a:srgbClr val="E8E2DA"/>
                </a:solidFill>
                <a:latin typeface="Arial" pitchFamily="34" charset="0"/>
                <a:ea typeface="Arial" pitchFamily="34" charset="-122"/>
                <a:cs typeface="Arial" pitchFamily="34" charset="-120"/>
              </a:rPr>
              <a:t>إجمالي الإيرادات (ريال)</a:t>
            </a:r>
            <a:endParaRPr lang="en-US" sz="1200" dirty="0"/>
          </a:p>
        </p:txBody>
      </p:sp>
      <p:sp>
        <p:nvSpPr>
          <p:cNvPr id="7" name="Shape 4"/>
          <p:cNvSpPr/>
          <p:nvPr/>
        </p:nvSpPr>
        <p:spPr>
          <a:xfrm>
            <a:off x="6233008" y="1325880"/>
            <a:ext cx="2567864" cy="1143000"/>
          </a:xfrm>
          <a:prstGeom prst="rect">
            <a:avLst/>
          </a:prstGeom>
          <a:solidFill>
            <a:srgbClr val="F6F3EE"/>
          </a:solidFill>
          <a:ln w="12700">
            <a:solidFill>
              <a:srgbClr val="F6F3EE"/>
            </a:solidFill>
            <a:prstDash val="solid"/>
          </a:ln>
        </p:spPr>
      </p:sp>
      <p:sp>
        <p:nvSpPr>
          <p:cNvPr id="8" name="Text 5"/>
          <p:cNvSpPr txBox="1"/>
          <p:nvPr/>
        </p:nvSpPr>
        <p:spPr>
          <a:xfrm>
            <a:off x="6415888" y="1435608"/>
            <a:ext cx="2202104" cy="566928"/>
          </a:xfrm>
          <a:prstGeom prst="rect">
            <a:avLst/>
          </a:prstGeom>
          <a:noFill/>
          <a:ln/>
        </p:spPr>
        <p:txBody>
          <a:bodyPr wrap="square" lIns="0" tIns="0" rIns="0" bIns="0" rtlCol="0" anchor="ctr"/>
          <a:lstStyle/>
          <a:p>
            <a:pPr rtl="1" algn="r" indent="0" marL="0">
              <a:buNone/>
            </a:pPr>
            <a:r>
              <a:rPr lang="en-US" sz="2600" b="1" dirty="0">
                <a:solidFill>
                  <a:srgbClr val="C69A45"/>
                </a:solidFill>
                <a:latin typeface="Arial" pitchFamily="34" charset="0"/>
                <a:ea typeface="Arial" pitchFamily="34" charset="-122"/>
                <a:cs typeface="Arial" pitchFamily="34" charset="-120"/>
              </a:rPr>
              <a:t>452.5 م</a:t>
            </a:r>
            <a:endParaRPr lang="en-US" sz="2600" dirty="0"/>
          </a:p>
        </p:txBody>
      </p:sp>
      <p:sp>
        <p:nvSpPr>
          <p:cNvPr id="9" name="Text 6"/>
          <p:cNvSpPr txBox="1"/>
          <p:nvPr/>
        </p:nvSpPr>
        <p:spPr>
          <a:xfrm>
            <a:off x="6415888" y="2002536"/>
            <a:ext cx="2202104" cy="365760"/>
          </a:xfrm>
          <a:prstGeom prst="rect">
            <a:avLst/>
          </a:prstGeom>
          <a:noFill/>
          <a:ln/>
        </p:spPr>
        <p:txBody>
          <a:bodyPr wrap="square" lIns="0" tIns="0" rIns="0" bIns="0" rtlCol="0" anchor="ctr"/>
          <a:lstStyle/>
          <a:p>
            <a:pPr rtl="1" algn="r" indent="0" marL="0">
              <a:buNone/>
            </a:pPr>
            <a:r>
              <a:rPr lang="en-US" sz="1200" dirty="0">
                <a:solidFill>
                  <a:srgbClr val="5C524C"/>
                </a:solidFill>
                <a:latin typeface="Arial" pitchFamily="34" charset="0"/>
                <a:ea typeface="Arial" pitchFamily="34" charset="-122"/>
                <a:cs typeface="Arial" pitchFamily="34" charset="-120"/>
              </a:rPr>
              <a:t>إجمالي تكلفة المشروع (ريال)</a:t>
            </a:r>
            <a:endParaRPr lang="en-US" sz="1200" dirty="0"/>
          </a:p>
        </p:txBody>
      </p:sp>
      <p:sp>
        <p:nvSpPr>
          <p:cNvPr id="10" name="Shape 7"/>
          <p:cNvSpPr/>
          <p:nvPr/>
        </p:nvSpPr>
        <p:spPr>
          <a:xfrm>
            <a:off x="3390824" y="1325880"/>
            <a:ext cx="2567864" cy="1143000"/>
          </a:xfrm>
          <a:prstGeom prst="rect">
            <a:avLst/>
          </a:prstGeom>
          <a:solidFill>
            <a:srgbClr val="F6F3EE"/>
          </a:solidFill>
          <a:ln w="12700">
            <a:solidFill>
              <a:srgbClr val="F6F3EE"/>
            </a:solidFill>
            <a:prstDash val="solid"/>
          </a:ln>
        </p:spPr>
      </p:sp>
      <p:sp>
        <p:nvSpPr>
          <p:cNvPr id="11" name="Text 8"/>
          <p:cNvSpPr txBox="1"/>
          <p:nvPr/>
        </p:nvSpPr>
        <p:spPr>
          <a:xfrm>
            <a:off x="3573704" y="1435608"/>
            <a:ext cx="2202104" cy="566928"/>
          </a:xfrm>
          <a:prstGeom prst="rect">
            <a:avLst/>
          </a:prstGeom>
          <a:noFill/>
          <a:ln/>
        </p:spPr>
        <p:txBody>
          <a:bodyPr wrap="square" lIns="0" tIns="0" rIns="0" bIns="0" rtlCol="0" anchor="ctr"/>
          <a:lstStyle/>
          <a:p>
            <a:pPr rtl="1" algn="r" indent="0" marL="0">
              <a:buNone/>
            </a:pPr>
            <a:r>
              <a:rPr lang="en-US" sz="2600" b="1" dirty="0">
                <a:solidFill>
                  <a:srgbClr val="C69A45"/>
                </a:solidFill>
                <a:latin typeface="Arial" pitchFamily="34" charset="0"/>
                <a:ea typeface="Arial" pitchFamily="34" charset="-122"/>
                <a:cs typeface="Arial" pitchFamily="34" charset="-120"/>
              </a:rPr>
              <a:t>168.5 م</a:t>
            </a:r>
            <a:endParaRPr lang="en-US" sz="2600" dirty="0"/>
          </a:p>
        </p:txBody>
      </p:sp>
      <p:sp>
        <p:nvSpPr>
          <p:cNvPr id="12" name="Text 9"/>
          <p:cNvSpPr txBox="1"/>
          <p:nvPr/>
        </p:nvSpPr>
        <p:spPr>
          <a:xfrm>
            <a:off x="3573704" y="2002536"/>
            <a:ext cx="2202104" cy="365760"/>
          </a:xfrm>
          <a:prstGeom prst="rect">
            <a:avLst/>
          </a:prstGeom>
          <a:noFill/>
          <a:ln/>
        </p:spPr>
        <p:txBody>
          <a:bodyPr wrap="square" lIns="0" tIns="0" rIns="0" bIns="0" rtlCol="0" anchor="ctr"/>
          <a:lstStyle/>
          <a:p>
            <a:pPr rtl="1" algn="r" indent="0" marL="0">
              <a:buNone/>
            </a:pPr>
            <a:r>
              <a:rPr lang="en-US" sz="1200" dirty="0">
                <a:solidFill>
                  <a:srgbClr val="5C524C"/>
                </a:solidFill>
                <a:latin typeface="Arial" pitchFamily="34" charset="0"/>
                <a:ea typeface="Arial" pitchFamily="34" charset="-122"/>
                <a:cs typeface="Arial" pitchFamily="34" charset="-120"/>
              </a:rPr>
              <a:t>رأس مال المساهمين (ريال)</a:t>
            </a:r>
            <a:endParaRPr lang="en-US" sz="1200" dirty="0"/>
          </a:p>
        </p:txBody>
      </p:sp>
      <p:sp>
        <p:nvSpPr>
          <p:cNvPr id="13" name="Shape 10"/>
          <p:cNvSpPr/>
          <p:nvPr/>
        </p:nvSpPr>
        <p:spPr>
          <a:xfrm>
            <a:off x="548640" y="1325880"/>
            <a:ext cx="2567864" cy="1143000"/>
          </a:xfrm>
          <a:prstGeom prst="rect">
            <a:avLst/>
          </a:prstGeom>
          <a:solidFill>
            <a:srgbClr val="2B2522"/>
          </a:solidFill>
          <a:ln w="12700">
            <a:solidFill>
              <a:srgbClr val="2B2522"/>
            </a:solidFill>
            <a:prstDash val="solid"/>
          </a:ln>
        </p:spPr>
      </p:sp>
      <p:sp>
        <p:nvSpPr>
          <p:cNvPr id="14" name="Text 11"/>
          <p:cNvSpPr txBox="1"/>
          <p:nvPr/>
        </p:nvSpPr>
        <p:spPr>
          <a:xfrm>
            <a:off x="731520" y="1435608"/>
            <a:ext cx="2202104" cy="566928"/>
          </a:xfrm>
          <a:prstGeom prst="rect">
            <a:avLst/>
          </a:prstGeom>
          <a:noFill/>
          <a:ln/>
        </p:spPr>
        <p:txBody>
          <a:bodyPr wrap="square" lIns="0" tIns="0" rIns="0" bIns="0" rtlCol="0" anchor="ctr"/>
          <a:lstStyle/>
          <a:p>
            <a:pPr rtl="1" algn="r" indent="0" marL="0">
              <a:buNone/>
            </a:pPr>
            <a:r>
              <a:rPr lang="en-US" sz="2600" b="1" dirty="0">
                <a:solidFill>
                  <a:srgbClr val="C69A45"/>
                </a:solidFill>
                <a:latin typeface="Arial" pitchFamily="34" charset="0"/>
                <a:ea typeface="Arial" pitchFamily="34" charset="-122"/>
                <a:cs typeface="Arial" pitchFamily="34" charset="-120"/>
              </a:rPr>
              <a:t>88.7 م</a:t>
            </a:r>
            <a:endParaRPr lang="en-US" sz="2600" dirty="0"/>
          </a:p>
        </p:txBody>
      </p:sp>
      <p:sp>
        <p:nvSpPr>
          <p:cNvPr id="15" name="Text 12"/>
          <p:cNvSpPr txBox="1"/>
          <p:nvPr/>
        </p:nvSpPr>
        <p:spPr>
          <a:xfrm>
            <a:off x="731520" y="2002536"/>
            <a:ext cx="2202104" cy="365760"/>
          </a:xfrm>
          <a:prstGeom prst="rect">
            <a:avLst/>
          </a:prstGeom>
          <a:noFill/>
          <a:ln/>
        </p:spPr>
        <p:txBody>
          <a:bodyPr wrap="square" lIns="0" tIns="0" rIns="0" bIns="0" rtlCol="0" anchor="ctr"/>
          <a:lstStyle/>
          <a:p>
            <a:pPr rtl="1" algn="r" indent="0" marL="0">
              <a:buNone/>
            </a:pPr>
            <a:r>
              <a:rPr lang="en-US" sz="1200" dirty="0">
                <a:solidFill>
                  <a:srgbClr val="E8E2DA"/>
                </a:solidFill>
                <a:latin typeface="Arial" pitchFamily="34" charset="0"/>
                <a:ea typeface="Arial" pitchFamily="34" charset="-122"/>
                <a:cs typeface="Arial" pitchFamily="34" charset="-120"/>
              </a:rPr>
              <a:t>صافي ربح الصندوق (ريال)</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2743200"/>
          <a:ext cx="5973775" cy="914400"/>
        </p:xfrm>
        <a:graphic>
          <a:graphicData uri="http://schemas.openxmlformats.org/drawingml/2006/table">
            <a:tbl>
              <a:tblPr/>
              <a:tblGrid>
                <a:gridCol w="1737360"/>
                <a:gridCol w="4236415"/>
              </a:tblGrid>
              <a:tr h="35204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القيمة</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مؤشرات الربحية للمساهمين</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r>
              <a:tr h="352044">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105,275,175</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200" dirty="0">
                          <a:solidFill>
                            <a:srgbClr val="2B2522"/>
                          </a:solidFill>
                          <a:latin typeface="Arial" pitchFamily="34" charset="0"/>
                          <a:ea typeface="Arial" pitchFamily="34" charset="-122"/>
                          <a:cs typeface="Arial" pitchFamily="34" charset="-120"/>
                        </a:rPr>
                        <a:t>صافي التدفق النقدي قبل حافز الأداء</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52044">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12.9%</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200" dirty="0">
                          <a:solidFill>
                            <a:srgbClr val="2B2522"/>
                          </a:solidFill>
                          <a:latin typeface="Arial" pitchFamily="34" charset="0"/>
                          <a:ea typeface="Arial" pitchFamily="34" charset="-122"/>
                          <a:cs typeface="Arial" pitchFamily="34" charset="-120"/>
                        </a:rPr>
                        <a:t>معدل العائد الداخلي قبل حافز الأداء</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52044">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15.6%</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200" dirty="0">
                          <a:solidFill>
                            <a:srgbClr val="2B2522"/>
                          </a:solidFill>
                          <a:latin typeface="Arial" pitchFamily="34" charset="0"/>
                          <a:ea typeface="Arial" pitchFamily="34" charset="-122"/>
                          <a:cs typeface="Arial" pitchFamily="34" charset="-120"/>
                        </a:rPr>
                        <a:t>هامش الربح السنوي قبل حافز الأداء</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52044">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16,539,671</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200" dirty="0">
                          <a:solidFill>
                            <a:srgbClr val="2B2522"/>
                          </a:solidFill>
                          <a:latin typeface="Arial" pitchFamily="34" charset="0"/>
                          <a:ea typeface="Arial" pitchFamily="34" charset="-122"/>
                          <a:cs typeface="Arial" pitchFamily="34" charset="-120"/>
                        </a:rPr>
                        <a:t>حافز الأداء (30% من الفائض فوق عائد 10%)</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52044">
                <a:tc>
                  <a:txBody>
                    <a:bodyPr/>
                    <a:lstStyle/>
                    <a:p>
                      <a:pPr algn="ctr" indent="0" marL="0">
                        <a:buNone/>
                      </a:pPr>
                      <a:r>
                        <a:rPr lang="en-US" sz="1200" b="1" dirty="0">
                          <a:solidFill>
                            <a:srgbClr val="2B2522"/>
                          </a:solidFill>
                          <a:latin typeface="Arial" pitchFamily="34" charset="0"/>
                          <a:ea typeface="Arial" pitchFamily="34" charset="-122"/>
                          <a:cs typeface="Arial" pitchFamily="34" charset="-120"/>
                        </a:rPr>
                        <a:t>88,735,503</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r" indent="0" marL="0">
                        <a:buNone/>
                      </a:pPr>
                      <a:r>
                        <a:rPr lang="en-US" sz="1200" b="1" dirty="0">
                          <a:solidFill>
                            <a:srgbClr val="2B2522"/>
                          </a:solidFill>
                          <a:latin typeface="Arial" pitchFamily="34" charset="0"/>
                          <a:ea typeface="Arial" pitchFamily="34" charset="-122"/>
                          <a:cs typeface="Arial" pitchFamily="34" charset="-120"/>
                        </a:rPr>
                        <a:t>صافي ربح الصندوق بعد حافز الأداء</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r>
              <a:tr h="352044">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52.7%</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200" dirty="0">
                          <a:solidFill>
                            <a:srgbClr val="2B2522"/>
                          </a:solidFill>
                          <a:latin typeface="Arial" pitchFamily="34" charset="0"/>
                          <a:ea typeface="Arial" pitchFamily="34" charset="-122"/>
                          <a:cs typeface="Arial" pitchFamily="34" charset="-120"/>
                        </a:rPr>
                        <a:t>هامش الربح الكلي</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52044">
                <a:tc>
                  <a:txBody>
                    <a:bodyPr/>
                    <a:lstStyle/>
                    <a:p>
                      <a:pPr algn="ctr" indent="0" marL="0">
                        <a:buNone/>
                      </a:pPr>
                      <a:r>
                        <a:rPr lang="en-US" sz="1200" b="1" dirty="0">
                          <a:solidFill>
                            <a:srgbClr val="2B2522"/>
                          </a:solidFill>
                          <a:latin typeface="Arial" pitchFamily="34" charset="0"/>
                          <a:ea typeface="Arial" pitchFamily="34" charset="-122"/>
                          <a:cs typeface="Arial" pitchFamily="34" charset="-120"/>
                        </a:rPr>
                        <a:t>13.2%</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r" indent="0" marL="0">
                        <a:buNone/>
                      </a:pPr>
                      <a:r>
                        <a:rPr lang="en-US" sz="1200" b="1" dirty="0">
                          <a:solidFill>
                            <a:srgbClr val="2B2522"/>
                          </a:solidFill>
                          <a:latin typeface="Arial" pitchFamily="34" charset="0"/>
                          <a:ea typeface="Arial" pitchFamily="34" charset="-122"/>
                          <a:cs typeface="Arial" pitchFamily="34" charset="-120"/>
                        </a:rPr>
                        <a:t>هامش الربح السنوي بعد حافز الأداء</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r>
              <a:tr h="352044">
                <a:tc>
                  <a:txBody>
                    <a:bodyPr/>
                    <a:lstStyle/>
                    <a:p>
                      <a:pPr algn="ctr" indent="0" marL="0">
                        <a:buNone/>
                      </a:pPr>
                      <a:r>
                        <a:rPr lang="en-US" sz="1200" b="1" dirty="0">
                          <a:solidFill>
                            <a:srgbClr val="2B2522"/>
                          </a:solidFill>
                          <a:latin typeface="Arial" pitchFamily="34" charset="0"/>
                          <a:ea typeface="Arial" pitchFamily="34" charset="-122"/>
                          <a:cs typeface="Arial" pitchFamily="34" charset="-120"/>
                        </a:rPr>
                        <a:t>11.2%</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r" indent="0" marL="0">
                        <a:buNone/>
                      </a:pPr>
                      <a:r>
                        <a:rPr lang="en-US" sz="1200" b="1" dirty="0">
                          <a:solidFill>
                            <a:srgbClr val="2B2522"/>
                          </a:solidFill>
                          <a:latin typeface="Arial" pitchFamily="34" charset="0"/>
                          <a:ea typeface="Arial" pitchFamily="34" charset="-122"/>
                          <a:cs typeface="Arial" pitchFamily="34" charset="-120"/>
                        </a:rPr>
                        <a:t>معدل العائد الداخلي بعد حافز الأداء</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r>
              <a:tr h="352044">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200" dirty="0">
                          <a:solidFill>
                            <a:srgbClr val="2B2522"/>
                          </a:solidFill>
                          <a:latin typeface="Arial" pitchFamily="34" charset="0"/>
                          <a:ea typeface="Arial" pitchFamily="34" charset="-122"/>
                          <a:cs typeface="Arial" pitchFamily="34" charset="-120"/>
                        </a:rPr>
                        <a:t>مدة المشروع (سنوات)</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548640" y="2743200"/>
          <a:ext cx="4754880" cy="914400"/>
        </p:xfrm>
        <a:graphic>
          <a:graphicData uri="http://schemas.openxmlformats.org/drawingml/2006/table">
            <a:tbl>
              <a:tblPr/>
              <a:tblGrid>
                <a:gridCol w="1554480"/>
                <a:gridCol w="3200400"/>
              </a:tblGrid>
              <a:tr h="35204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المبلغ (ريال)</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عوائد المطور - حَصِير</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2B2522"/>
                    </a:solidFill>
                  </a:tcPr>
                </a:tc>
              </a:tr>
              <a:tr h="352044">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34,240,528</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200" dirty="0">
                          <a:solidFill>
                            <a:srgbClr val="2B2522"/>
                          </a:solidFill>
                          <a:latin typeface="Arial" pitchFamily="34" charset="0"/>
                          <a:ea typeface="Arial" pitchFamily="34" charset="-122"/>
                          <a:cs typeface="Arial" pitchFamily="34" charset="-120"/>
                        </a:rPr>
                        <a:t>أتعاب التطوير (15% من التكاليف المباشرة)</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52044">
                <a:tc>
                  <a:txBody>
                    <a:bodyPr/>
                    <a:lstStyle/>
                    <a:p>
                      <a:pPr algn="ctr" indent="0" marL="0">
                        <a:buNone/>
                      </a:pPr>
                      <a:r>
                        <a:rPr lang="en-US" sz="1200" dirty="0">
                          <a:solidFill>
                            <a:srgbClr val="5C524C"/>
                          </a:solidFill>
                          <a:latin typeface="Arial" pitchFamily="34" charset="0"/>
                          <a:ea typeface="Arial" pitchFamily="34" charset="-122"/>
                          <a:cs typeface="Arial" pitchFamily="34" charset="-120"/>
                        </a:rPr>
                        <a:t>16,539,671</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c>
                  <a:txBody>
                    <a:bodyPr/>
                    <a:lstStyle/>
                    <a:p>
                      <a:pPr algn="r" indent="0" marL="0">
                        <a:buNone/>
                      </a:pPr>
                      <a:r>
                        <a:rPr lang="en-US" sz="1200" dirty="0">
                          <a:solidFill>
                            <a:srgbClr val="2B2522"/>
                          </a:solidFill>
                          <a:latin typeface="Arial" pitchFamily="34" charset="0"/>
                          <a:ea typeface="Arial" pitchFamily="34" charset="-122"/>
                          <a:cs typeface="Arial" pitchFamily="34" charset="-120"/>
                        </a:rPr>
                        <a:t>حافز الأداء</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tcPr>
                </a:tc>
              </a:tr>
              <a:tr h="352044">
                <a:tc>
                  <a:txBody>
                    <a:bodyPr/>
                    <a:lstStyle/>
                    <a:p>
                      <a:pPr algn="ctr" indent="0" marL="0">
                        <a:buNone/>
                      </a:pPr>
                      <a:r>
                        <a:rPr lang="en-US" sz="1200" b="1" dirty="0">
                          <a:solidFill>
                            <a:srgbClr val="2B2522"/>
                          </a:solidFill>
                          <a:latin typeface="Arial" pitchFamily="34" charset="0"/>
                          <a:ea typeface="Arial" pitchFamily="34" charset="-122"/>
                          <a:cs typeface="Arial" pitchFamily="34" charset="-120"/>
                        </a:rPr>
                        <a:t>50,780,199</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c>
                  <a:txBody>
                    <a:bodyPr/>
                    <a:lstStyle/>
                    <a:p>
                      <a:pPr algn="r" indent="0" marL="0">
                        <a:buNone/>
                      </a:pPr>
                      <a:r>
                        <a:rPr lang="en-US" sz="1200" b="1" dirty="0">
                          <a:solidFill>
                            <a:srgbClr val="2B2522"/>
                          </a:solidFill>
                          <a:latin typeface="Arial" pitchFamily="34" charset="0"/>
                          <a:ea typeface="Arial" pitchFamily="34" charset="-122"/>
                          <a:cs typeface="Arial" pitchFamily="34" charset="-120"/>
                        </a:rPr>
                        <a:t>إجمالي عوائد المطور</a:t>
                      </a:r>
                      <a:endParaRPr lang="en-US" sz="1200" dirty="0">
                        <a:latin typeface="Arial" charset="0"/>
                        <a:ea typeface="Arial" charset="0"/>
                        <a:cs typeface="Arial" charset="0"/>
                      </a:endParaRPr>
                    </a:p>
                  </a:txBody>
                  <a:tcPr marL="73152" marR="73152" marT="27432" marB="27432" anchor="ctr">
                    <a:lnL w="6350" cap="flat" cmpd="sng" algn="ctr">
                      <a:solidFill>
                        <a:srgbClr val="E4DED6"/>
                      </a:solidFill>
                      <a:prstDash val="solid"/>
                      <a:round/>
                      <a:headEnd type="none" w="med" len="med"/>
                      <a:tailEnd type="none" w="med" len="med"/>
                    </a:lnL>
                    <a:lnR w="6350" cap="flat" cmpd="sng" algn="ctr">
                      <a:solidFill>
                        <a:srgbClr val="E4DED6"/>
                      </a:solidFill>
                      <a:prstDash val="solid"/>
                      <a:round/>
                      <a:headEnd type="none" w="med" len="med"/>
                      <a:tailEnd type="none" w="med" len="med"/>
                    </a:lnR>
                    <a:lnT w="6350" cap="flat" cmpd="sng" algn="ctr">
                      <a:solidFill>
                        <a:srgbClr val="E4DED6"/>
                      </a:solidFill>
                      <a:prstDash val="solid"/>
                      <a:round/>
                      <a:headEnd type="none" w="med" len="med"/>
                      <a:tailEnd type="none" w="med" len="med"/>
                    </a:lnT>
                    <a:lnB w="6350" cap="flat" cmpd="sng" algn="ctr">
                      <a:solidFill>
                        <a:srgbClr val="E4DED6"/>
                      </a:solidFill>
                      <a:prstDash val="solid"/>
                      <a:round/>
                      <a:headEnd type="none" w="med" len="med"/>
                      <a:tailEnd type="none" w="med" len="med"/>
                    </a:lnB>
                    <a:solidFill>
                      <a:srgbClr val="EFE6D4"/>
                    </a:solidFill>
                  </a:tcPr>
                </a:tc>
              </a:tr>
            </a:tbl>
          </a:graphicData>
        </a:graphic>
      </p:graphicFrame>
      <p:sp>
        <p:nvSpPr>
          <p:cNvPr id="18" name="Shape 13"/>
          <p:cNvSpPr/>
          <p:nvPr/>
        </p:nvSpPr>
        <p:spPr>
          <a:xfrm>
            <a:off x="548640" y="4434840"/>
            <a:ext cx="4754880" cy="1828800"/>
          </a:xfrm>
          <a:prstGeom prst="rect">
            <a:avLst/>
          </a:prstGeom>
          <a:solidFill>
            <a:srgbClr val="2B2522"/>
          </a:solidFill>
          <a:ln w="12700">
            <a:solidFill>
              <a:srgbClr val="2B2522"/>
            </a:solidFill>
            <a:prstDash val="solid"/>
          </a:ln>
        </p:spPr>
      </p:sp>
      <p:sp>
        <p:nvSpPr>
          <p:cNvPr id="19" name="Text 14"/>
          <p:cNvSpPr txBox="1"/>
          <p:nvPr/>
        </p:nvSpPr>
        <p:spPr>
          <a:xfrm>
            <a:off x="777240" y="4526280"/>
            <a:ext cx="4297680" cy="1645920"/>
          </a:xfrm>
          <a:prstGeom prst="rect">
            <a:avLst/>
          </a:prstGeom>
          <a:noFill/>
          <a:ln/>
        </p:spPr>
        <p:txBody>
          <a:bodyPr wrap="square" lIns="0" tIns="0" rIns="0" bIns="0" rtlCol="0" anchor="ctr"/>
          <a:lstStyle/>
          <a:p>
            <a:pPr algn="r" indent="0" marL="0">
              <a:lnSpc>
                <a:spcPct val="115000"/>
              </a:lnSpc>
              <a:buNone/>
            </a:pPr>
            <a:r>
              <a:rPr lang="en-US" sz="1500" b="1" dirty="0">
                <a:solidFill>
                  <a:srgbClr val="C69A45"/>
                </a:solidFill>
                <a:latin typeface="Arial" pitchFamily="34" charset="0"/>
                <a:ea typeface="Arial" pitchFamily="34" charset="-122"/>
                <a:cs typeface="Arial" pitchFamily="34" charset="-120"/>
              </a:rPr>
              <a:t>توزيع العائد</a:t>
            </a:r>
            <a:endParaRPr lang="en-US" sz="1500" dirty="0"/>
          </a:p>
          <a:p>
            <a:pPr algn="r" indent="0" marL="0">
              <a:lnSpc>
                <a:spcPct val="115000"/>
              </a:lnSpc>
              <a:buNone/>
            </a:pPr>
            <a:r>
              <a:rPr lang="en-US" sz="1250" dirty="0">
                <a:solidFill>
                  <a:srgbClr val="FFFFFF"/>
                </a:solidFill>
                <a:latin typeface="Arial" pitchFamily="34" charset="0"/>
                <a:ea typeface="Arial" pitchFamily="34" charset="-122"/>
                <a:cs typeface="Arial" pitchFamily="34" charset="-120"/>
              </a:rPr>
              <a:t>يحصل المساهمون على كامل التدفق حتى عائد داخلي مستهدف 10%، ويوزع الفائض بعد ذلك بنسبة 70% للمساهمين و30% للمطور كحافز أداء.</a:t>
            </a:r>
            <a:endParaRPr lang="en-US" sz="1500" dirty="0"/>
          </a:p>
        </p:txBody>
      </p:sp>
      <p:sp>
        <p:nvSpPr>
          <p:cNvPr id="20" name="Text 15"/>
          <p:cNvSpPr txBox="1"/>
          <p:nvPr/>
        </p:nvSpPr>
        <p:spPr>
          <a:xfrm>
            <a:off x="548640" y="6473952"/>
            <a:ext cx="3657600" cy="228600"/>
          </a:xfrm>
          <a:prstGeom prst="rect">
            <a:avLst/>
          </a:prstGeom>
          <a:noFill/>
          <a:ln/>
        </p:spPr>
        <p:txBody>
          <a:bodyPr wrap="square" lIns="0" tIns="0" rIns="0" bIns="0" rtlCol="0" anchor="ctr"/>
          <a:lstStyle/>
          <a:p>
            <a:pPr rtl="1" algn="l" indent="0" marL="0">
              <a:buNone/>
            </a:pPr>
            <a:r>
              <a:rPr lang="en-US" sz="900" dirty="0">
                <a:solidFill>
                  <a:srgbClr val="8A807A"/>
                </a:solidFill>
                <a:latin typeface="Arial" pitchFamily="34" charset="0"/>
                <a:ea typeface="Arial" pitchFamily="34" charset="-122"/>
                <a:cs typeface="Arial" pitchFamily="34" charset="-120"/>
              </a:rPr>
              <a:t>مشروع أرض العليا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0" y="384048"/>
            <a:ext cx="8442655" cy="640080"/>
          </a:xfrm>
          <a:prstGeom prst="rect">
            <a:avLst/>
          </a:prstGeom>
          <a:noFill/>
          <a:ln/>
        </p:spPr>
        <p:txBody>
          <a:bodyPr wrap="square" lIns="0" tIns="0" rIns="0" bIns="0" rtlCol="0" anchor="ctr"/>
          <a:lstStyle/>
          <a:p>
            <a:pPr rtl="1" algn="r" indent="0" marL="0">
              <a:buNone/>
            </a:pPr>
            <a:r>
              <a:rPr lang="en-US" sz="3000" b="1" dirty="0">
                <a:solidFill>
                  <a:srgbClr val="2B2522"/>
                </a:solidFill>
                <a:latin typeface="Arial" pitchFamily="34" charset="0"/>
                <a:ea typeface="Arial" pitchFamily="34" charset="-122"/>
                <a:cs typeface="Arial" pitchFamily="34" charset="-120"/>
              </a:rPr>
              <a:t>من مشاريع حَصِير</a:t>
            </a:r>
            <a:endParaRPr lang="en-US" sz="3000" dirty="0"/>
          </a:p>
        </p:txBody>
      </p:sp>
      <p:sp>
        <p:nvSpPr>
          <p:cNvPr id="3" name="Text 1"/>
          <p:cNvSpPr txBox="1"/>
          <p:nvPr/>
        </p:nvSpPr>
        <p:spPr>
          <a:xfrm>
            <a:off x="3200400" y="987552"/>
            <a:ext cx="8442655" cy="365760"/>
          </a:xfrm>
          <a:prstGeom prst="rect">
            <a:avLst/>
          </a:prstGeom>
          <a:noFill/>
          <a:ln/>
        </p:spPr>
        <p:txBody>
          <a:bodyPr wrap="square" lIns="0" tIns="0" rIns="0" bIns="0" rtlCol="0" anchor="ctr"/>
          <a:lstStyle/>
          <a:p>
            <a:pPr rtl="1" algn="r" indent="0" marL="0">
              <a:buNone/>
            </a:pPr>
            <a:r>
              <a:rPr lang="en-US" sz="1400" dirty="0">
                <a:solidFill>
                  <a:srgbClr val="8A807A"/>
                </a:solidFill>
                <a:latin typeface="Arial" pitchFamily="34" charset="0"/>
                <a:ea typeface="Arial" pitchFamily="34" charset="-122"/>
                <a:cs typeface="Arial" pitchFamily="34" charset="-120"/>
              </a:rPr>
              <a:t>246 وحدة سكنية منفذة في أحياء الرياض</a:t>
            </a:r>
            <a:endParaRPr lang="en-US" sz="1400" dirty="0"/>
          </a:p>
        </p:txBody>
      </p:sp>
      <p:pic>
        <p:nvPicPr>
          <p:cNvPr id="4" name="Image 0" descr="/tmp/claude-0/-home-user-wagdy/f24981f4-70a0-5320-9840-62400667b25b/scratchpad/logo_dark.png">    </p:cNvPr>
          <p:cNvPicPr>
            <a:picLocks noChangeAspect="1"/>
          </p:cNvPicPr>
          <p:nvPr/>
        </p:nvPicPr>
        <p:blipFill>
          <a:blip r:embed="rId1"/>
          <a:stretch>
            <a:fillRect/>
          </a:stretch>
        </p:blipFill>
        <p:spPr>
          <a:xfrm>
            <a:off x="548640" y="457200"/>
            <a:ext cx="1206444" cy="457200"/>
          </a:xfrm>
          <a:prstGeom prst="rect">
            <a:avLst/>
          </a:prstGeom>
        </p:spPr>
      </p:pic>
      <p:pic>
        <p:nvPicPr>
          <p:cNvPr id="5" name="Image 1" descr="/tmp/claude-0/-home-user-wagdy/f24981f4-70a0-5320-9840-62400667b25b/scratchpad/a/p020.jpg">    </p:cNvPr>
          <p:cNvPicPr>
            <a:picLocks noChangeAspect="1"/>
          </p:cNvPicPr>
          <p:nvPr/>
        </p:nvPicPr>
        <p:blipFill>
          <a:blip r:embed="rId2"/>
          <a:srcRect l="0" r="0" t="0" b="0"/>
          <a:stretch/>
        </p:blipFill>
        <p:spPr>
          <a:xfrm>
            <a:off x="8127797" y="1508760"/>
            <a:ext cx="3515258" cy="1965960"/>
          </a:xfrm>
          <a:prstGeom prst="rect">
            <a:avLst/>
          </a:prstGeom>
        </p:spPr>
      </p:pic>
      <p:sp>
        <p:nvSpPr>
          <p:cNvPr id="6" name="Text 2"/>
          <p:cNvSpPr txBox="1"/>
          <p:nvPr/>
        </p:nvSpPr>
        <p:spPr>
          <a:xfrm>
            <a:off x="9225077" y="3529584"/>
            <a:ext cx="2417978" cy="347472"/>
          </a:xfrm>
          <a:prstGeom prst="rect">
            <a:avLst/>
          </a:prstGeom>
          <a:noFill/>
          <a:ln/>
        </p:spPr>
        <p:txBody>
          <a:bodyPr wrap="square" lIns="0" tIns="0" rIns="0" bIns="0" rtlCol="0" anchor="ctr"/>
          <a:lstStyle/>
          <a:p>
            <a:pPr rtl="1" algn="r" indent="0" marL="0">
              <a:buNone/>
            </a:pPr>
            <a:r>
              <a:rPr lang="en-US" sz="1300" b="1" dirty="0">
                <a:solidFill>
                  <a:srgbClr val="2B2522"/>
                </a:solidFill>
                <a:latin typeface="Arial" pitchFamily="34" charset="0"/>
                <a:ea typeface="Arial" pitchFamily="34" charset="-122"/>
                <a:cs typeface="Arial" pitchFamily="34" charset="-120"/>
              </a:rPr>
              <a:t>حَصِير ريزدنس 1 - حي القيروان</a:t>
            </a:r>
            <a:endParaRPr lang="en-US" sz="1300" dirty="0"/>
          </a:p>
        </p:txBody>
      </p:sp>
      <p:sp>
        <p:nvSpPr>
          <p:cNvPr id="7" name="Text 3"/>
          <p:cNvSpPr txBox="1"/>
          <p:nvPr/>
        </p:nvSpPr>
        <p:spPr>
          <a:xfrm>
            <a:off x="8127797" y="3529584"/>
            <a:ext cx="1051560" cy="347472"/>
          </a:xfrm>
          <a:prstGeom prst="rect">
            <a:avLst/>
          </a:prstGeom>
          <a:noFill/>
          <a:ln/>
        </p:spPr>
        <p:txBody>
          <a:bodyPr wrap="square" lIns="0" tIns="0" rIns="0" bIns="0" rtlCol="0" anchor="ctr"/>
          <a:lstStyle/>
          <a:p>
            <a:pPr rtl="1" algn="l" indent="0" marL="0">
              <a:buNone/>
            </a:pPr>
            <a:r>
              <a:rPr lang="en-US" sz="1300" b="1" dirty="0">
                <a:solidFill>
                  <a:srgbClr val="C69A45"/>
                </a:solidFill>
                <a:latin typeface="Arial" pitchFamily="34" charset="0"/>
                <a:ea typeface="Arial" pitchFamily="34" charset="-122"/>
                <a:cs typeface="Arial" pitchFamily="34" charset="-120"/>
              </a:rPr>
              <a:t>31 شقة</a:t>
            </a:r>
            <a:endParaRPr lang="en-US" sz="1300" dirty="0"/>
          </a:p>
        </p:txBody>
      </p:sp>
      <p:pic>
        <p:nvPicPr>
          <p:cNvPr id="8" name="Image 2" descr="/tmp/claude-0/-home-user-wagdy/f24981f4-70a0-5320-9840-62400667b25b/scratchpad/a/p014.jpg">    </p:cNvPr>
          <p:cNvPicPr>
            <a:picLocks noChangeAspect="1"/>
          </p:cNvPicPr>
          <p:nvPr/>
        </p:nvPicPr>
        <p:blipFill>
          <a:blip r:embed="rId3"/>
          <a:srcRect l="0" r="0" t="0" b="0"/>
          <a:stretch/>
        </p:blipFill>
        <p:spPr>
          <a:xfrm>
            <a:off x="4338218" y="1508760"/>
            <a:ext cx="3515258" cy="1965960"/>
          </a:xfrm>
          <a:prstGeom prst="rect">
            <a:avLst/>
          </a:prstGeom>
        </p:spPr>
      </p:pic>
      <p:sp>
        <p:nvSpPr>
          <p:cNvPr id="9" name="Text 4"/>
          <p:cNvSpPr txBox="1"/>
          <p:nvPr/>
        </p:nvSpPr>
        <p:spPr>
          <a:xfrm>
            <a:off x="5435498" y="3529584"/>
            <a:ext cx="2417978" cy="347472"/>
          </a:xfrm>
          <a:prstGeom prst="rect">
            <a:avLst/>
          </a:prstGeom>
          <a:noFill/>
          <a:ln/>
        </p:spPr>
        <p:txBody>
          <a:bodyPr wrap="square" lIns="0" tIns="0" rIns="0" bIns="0" rtlCol="0" anchor="ctr"/>
          <a:lstStyle/>
          <a:p>
            <a:pPr rtl="1" algn="r" indent="0" marL="0">
              <a:buNone/>
            </a:pPr>
            <a:r>
              <a:rPr lang="en-US" sz="1300" b="1" dirty="0">
                <a:solidFill>
                  <a:srgbClr val="2B2522"/>
                </a:solidFill>
                <a:latin typeface="Arial" pitchFamily="34" charset="0"/>
                <a:ea typeface="Arial" pitchFamily="34" charset="-122"/>
                <a:cs typeface="Arial" pitchFamily="34" charset="-120"/>
              </a:rPr>
              <a:t>حَصِير ريزدنس 2 - حي القيروان</a:t>
            </a:r>
            <a:endParaRPr lang="en-US" sz="1300" dirty="0"/>
          </a:p>
        </p:txBody>
      </p:sp>
      <p:sp>
        <p:nvSpPr>
          <p:cNvPr id="10" name="Text 5"/>
          <p:cNvSpPr txBox="1"/>
          <p:nvPr/>
        </p:nvSpPr>
        <p:spPr>
          <a:xfrm>
            <a:off x="4338218" y="3529584"/>
            <a:ext cx="1051560" cy="347472"/>
          </a:xfrm>
          <a:prstGeom prst="rect">
            <a:avLst/>
          </a:prstGeom>
          <a:noFill/>
          <a:ln/>
        </p:spPr>
        <p:txBody>
          <a:bodyPr wrap="square" lIns="0" tIns="0" rIns="0" bIns="0" rtlCol="0" anchor="ctr"/>
          <a:lstStyle/>
          <a:p>
            <a:pPr rtl="1" algn="l" indent="0" marL="0">
              <a:buNone/>
            </a:pPr>
            <a:r>
              <a:rPr lang="en-US" sz="1300" b="1" dirty="0">
                <a:solidFill>
                  <a:srgbClr val="C69A45"/>
                </a:solidFill>
                <a:latin typeface="Arial" pitchFamily="34" charset="0"/>
                <a:ea typeface="Arial" pitchFamily="34" charset="-122"/>
                <a:cs typeface="Arial" pitchFamily="34" charset="-120"/>
              </a:rPr>
              <a:t>80 شقة</a:t>
            </a:r>
            <a:endParaRPr lang="en-US" sz="1300" dirty="0"/>
          </a:p>
        </p:txBody>
      </p:sp>
      <p:pic>
        <p:nvPicPr>
          <p:cNvPr id="11" name="Image 3" descr="/tmp/claude-0/-home-user-wagdy/f24981f4-70a0-5320-9840-62400667b25b/scratchpad/a/p026.jpg">    </p:cNvPr>
          <p:cNvPicPr>
            <a:picLocks noChangeAspect="1"/>
          </p:cNvPicPr>
          <p:nvPr/>
        </p:nvPicPr>
        <p:blipFill>
          <a:blip r:embed="rId4"/>
          <a:srcRect l="0" r="0" t="0" b="0"/>
          <a:stretch/>
        </p:blipFill>
        <p:spPr>
          <a:xfrm>
            <a:off x="548640" y="1508760"/>
            <a:ext cx="3515258" cy="1965960"/>
          </a:xfrm>
          <a:prstGeom prst="rect">
            <a:avLst/>
          </a:prstGeom>
        </p:spPr>
      </p:pic>
      <p:sp>
        <p:nvSpPr>
          <p:cNvPr id="12" name="Text 6"/>
          <p:cNvSpPr txBox="1"/>
          <p:nvPr/>
        </p:nvSpPr>
        <p:spPr>
          <a:xfrm>
            <a:off x="1645920" y="3529584"/>
            <a:ext cx="2417978" cy="347472"/>
          </a:xfrm>
          <a:prstGeom prst="rect">
            <a:avLst/>
          </a:prstGeom>
          <a:noFill/>
          <a:ln/>
        </p:spPr>
        <p:txBody>
          <a:bodyPr wrap="square" lIns="0" tIns="0" rIns="0" bIns="0" rtlCol="0" anchor="ctr"/>
          <a:lstStyle/>
          <a:p>
            <a:pPr rtl="1" algn="r" indent="0" marL="0">
              <a:buNone/>
            </a:pPr>
            <a:r>
              <a:rPr lang="en-US" sz="1300" b="1" dirty="0">
                <a:solidFill>
                  <a:srgbClr val="2B2522"/>
                </a:solidFill>
                <a:latin typeface="Arial" pitchFamily="34" charset="0"/>
                <a:ea typeface="Arial" pitchFamily="34" charset="-122"/>
                <a:cs typeface="Arial" pitchFamily="34" charset="-120"/>
              </a:rPr>
              <a:t>حَصِير ريزدنس - حي العارض</a:t>
            </a:r>
            <a:endParaRPr lang="en-US" sz="1300" dirty="0"/>
          </a:p>
        </p:txBody>
      </p:sp>
      <p:sp>
        <p:nvSpPr>
          <p:cNvPr id="13" name="Text 7"/>
          <p:cNvSpPr txBox="1"/>
          <p:nvPr/>
        </p:nvSpPr>
        <p:spPr>
          <a:xfrm>
            <a:off x="548640" y="3529584"/>
            <a:ext cx="1051560" cy="347472"/>
          </a:xfrm>
          <a:prstGeom prst="rect">
            <a:avLst/>
          </a:prstGeom>
          <a:noFill/>
          <a:ln/>
        </p:spPr>
        <p:txBody>
          <a:bodyPr wrap="square" lIns="0" tIns="0" rIns="0" bIns="0" rtlCol="0" anchor="ctr"/>
          <a:lstStyle/>
          <a:p>
            <a:pPr rtl="1" algn="l" indent="0" marL="0">
              <a:buNone/>
            </a:pPr>
            <a:r>
              <a:rPr lang="en-US" sz="1300" b="1" dirty="0">
                <a:solidFill>
                  <a:srgbClr val="C69A45"/>
                </a:solidFill>
                <a:latin typeface="Arial" pitchFamily="34" charset="0"/>
                <a:ea typeface="Arial" pitchFamily="34" charset="-122"/>
                <a:cs typeface="Arial" pitchFamily="34" charset="-120"/>
              </a:rPr>
              <a:t>66 شقة</a:t>
            </a:r>
            <a:endParaRPr lang="en-US" sz="1300" dirty="0"/>
          </a:p>
        </p:txBody>
      </p:sp>
      <p:pic>
        <p:nvPicPr>
          <p:cNvPr id="14" name="Image 4" descr="/tmp/claude-0/-home-user-wagdy/f24981f4-70a0-5320-9840-62400667b25b/scratchpad/a/p028.jpg">    </p:cNvPr>
          <p:cNvPicPr>
            <a:picLocks noChangeAspect="1"/>
          </p:cNvPicPr>
          <p:nvPr/>
        </p:nvPicPr>
        <p:blipFill>
          <a:blip r:embed="rId5"/>
          <a:srcRect l="0" r="0" t="0" b="0"/>
          <a:stretch/>
        </p:blipFill>
        <p:spPr>
          <a:xfrm>
            <a:off x="8127797" y="3977640"/>
            <a:ext cx="3515258" cy="1965960"/>
          </a:xfrm>
          <a:prstGeom prst="rect">
            <a:avLst/>
          </a:prstGeom>
        </p:spPr>
      </p:pic>
      <p:sp>
        <p:nvSpPr>
          <p:cNvPr id="15" name="Text 8"/>
          <p:cNvSpPr txBox="1"/>
          <p:nvPr/>
        </p:nvSpPr>
        <p:spPr>
          <a:xfrm>
            <a:off x="9225077" y="5998464"/>
            <a:ext cx="2417978" cy="347472"/>
          </a:xfrm>
          <a:prstGeom prst="rect">
            <a:avLst/>
          </a:prstGeom>
          <a:noFill/>
          <a:ln/>
        </p:spPr>
        <p:txBody>
          <a:bodyPr wrap="square" lIns="0" tIns="0" rIns="0" bIns="0" rtlCol="0" anchor="ctr"/>
          <a:lstStyle/>
          <a:p>
            <a:pPr rtl="1" algn="r" indent="0" marL="0">
              <a:buNone/>
            </a:pPr>
            <a:r>
              <a:rPr lang="en-US" sz="1300" b="1" dirty="0">
                <a:solidFill>
                  <a:srgbClr val="2B2522"/>
                </a:solidFill>
                <a:latin typeface="Arial" pitchFamily="34" charset="0"/>
                <a:ea typeface="Arial" pitchFamily="34" charset="-122"/>
                <a:cs typeface="Arial" pitchFamily="34" charset="-120"/>
              </a:rPr>
              <a:t>حَصِير ريزدنس 2 - حي العارض</a:t>
            </a:r>
            <a:endParaRPr lang="en-US" sz="1300" dirty="0"/>
          </a:p>
        </p:txBody>
      </p:sp>
      <p:sp>
        <p:nvSpPr>
          <p:cNvPr id="16" name="Text 9"/>
          <p:cNvSpPr txBox="1"/>
          <p:nvPr/>
        </p:nvSpPr>
        <p:spPr>
          <a:xfrm>
            <a:off x="8127797" y="5998464"/>
            <a:ext cx="1051560" cy="347472"/>
          </a:xfrm>
          <a:prstGeom prst="rect">
            <a:avLst/>
          </a:prstGeom>
          <a:noFill/>
          <a:ln/>
        </p:spPr>
        <p:txBody>
          <a:bodyPr wrap="square" lIns="0" tIns="0" rIns="0" bIns="0" rtlCol="0" anchor="ctr"/>
          <a:lstStyle/>
          <a:p>
            <a:pPr rtl="1" algn="l" indent="0" marL="0">
              <a:buNone/>
            </a:pPr>
            <a:r>
              <a:rPr lang="en-US" sz="1300" b="1" dirty="0">
                <a:solidFill>
                  <a:srgbClr val="C69A45"/>
                </a:solidFill>
                <a:latin typeface="Arial" pitchFamily="34" charset="0"/>
                <a:ea typeface="Arial" pitchFamily="34" charset="-122"/>
                <a:cs typeface="Arial" pitchFamily="34" charset="-120"/>
              </a:rPr>
              <a:t>20 شقة</a:t>
            </a:r>
            <a:endParaRPr lang="en-US" sz="1300" dirty="0"/>
          </a:p>
        </p:txBody>
      </p:sp>
      <p:pic>
        <p:nvPicPr>
          <p:cNvPr id="17" name="Image 5" descr="/tmp/claude-0/-home-user-wagdy/f24981f4-70a0-5320-9840-62400667b25b/scratchpad/a/p030.jpg">    </p:cNvPr>
          <p:cNvPicPr>
            <a:picLocks noChangeAspect="1"/>
          </p:cNvPicPr>
          <p:nvPr/>
        </p:nvPicPr>
        <p:blipFill>
          <a:blip r:embed="rId6"/>
          <a:srcRect l="0" r="0" t="0" b="0"/>
          <a:stretch/>
        </p:blipFill>
        <p:spPr>
          <a:xfrm>
            <a:off x="4338218" y="3977640"/>
            <a:ext cx="3515258" cy="1965960"/>
          </a:xfrm>
          <a:prstGeom prst="rect">
            <a:avLst/>
          </a:prstGeom>
        </p:spPr>
      </p:pic>
      <p:sp>
        <p:nvSpPr>
          <p:cNvPr id="18" name="Text 10"/>
          <p:cNvSpPr txBox="1"/>
          <p:nvPr/>
        </p:nvSpPr>
        <p:spPr>
          <a:xfrm>
            <a:off x="5435498" y="5998464"/>
            <a:ext cx="2417978" cy="347472"/>
          </a:xfrm>
          <a:prstGeom prst="rect">
            <a:avLst/>
          </a:prstGeom>
          <a:noFill/>
          <a:ln/>
        </p:spPr>
        <p:txBody>
          <a:bodyPr wrap="square" lIns="0" tIns="0" rIns="0" bIns="0" rtlCol="0" anchor="ctr"/>
          <a:lstStyle/>
          <a:p>
            <a:pPr rtl="1" algn="r" indent="0" marL="0">
              <a:buNone/>
            </a:pPr>
            <a:r>
              <a:rPr lang="en-US" sz="1300" b="1" dirty="0">
                <a:solidFill>
                  <a:srgbClr val="2B2522"/>
                </a:solidFill>
                <a:latin typeface="Arial" pitchFamily="34" charset="0"/>
                <a:ea typeface="Arial" pitchFamily="34" charset="-122"/>
                <a:cs typeface="Arial" pitchFamily="34" charset="-120"/>
              </a:rPr>
              <a:t>تاون هاوس القادسية</a:t>
            </a:r>
            <a:endParaRPr lang="en-US" sz="1300" dirty="0"/>
          </a:p>
        </p:txBody>
      </p:sp>
      <p:sp>
        <p:nvSpPr>
          <p:cNvPr id="19" name="Text 11"/>
          <p:cNvSpPr txBox="1"/>
          <p:nvPr/>
        </p:nvSpPr>
        <p:spPr>
          <a:xfrm>
            <a:off x="4338218" y="5998464"/>
            <a:ext cx="1051560" cy="347472"/>
          </a:xfrm>
          <a:prstGeom prst="rect">
            <a:avLst/>
          </a:prstGeom>
          <a:noFill/>
          <a:ln/>
        </p:spPr>
        <p:txBody>
          <a:bodyPr wrap="square" lIns="0" tIns="0" rIns="0" bIns="0" rtlCol="0" anchor="ctr"/>
          <a:lstStyle/>
          <a:p>
            <a:pPr rtl="1" algn="l" indent="0" marL="0">
              <a:buNone/>
            </a:pPr>
            <a:r>
              <a:rPr lang="en-US" sz="1300" b="1" dirty="0">
                <a:solidFill>
                  <a:srgbClr val="C69A45"/>
                </a:solidFill>
                <a:latin typeface="Arial" pitchFamily="34" charset="0"/>
                <a:ea typeface="Arial" pitchFamily="34" charset="-122"/>
                <a:cs typeface="Arial" pitchFamily="34" charset="-120"/>
              </a:rPr>
              <a:t>24 وحدة</a:t>
            </a:r>
            <a:endParaRPr lang="en-US" sz="1300" dirty="0"/>
          </a:p>
        </p:txBody>
      </p:sp>
      <p:pic>
        <p:nvPicPr>
          <p:cNvPr id="20" name="Image 6" descr="/tmp/claude-0/-home-user-wagdy/f24981f4-70a0-5320-9840-62400667b25b/scratchpad/a/p038.jpg">    </p:cNvPr>
          <p:cNvPicPr>
            <a:picLocks noChangeAspect="1"/>
          </p:cNvPicPr>
          <p:nvPr/>
        </p:nvPicPr>
        <p:blipFill>
          <a:blip r:embed="rId7"/>
          <a:srcRect l="0" r="0" t="0" b="0"/>
          <a:stretch/>
        </p:blipFill>
        <p:spPr>
          <a:xfrm>
            <a:off x="548640" y="3977640"/>
            <a:ext cx="3515258" cy="1965960"/>
          </a:xfrm>
          <a:prstGeom prst="rect">
            <a:avLst/>
          </a:prstGeom>
        </p:spPr>
      </p:pic>
      <p:sp>
        <p:nvSpPr>
          <p:cNvPr id="21" name="Text 12"/>
          <p:cNvSpPr txBox="1"/>
          <p:nvPr/>
        </p:nvSpPr>
        <p:spPr>
          <a:xfrm>
            <a:off x="1645920" y="5998464"/>
            <a:ext cx="2417978" cy="347472"/>
          </a:xfrm>
          <a:prstGeom prst="rect">
            <a:avLst/>
          </a:prstGeom>
          <a:noFill/>
          <a:ln/>
        </p:spPr>
        <p:txBody>
          <a:bodyPr wrap="square" lIns="0" tIns="0" rIns="0" bIns="0" rtlCol="0" anchor="ctr"/>
          <a:lstStyle/>
          <a:p>
            <a:pPr rtl="1" algn="r" indent="0" marL="0">
              <a:buNone/>
            </a:pPr>
            <a:r>
              <a:rPr lang="en-US" sz="1300" b="1" dirty="0">
                <a:solidFill>
                  <a:srgbClr val="2B2522"/>
                </a:solidFill>
                <a:latin typeface="Arial" pitchFamily="34" charset="0"/>
                <a:ea typeface="Arial" pitchFamily="34" charset="-122"/>
                <a:cs typeface="Arial" pitchFamily="34" charset="-120"/>
              </a:rPr>
              <a:t>مشروع المذنب</a:t>
            </a:r>
            <a:endParaRPr lang="en-US" sz="1300" dirty="0"/>
          </a:p>
        </p:txBody>
      </p:sp>
      <p:sp>
        <p:nvSpPr>
          <p:cNvPr id="22" name="Text 13"/>
          <p:cNvSpPr txBox="1"/>
          <p:nvPr/>
        </p:nvSpPr>
        <p:spPr>
          <a:xfrm>
            <a:off x="548640" y="5998464"/>
            <a:ext cx="1051560" cy="347472"/>
          </a:xfrm>
          <a:prstGeom prst="rect">
            <a:avLst/>
          </a:prstGeom>
          <a:noFill/>
          <a:ln/>
        </p:spPr>
        <p:txBody>
          <a:bodyPr wrap="square" lIns="0" tIns="0" rIns="0" bIns="0" rtlCol="0" anchor="ctr"/>
          <a:lstStyle/>
          <a:p>
            <a:pPr rtl="1" algn="l" indent="0" marL="0">
              <a:buNone/>
            </a:pPr>
            <a:r>
              <a:rPr lang="en-US" sz="1300" b="1" dirty="0">
                <a:solidFill>
                  <a:srgbClr val="C69A45"/>
                </a:solidFill>
                <a:latin typeface="Arial" pitchFamily="34" charset="0"/>
                <a:ea typeface="Arial" pitchFamily="34" charset="-122"/>
                <a:cs typeface="Arial" pitchFamily="34" charset="-120"/>
              </a:rPr>
              <a:t>100 وحدة</a:t>
            </a:r>
            <a:endParaRPr lang="en-US" sz="1300" dirty="0"/>
          </a:p>
        </p:txBody>
      </p:sp>
      <p:sp>
        <p:nvSpPr>
          <p:cNvPr id="23" name="Text 14"/>
          <p:cNvSpPr txBox="1"/>
          <p:nvPr/>
        </p:nvSpPr>
        <p:spPr>
          <a:xfrm>
            <a:off x="548640" y="6473952"/>
            <a:ext cx="3657600" cy="228600"/>
          </a:xfrm>
          <a:prstGeom prst="rect">
            <a:avLst/>
          </a:prstGeom>
          <a:noFill/>
          <a:ln/>
        </p:spPr>
        <p:txBody>
          <a:bodyPr wrap="square" lIns="0" tIns="0" rIns="0" bIns="0" rtlCol="0" anchor="ctr"/>
          <a:lstStyle/>
          <a:p>
            <a:pPr rtl="1" algn="l" indent="0" marL="0">
              <a:buNone/>
            </a:pPr>
            <a:r>
              <a:rPr lang="en-US" sz="900" dirty="0">
                <a:solidFill>
                  <a:srgbClr val="8A807A"/>
                </a:solidFill>
                <a:latin typeface="Arial" pitchFamily="34" charset="0"/>
                <a:ea typeface="Arial" pitchFamily="34" charset="-122"/>
                <a:cs typeface="Arial" pitchFamily="34" charset="-120"/>
              </a:rPr>
              <a:t>مشروع أرض العليا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B2522"/>
        </a:solidFill>
      </p:bgPr>
    </p:bg>
    <p:spTree>
      <p:nvGrpSpPr>
        <p:cNvPr id="1" name=""/>
        <p:cNvGrpSpPr/>
        <p:nvPr/>
      </p:nvGrpSpPr>
      <p:grpSpPr>
        <a:xfrm>
          <a:off x="0" y="0"/>
          <a:ext cx="0" cy="0"/>
          <a:chOff x="0" y="0"/>
          <a:chExt cx="0" cy="0"/>
        </a:xfrm>
      </p:grpSpPr>
      <p:pic>
        <p:nvPicPr>
          <p:cNvPr id="2" name="Image 0" descr="/tmp/claude-0/-home-user-wagdy/f24981f4-70a0-5320-9840-62400667b25b/scratchpad/a/p033.jpg">    </p:cNvPr>
          <p:cNvPicPr>
            <a:picLocks noChangeAspect="1"/>
          </p:cNvPicPr>
          <p:nvPr/>
        </p:nvPicPr>
        <p:blipFill>
          <a:blip r:embed="rId1"/>
          <a:srcRect l="0" r="0" t="0" b="0"/>
          <a:stretch/>
        </p:blipFill>
        <p:spPr>
          <a:xfrm>
            <a:off x="0" y="0"/>
            <a:ext cx="7498080" cy="6858000"/>
          </a:xfrm>
          <a:prstGeom prst="rect">
            <a:avLst/>
          </a:prstGeom>
        </p:spPr>
      </p:pic>
      <p:pic>
        <p:nvPicPr>
          <p:cNvPr id="3" name="Image 1" descr="/tmp/claude-0/-home-user-wagdy/f24981f4-70a0-5320-9840-62400667b25b/scratchpad/logo_white.png">    </p:cNvPr>
          <p:cNvPicPr>
            <a:picLocks noChangeAspect="1"/>
          </p:cNvPicPr>
          <p:nvPr/>
        </p:nvPicPr>
        <p:blipFill>
          <a:blip r:embed="rId2"/>
          <a:stretch>
            <a:fillRect/>
          </a:stretch>
        </p:blipFill>
        <p:spPr>
          <a:xfrm>
            <a:off x="10362895" y="502920"/>
            <a:ext cx="1280160" cy="485136"/>
          </a:xfrm>
          <a:prstGeom prst="rect">
            <a:avLst/>
          </a:prstGeom>
        </p:spPr>
      </p:pic>
      <p:sp>
        <p:nvSpPr>
          <p:cNvPr id="4" name="Text 0"/>
          <p:cNvSpPr txBox="1"/>
          <p:nvPr/>
        </p:nvSpPr>
        <p:spPr>
          <a:xfrm>
            <a:off x="7863840" y="1828800"/>
            <a:ext cx="3779215" cy="1371600"/>
          </a:xfrm>
          <a:prstGeom prst="rect">
            <a:avLst/>
          </a:prstGeom>
          <a:noFill/>
          <a:ln/>
        </p:spPr>
        <p:txBody>
          <a:bodyPr wrap="square" lIns="0" tIns="0" rIns="0" bIns="0" rtlCol="0" anchor="t"/>
          <a:lstStyle/>
          <a:p>
            <a:pPr rtl="1" algn="r" indent="0" marL="0">
              <a:buNone/>
            </a:pPr>
            <a:r>
              <a:rPr lang="en-US" sz="2800" b="1" dirty="0">
                <a:solidFill>
                  <a:srgbClr val="FFFFFF"/>
                </a:solidFill>
                <a:latin typeface="Arial" pitchFamily="34" charset="0"/>
                <a:ea typeface="Arial" pitchFamily="34" charset="-122"/>
                <a:cs typeface="Arial" pitchFamily="34" charset="-120"/>
              </a:rPr>
              <a:t>تطوير منتجات سكنية</a:t>
            </a:r>
            <a:endParaRPr lang="en-US" sz="2800" dirty="0"/>
          </a:p>
          <a:p>
            <a:pPr rtl="1" algn="r" indent="0" marL="0">
              <a:buNone/>
            </a:pPr>
            <a:r>
              <a:rPr lang="en-US" sz="2800" b="1" dirty="0">
                <a:solidFill>
                  <a:srgbClr val="FFFFFF"/>
                </a:solidFill>
                <a:latin typeface="Arial" pitchFamily="34" charset="0"/>
                <a:ea typeface="Arial" pitchFamily="34" charset="-122"/>
                <a:cs typeface="Arial" pitchFamily="34" charset="-120"/>
              </a:rPr>
              <a:t>بمواصفات عصرية</a:t>
            </a:r>
            <a:endParaRPr lang="en-US" sz="2800" dirty="0"/>
          </a:p>
        </p:txBody>
      </p:sp>
      <p:sp>
        <p:nvSpPr>
          <p:cNvPr id="5" name="Text 1"/>
          <p:cNvSpPr txBox="1"/>
          <p:nvPr/>
        </p:nvSpPr>
        <p:spPr>
          <a:xfrm>
            <a:off x="7863840" y="3337560"/>
            <a:ext cx="3779215" cy="1463040"/>
          </a:xfrm>
          <a:prstGeom prst="rect">
            <a:avLst/>
          </a:prstGeom>
          <a:noFill/>
          <a:ln/>
        </p:spPr>
        <p:txBody>
          <a:bodyPr wrap="square" lIns="0" tIns="0" rIns="0" bIns="0" rtlCol="0" anchor="t"/>
          <a:lstStyle/>
          <a:p>
            <a:pPr rtl="1" algn="r" indent="0" marL="0">
              <a:lnSpc>
                <a:spcPct val="120000"/>
              </a:lnSpc>
              <a:buNone/>
            </a:pPr>
            <a:r>
              <a:rPr lang="en-US" sz="1400" dirty="0">
                <a:solidFill>
                  <a:srgbClr val="E8E2DA"/>
                </a:solidFill>
                <a:latin typeface="Arial" pitchFamily="34" charset="0"/>
                <a:ea typeface="Arial" pitchFamily="34" charset="-122"/>
                <a:cs typeface="Arial" pitchFamily="34" charset="-120"/>
              </a:rPr>
              <a:t>تضمن لساكنيها مستوى عالياً من جودة الحياة: مشروع المهدية 1 (10 وحدات)، المهدية 2 (22 وحدة)، تاون هاوس القادسية (24 وحدة) ومشروع المذنب (100 وحدة).</a:t>
            </a:r>
            <a:endParaRPr lang="en-US" sz="1400" dirty="0"/>
          </a:p>
        </p:txBody>
      </p:sp>
      <p:pic>
        <p:nvPicPr>
          <p:cNvPr id="6" name="Image 2" descr="/tmp/claude-0/-home-user-wagdy/f24981f4-70a0-5320-9840-62400667b25b/scratchpad/a/p036.jpg">    </p:cNvPr>
          <p:cNvPicPr>
            <a:picLocks noChangeAspect="1"/>
          </p:cNvPicPr>
          <p:nvPr/>
        </p:nvPicPr>
        <p:blipFill>
          <a:blip r:embed="rId3"/>
          <a:srcRect l="0" r="0" t="0" b="0"/>
          <a:stretch/>
        </p:blipFill>
        <p:spPr>
          <a:xfrm>
            <a:off x="7863840" y="4892040"/>
            <a:ext cx="1828800" cy="1371600"/>
          </a:xfrm>
          <a:prstGeom prst="rect">
            <a:avLst/>
          </a:prstGeom>
        </p:spPr>
      </p:pic>
      <p:pic>
        <p:nvPicPr>
          <p:cNvPr id="7" name="Image 3" descr="/tmp/claude-0/-home-user-wagdy/f24981f4-70a0-5320-9840-62400667b25b/scratchpad/a/p030.jpg">    </p:cNvPr>
          <p:cNvPicPr>
            <a:picLocks noChangeAspect="1"/>
          </p:cNvPicPr>
          <p:nvPr/>
        </p:nvPicPr>
        <p:blipFill>
          <a:blip r:embed="rId4"/>
          <a:srcRect l="0" r="0" t="0" b="0"/>
          <a:stretch/>
        </p:blipFill>
        <p:spPr>
          <a:xfrm>
            <a:off x="9811512" y="4892040"/>
            <a:ext cx="1828800" cy="13716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0" y="384048"/>
            <a:ext cx="8442655" cy="640080"/>
          </a:xfrm>
          <a:prstGeom prst="rect">
            <a:avLst/>
          </a:prstGeom>
          <a:noFill/>
          <a:ln/>
        </p:spPr>
        <p:txBody>
          <a:bodyPr wrap="square" lIns="0" tIns="0" rIns="0" bIns="0" rtlCol="0" anchor="ctr"/>
          <a:lstStyle/>
          <a:p>
            <a:pPr rtl="1" algn="r" indent="0" marL="0">
              <a:buNone/>
            </a:pPr>
            <a:r>
              <a:rPr lang="en-US" sz="3000" b="1" dirty="0">
                <a:solidFill>
                  <a:srgbClr val="2B2522"/>
                </a:solidFill>
                <a:latin typeface="Arial" pitchFamily="34" charset="0"/>
                <a:ea typeface="Arial" pitchFamily="34" charset="-122"/>
                <a:cs typeface="Arial" pitchFamily="34" charset="-120"/>
              </a:rPr>
              <a:t>شركاء نجاح حَصِير</a:t>
            </a:r>
            <a:endParaRPr lang="en-US" sz="3000" dirty="0"/>
          </a:p>
        </p:txBody>
      </p:sp>
      <p:pic>
        <p:nvPicPr>
          <p:cNvPr id="3" name="Image 0" descr="/tmp/claude-0/-home-user-wagdy/f24981f4-70a0-5320-9840-62400667b25b/scratchpad/logo_dark.png">    </p:cNvPr>
          <p:cNvPicPr>
            <a:picLocks noChangeAspect="1"/>
          </p:cNvPicPr>
          <p:nvPr/>
        </p:nvPicPr>
        <p:blipFill>
          <a:blip r:embed="rId1"/>
          <a:stretch>
            <a:fillRect/>
          </a:stretch>
        </p:blipFill>
        <p:spPr>
          <a:xfrm>
            <a:off x="548640" y="457200"/>
            <a:ext cx="1206444" cy="457200"/>
          </a:xfrm>
          <a:prstGeom prst="rect">
            <a:avLst/>
          </a:prstGeom>
        </p:spPr>
      </p:pic>
      <p:pic>
        <p:nvPicPr>
          <p:cNvPr id="4" name="Image 1" descr="/tmp/claude-0/-home-user-wagdy/f24981f4-70a0-5320-9840-62400667b25b/scratchpad/a/partners.png">    </p:cNvPr>
          <p:cNvPicPr>
            <a:picLocks noChangeAspect="1"/>
          </p:cNvPicPr>
          <p:nvPr/>
        </p:nvPicPr>
        <p:blipFill>
          <a:blip r:embed="rId2"/>
          <a:stretch>
            <a:fillRect/>
          </a:stretch>
        </p:blipFill>
        <p:spPr>
          <a:xfrm>
            <a:off x="548640" y="2011680"/>
            <a:ext cx="11094415" cy="2396394"/>
          </a:xfrm>
          <a:prstGeom prst="rect">
            <a:avLst/>
          </a:prstGeom>
        </p:spPr>
      </p:pic>
      <p:sp>
        <p:nvSpPr>
          <p:cNvPr id="5" name="Text 1"/>
          <p:cNvSpPr txBox="1"/>
          <p:nvPr/>
        </p:nvSpPr>
        <p:spPr>
          <a:xfrm>
            <a:off x="548640" y="4754880"/>
            <a:ext cx="11094415" cy="457200"/>
          </a:xfrm>
          <a:prstGeom prst="rect">
            <a:avLst/>
          </a:prstGeom>
          <a:noFill/>
          <a:ln/>
        </p:spPr>
        <p:txBody>
          <a:bodyPr wrap="square" lIns="0" tIns="0" rIns="0" bIns="0" rtlCol="0" anchor="ctr"/>
          <a:lstStyle/>
          <a:p>
            <a:pPr rtl="1" algn="ctr" indent="0" marL="0">
              <a:buNone/>
            </a:pPr>
            <a:r>
              <a:rPr lang="en-US" sz="1500" dirty="0">
                <a:solidFill>
                  <a:srgbClr val="5C524C"/>
                </a:solidFill>
                <a:latin typeface="Arial" pitchFamily="34" charset="0"/>
                <a:ea typeface="Arial" pitchFamily="34" charset="-122"/>
                <a:cs typeface="Arial" pitchFamily="34" charset="-120"/>
              </a:rPr>
              <a:t>نعمل مع نخبة من الموردين والمصنعين والمقاولين المعتمدين لضمان جودة التنفيذ واستدامة المنتج.</a:t>
            </a:r>
            <a:endParaRPr lang="en-US" sz="1500" dirty="0"/>
          </a:p>
        </p:txBody>
      </p:sp>
      <p:sp>
        <p:nvSpPr>
          <p:cNvPr id="6" name="Text 2"/>
          <p:cNvSpPr txBox="1"/>
          <p:nvPr/>
        </p:nvSpPr>
        <p:spPr>
          <a:xfrm>
            <a:off x="548640" y="6473952"/>
            <a:ext cx="3657600" cy="228600"/>
          </a:xfrm>
          <a:prstGeom prst="rect">
            <a:avLst/>
          </a:prstGeom>
          <a:noFill/>
          <a:ln/>
        </p:spPr>
        <p:txBody>
          <a:bodyPr wrap="square" lIns="0" tIns="0" rIns="0" bIns="0" rtlCol="0" anchor="ctr"/>
          <a:lstStyle/>
          <a:p>
            <a:pPr rtl="1" algn="l" indent="0" marL="0">
              <a:buNone/>
            </a:pPr>
            <a:r>
              <a:rPr lang="en-US" sz="900" dirty="0">
                <a:solidFill>
                  <a:srgbClr val="8A807A"/>
                </a:solidFill>
                <a:latin typeface="Arial" pitchFamily="34" charset="0"/>
                <a:ea typeface="Arial" pitchFamily="34" charset="-122"/>
                <a:cs typeface="Arial" pitchFamily="34" charset="-120"/>
              </a:rPr>
              <a:t>مشروع أرض العليا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B2522"/>
        </a:solidFill>
      </p:bgPr>
    </p:bg>
    <p:spTree>
      <p:nvGrpSpPr>
        <p:cNvPr id="1" name=""/>
        <p:cNvGrpSpPr/>
        <p:nvPr/>
      </p:nvGrpSpPr>
      <p:grpSpPr>
        <a:xfrm>
          <a:off x="0" y="0"/>
          <a:ext cx="0" cy="0"/>
          <a:chOff x="0" y="0"/>
          <a:chExt cx="0" cy="0"/>
        </a:xfrm>
      </p:grpSpPr>
      <p:pic>
        <p:nvPicPr>
          <p:cNvPr id="2" name="Image 0" descr="/tmp/claude-0/-home-user-wagdy/f24981f4-70a0-5320-9840-62400667b25b/scratchpad/a/p000.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6309360" y="0"/>
            <a:ext cx="5882335" cy="6858000"/>
          </a:xfrm>
          <a:prstGeom prst="rect">
            <a:avLst/>
          </a:prstGeom>
          <a:solidFill>
            <a:srgbClr val="2B2522">
              <a:alpha val="88000"/>
            </a:srgbClr>
          </a:solidFill>
          <a:ln w="12700">
            <a:solidFill>
              <a:srgbClr val="2B2522">
                <a:alpha val="0"/>
              </a:srgbClr>
            </a:solidFill>
            <a:prstDash val="solid"/>
          </a:ln>
        </p:spPr>
      </p:sp>
      <p:pic>
        <p:nvPicPr>
          <p:cNvPr id="4" name="Image 1" descr="/tmp/claude-0/-home-user-wagdy/f24981f4-70a0-5320-9840-62400667b25b/scratchpad/logo_white.png">    </p:cNvPr>
          <p:cNvPicPr>
            <a:picLocks noChangeAspect="1"/>
          </p:cNvPicPr>
          <p:nvPr/>
        </p:nvPicPr>
        <p:blipFill>
          <a:blip r:embed="rId2"/>
          <a:stretch>
            <a:fillRect/>
          </a:stretch>
        </p:blipFill>
        <p:spPr>
          <a:xfrm>
            <a:off x="9448495" y="822960"/>
            <a:ext cx="2194560" cy="831661"/>
          </a:xfrm>
          <a:prstGeom prst="rect">
            <a:avLst/>
          </a:prstGeom>
        </p:spPr>
      </p:pic>
      <p:sp>
        <p:nvSpPr>
          <p:cNvPr id="5" name="Text 1"/>
          <p:cNvSpPr txBox="1"/>
          <p:nvPr/>
        </p:nvSpPr>
        <p:spPr>
          <a:xfrm>
            <a:off x="6675120" y="2651760"/>
            <a:ext cx="4967935" cy="822960"/>
          </a:xfrm>
          <a:prstGeom prst="rect">
            <a:avLst/>
          </a:prstGeom>
          <a:noFill/>
          <a:ln/>
        </p:spPr>
        <p:txBody>
          <a:bodyPr wrap="square" lIns="0" tIns="0" rIns="0" bIns="0" rtlCol="0" anchor="ctr"/>
          <a:lstStyle/>
          <a:p>
            <a:pPr rtl="1" algn="r" indent="0" marL="0">
              <a:buNone/>
            </a:pPr>
            <a:r>
              <a:rPr lang="en-US" sz="4000" b="1" dirty="0">
                <a:solidFill>
                  <a:srgbClr val="FFFFFF"/>
                </a:solidFill>
                <a:latin typeface="Arial" pitchFamily="34" charset="0"/>
                <a:ea typeface="Arial" pitchFamily="34" charset="-122"/>
                <a:cs typeface="Arial" pitchFamily="34" charset="-120"/>
              </a:rPr>
              <a:t>نبني للحياة</a:t>
            </a:r>
            <a:endParaRPr lang="en-US" sz="4000" dirty="0"/>
          </a:p>
        </p:txBody>
      </p:sp>
      <p:sp>
        <p:nvSpPr>
          <p:cNvPr id="6" name="Text 2"/>
          <p:cNvSpPr txBox="1"/>
          <p:nvPr/>
        </p:nvSpPr>
        <p:spPr>
          <a:xfrm>
            <a:off x="6675120" y="3474720"/>
            <a:ext cx="4967935" cy="411480"/>
          </a:xfrm>
          <a:prstGeom prst="rect">
            <a:avLst/>
          </a:prstGeom>
          <a:noFill/>
          <a:ln/>
        </p:spPr>
        <p:txBody>
          <a:bodyPr wrap="square" lIns="0" tIns="0" rIns="0" bIns="0" rtlCol="0" anchor="ctr"/>
          <a:lstStyle/>
          <a:p>
            <a:pPr rtl="1" algn="r" indent="0" marL="0">
              <a:buNone/>
            </a:pPr>
            <a:r>
              <a:rPr lang="en-US" sz="1600" dirty="0">
                <a:solidFill>
                  <a:srgbClr val="E8E2DA"/>
                </a:solidFill>
                <a:latin typeface="Arial" pitchFamily="34" charset="0"/>
                <a:ea typeface="Arial" pitchFamily="34" charset="-122"/>
                <a:cs typeface="Arial" pitchFamily="34" charset="-120"/>
              </a:rPr>
              <a:t>الرياض - المملكة العربية السعودية</a:t>
            </a:r>
            <a:endParaRPr lang="en-US" sz="1600" dirty="0"/>
          </a:p>
        </p:txBody>
      </p:sp>
      <p:sp>
        <p:nvSpPr>
          <p:cNvPr id="7" name="Text 3"/>
          <p:cNvSpPr txBox="1"/>
          <p:nvPr/>
        </p:nvSpPr>
        <p:spPr>
          <a:xfrm>
            <a:off x="9418320" y="4206240"/>
            <a:ext cx="2224735" cy="411480"/>
          </a:xfrm>
          <a:prstGeom prst="rect">
            <a:avLst/>
          </a:prstGeom>
          <a:noFill/>
          <a:ln/>
        </p:spPr>
        <p:txBody>
          <a:bodyPr wrap="square" lIns="0" tIns="0" rIns="0" bIns="0" rtlCol="0" anchor="ctr"/>
          <a:lstStyle/>
          <a:p>
            <a:pPr rtl="1" algn="r" indent="0" marL="0">
              <a:buNone/>
            </a:pPr>
            <a:r>
              <a:rPr lang="en-US" sz="1300" dirty="0">
                <a:solidFill>
                  <a:srgbClr val="C69A45"/>
                </a:solidFill>
                <a:latin typeface="Arial" pitchFamily="34" charset="0"/>
                <a:ea typeface="Arial" pitchFamily="34" charset="-122"/>
                <a:cs typeface="Arial" pitchFamily="34" charset="-120"/>
              </a:rPr>
              <a:t>البريد الإلكتروني</a:t>
            </a:r>
            <a:endParaRPr lang="en-US" sz="1300" dirty="0"/>
          </a:p>
        </p:txBody>
      </p:sp>
      <p:sp>
        <p:nvSpPr>
          <p:cNvPr id="8" name="Text 4"/>
          <p:cNvSpPr txBox="1"/>
          <p:nvPr/>
        </p:nvSpPr>
        <p:spPr>
          <a:xfrm>
            <a:off x="6675120" y="4206240"/>
            <a:ext cx="2651760" cy="411480"/>
          </a:xfrm>
          <a:prstGeom prst="rect">
            <a:avLst/>
          </a:prstGeom>
          <a:noFill/>
          <a:ln/>
        </p:spPr>
        <p:txBody>
          <a:bodyPr wrap="square" lIns="0" tIns="0" rIns="0" bIns="0" rtlCol="0" anchor="ctr"/>
          <a:lstStyle/>
          <a:p>
            <a:pPr algn="r" indent="0" marL="0">
              <a:buNone/>
            </a:pPr>
            <a:r>
              <a:rPr lang="en-US" sz="1500" b="1" dirty="0">
                <a:solidFill>
                  <a:srgbClr val="FFFFFF"/>
                </a:solidFill>
                <a:latin typeface="Arial" pitchFamily="34" charset="0"/>
                <a:ea typeface="Arial" pitchFamily="34" charset="-122"/>
                <a:cs typeface="Arial" pitchFamily="34" charset="-120"/>
              </a:rPr>
              <a:t>info@hihasier.com</a:t>
            </a:r>
            <a:endParaRPr lang="en-US" sz="1500" dirty="0"/>
          </a:p>
        </p:txBody>
      </p:sp>
      <p:sp>
        <p:nvSpPr>
          <p:cNvPr id="9" name="Text 5"/>
          <p:cNvSpPr txBox="1"/>
          <p:nvPr/>
        </p:nvSpPr>
        <p:spPr>
          <a:xfrm>
            <a:off x="9418320" y="4773168"/>
            <a:ext cx="2224735" cy="411480"/>
          </a:xfrm>
          <a:prstGeom prst="rect">
            <a:avLst/>
          </a:prstGeom>
          <a:noFill/>
          <a:ln/>
        </p:spPr>
        <p:txBody>
          <a:bodyPr wrap="square" lIns="0" tIns="0" rIns="0" bIns="0" rtlCol="0" anchor="ctr"/>
          <a:lstStyle/>
          <a:p>
            <a:pPr rtl="1" algn="r" indent="0" marL="0">
              <a:buNone/>
            </a:pPr>
            <a:r>
              <a:rPr lang="en-US" sz="1300" dirty="0">
                <a:solidFill>
                  <a:srgbClr val="C69A45"/>
                </a:solidFill>
                <a:latin typeface="Arial" pitchFamily="34" charset="0"/>
                <a:ea typeface="Arial" pitchFamily="34" charset="-122"/>
                <a:cs typeface="Arial" pitchFamily="34" charset="-120"/>
              </a:rPr>
              <a:t>رقم التواصل</a:t>
            </a:r>
            <a:endParaRPr lang="en-US" sz="1300" dirty="0"/>
          </a:p>
        </p:txBody>
      </p:sp>
      <p:sp>
        <p:nvSpPr>
          <p:cNvPr id="10" name="Text 6"/>
          <p:cNvSpPr txBox="1"/>
          <p:nvPr/>
        </p:nvSpPr>
        <p:spPr>
          <a:xfrm>
            <a:off x="6675120" y="4773168"/>
            <a:ext cx="2651760" cy="411480"/>
          </a:xfrm>
          <a:prstGeom prst="rect">
            <a:avLst/>
          </a:prstGeom>
          <a:noFill/>
          <a:ln/>
        </p:spPr>
        <p:txBody>
          <a:bodyPr wrap="square" lIns="0" tIns="0" rIns="0" bIns="0" rtlCol="0" anchor="ctr"/>
          <a:lstStyle/>
          <a:p>
            <a:pPr algn="r" indent="0" marL="0">
              <a:buNone/>
            </a:pPr>
            <a:r>
              <a:rPr lang="en-US" sz="1500" b="1" dirty="0">
                <a:solidFill>
                  <a:srgbClr val="FFFFFF"/>
                </a:solidFill>
                <a:latin typeface="Arial" pitchFamily="34" charset="0"/>
                <a:ea typeface="Arial" pitchFamily="34" charset="-122"/>
                <a:cs typeface="Arial" pitchFamily="34" charset="-120"/>
              </a:rPr>
              <a:t>920020056</a:t>
            </a:r>
            <a:endParaRPr lang="en-US" sz="1500" dirty="0"/>
          </a:p>
        </p:txBody>
      </p:sp>
      <p:sp>
        <p:nvSpPr>
          <p:cNvPr id="11" name="Text 7"/>
          <p:cNvSpPr txBox="1"/>
          <p:nvPr/>
        </p:nvSpPr>
        <p:spPr>
          <a:xfrm>
            <a:off x="9418320" y="5340096"/>
            <a:ext cx="2224735" cy="411480"/>
          </a:xfrm>
          <a:prstGeom prst="rect">
            <a:avLst/>
          </a:prstGeom>
          <a:noFill/>
          <a:ln/>
        </p:spPr>
        <p:txBody>
          <a:bodyPr wrap="square" lIns="0" tIns="0" rIns="0" bIns="0" rtlCol="0" anchor="ctr"/>
          <a:lstStyle/>
          <a:p>
            <a:pPr rtl="1" algn="r" indent="0" marL="0">
              <a:buNone/>
            </a:pPr>
            <a:r>
              <a:rPr lang="en-US" sz="1300" dirty="0">
                <a:solidFill>
                  <a:srgbClr val="C69A45"/>
                </a:solidFill>
                <a:latin typeface="Arial" pitchFamily="34" charset="0"/>
                <a:ea typeface="Arial" pitchFamily="34" charset="-122"/>
                <a:cs typeface="Arial" pitchFamily="34" charset="-120"/>
              </a:rPr>
              <a:t>الموقع</a:t>
            </a:r>
            <a:endParaRPr lang="en-US" sz="1300" dirty="0"/>
          </a:p>
        </p:txBody>
      </p:sp>
      <p:sp>
        <p:nvSpPr>
          <p:cNvPr id="12" name="Text 8"/>
          <p:cNvSpPr txBox="1"/>
          <p:nvPr/>
        </p:nvSpPr>
        <p:spPr>
          <a:xfrm>
            <a:off x="6675120" y="5340096"/>
            <a:ext cx="2651760" cy="411480"/>
          </a:xfrm>
          <a:prstGeom prst="rect">
            <a:avLst/>
          </a:prstGeom>
          <a:noFill/>
          <a:ln/>
        </p:spPr>
        <p:txBody>
          <a:bodyPr wrap="square" lIns="0" tIns="0" rIns="0" bIns="0" rtlCol="0" anchor="ctr"/>
          <a:lstStyle/>
          <a:p>
            <a:pPr algn="r" indent="0" marL="0">
              <a:buNone/>
            </a:pPr>
            <a:r>
              <a:rPr lang="en-US" sz="1500" b="1" dirty="0">
                <a:solidFill>
                  <a:srgbClr val="FFFFFF"/>
                </a:solidFill>
                <a:latin typeface="Arial" pitchFamily="34" charset="0"/>
                <a:ea typeface="Arial" pitchFamily="34" charset="-122"/>
                <a:cs typeface="Arial" pitchFamily="34" charset="-120"/>
              </a:rPr>
              <a:t>hihasier.com</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Haseer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مشروع أرض العليا - حصير</dc:title>
  <dc:subject>PptxGenJS Presentation</dc:subject>
  <dc:creator>PptxGenJS</dc:creator>
  <cp:lastModifiedBy>PptxGenJS</cp:lastModifiedBy>
  <cp:revision>1</cp:revision>
  <dcterms:created xsi:type="dcterms:W3CDTF">2026-10-03T15:32:52Z</dcterms:created>
  <dcterms:modified xsi:type="dcterms:W3CDTF">2026-10-03T15:32:52Z</dcterms:modified>
</cp:coreProperties>
</file>