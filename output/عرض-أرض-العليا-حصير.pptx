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gdy/f24981f4-70a0-5320-9840-62400667b25b/scratchpad/a/p0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F0A">
              <a:alpha val="65000"/>
            </a:srgbClr>
          </a:solidFill>
          <a:ln w="12700">
            <a:solidFill>
              <a:srgbClr val="140F0A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3816" y="786384"/>
            <a:ext cx="105640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9A86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حصير للتطوير العقاري · عرض استثماري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14800" y="2331720"/>
            <a:ext cx="7263079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مشروع سكني ومكتبي</a:t>
            </a:r>
            <a:endParaRPr lang="en-US" sz="4600" dirty="0"/>
          </a:p>
          <a:p>
            <a:pPr rtl="1" algn="r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في حي العليا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4114800" y="4206240"/>
            <a:ext cx="72630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أرض 7,782 م² · إيرادات متوقعة 587.4 مليون ريال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628071" y="4919472"/>
            <a:ext cx="749808" cy="0"/>
          </a:xfrm>
          <a:prstGeom prst="line">
            <a:avLst/>
          </a:prstGeom>
          <a:noFill/>
          <a:ln w="19050">
            <a:solidFill>
              <a:srgbClr val="C9A86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0" y="5120640"/>
            <a:ext cx="7263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الرياض · سبتمبر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786384"/>
            <a:ext cx="105640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8B6A3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تفاصيل المشروع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1188720"/>
            <a:ext cx="105640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برج سكني ومكتبي على أرض 7,782 م² في العليا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57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636776" y="6199632"/>
            <a:ext cx="9741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60% من الأرض سكني و40% مكتبي · معامل بناء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45473" y="3566160"/>
            <a:ext cx="2332406" cy="0"/>
          </a:xfrm>
          <a:prstGeom prst="line">
            <a:avLst/>
          </a:prstGeom>
          <a:noFill/>
          <a:ln w="9525">
            <a:solidFill>
              <a:srgbClr val="1F1C1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45473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7,782 م²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9045473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مساحة الأرض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045473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حي العليا · الرياض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1588" y="3566160"/>
            <a:ext cx="2332406" cy="0"/>
          </a:xfrm>
          <a:prstGeom prst="line">
            <a:avLst/>
          </a:prstGeom>
          <a:noFill/>
          <a:ln w="9525">
            <a:solidFill>
              <a:srgbClr val="1F1C1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1588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46,692 م²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1588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المسطحات البنائية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1588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 دوراً + 3 أدوار قبو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57702" y="3566160"/>
            <a:ext cx="2332406" cy="0"/>
          </a:xfrm>
          <a:prstGeom prst="line">
            <a:avLst/>
          </a:prstGeom>
          <a:noFill/>
          <a:ln w="9525">
            <a:solidFill>
              <a:srgbClr val="1F1C1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702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198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3557702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شقة سكنية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57702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بمتوسط 120 م² للشقة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" y="3566160"/>
            <a:ext cx="2332406" cy="0"/>
          </a:xfrm>
          <a:prstGeom prst="line">
            <a:avLst/>
          </a:prstGeom>
          <a:noFill/>
          <a:ln w="9525">
            <a:solidFill>
              <a:srgbClr val="1F1C1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15,875 م²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مساحات مكتبية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صافي قابل للبيع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786384"/>
            <a:ext cx="105640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8B6A3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البيع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1188720"/>
            <a:ext cx="105640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إجمالي المبيعات 587.4 مليون ريال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57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636776" y="6199632"/>
            <a:ext cx="9741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بيع على الخارطة خلال 4 سنوات · المساحات صافية قابلة للبيع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039405" y="2377440"/>
            <a:ext cx="3338474" cy="3017520"/>
          </a:xfrm>
          <a:prstGeom prst="roundRect">
            <a:avLst>
              <a:gd name="adj" fmla="val 1818"/>
            </a:avLst>
          </a:prstGeom>
          <a:solidFill>
            <a:srgbClr val="FCFBF7"/>
          </a:solidFill>
          <a:ln w="9525">
            <a:solidFill>
              <a:srgbClr val="E2DC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05165" y="2724912"/>
            <a:ext cx="26069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B6A3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السكني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05165" y="3154680"/>
            <a:ext cx="2606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بيع المتر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05165" y="3447288"/>
            <a:ext cx="26069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14,000 ريال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8405165" y="4251960"/>
            <a:ext cx="2606954" cy="0"/>
          </a:xfrm>
          <a:prstGeom prst="line">
            <a:avLst/>
          </a:prstGeom>
          <a:noFill/>
          <a:ln w="9525">
            <a:solidFill>
              <a:srgbClr val="E2DC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5165" y="4389120"/>
            <a:ext cx="2606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333.4 مليون ريال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405165" y="4864608"/>
            <a:ext cx="2606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23,813 م² · 198 شقة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26610" y="2377440"/>
            <a:ext cx="3338474" cy="3017520"/>
          </a:xfrm>
          <a:prstGeom prst="roundRect">
            <a:avLst>
              <a:gd name="adj" fmla="val 1818"/>
            </a:avLst>
          </a:prstGeom>
          <a:solidFill>
            <a:srgbClr val="1F1C17"/>
          </a:solidFill>
          <a:ln w="9525">
            <a:solidFill>
              <a:srgbClr val="1F1C1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2370" y="2724912"/>
            <a:ext cx="26069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9A86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الإجمالي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92370" y="3154680"/>
            <a:ext cx="2606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بيع المتر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92370" y="3447288"/>
            <a:ext cx="26069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14,800 ريال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92370" y="4251960"/>
            <a:ext cx="2606954" cy="0"/>
          </a:xfrm>
          <a:prstGeom prst="line">
            <a:avLst/>
          </a:prstGeom>
          <a:noFill/>
          <a:ln w="9525">
            <a:solidFill>
              <a:srgbClr val="4A44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2370" y="4389120"/>
            <a:ext cx="2606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587.4 مليون ريال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792370" y="4864608"/>
            <a:ext cx="2606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39,688 م² · متوسط سعر المتر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3816" y="2377440"/>
            <a:ext cx="3338474" cy="3017520"/>
          </a:xfrm>
          <a:prstGeom prst="roundRect">
            <a:avLst>
              <a:gd name="adj" fmla="val 1818"/>
            </a:avLst>
          </a:prstGeom>
          <a:solidFill>
            <a:srgbClr val="FCFBF7"/>
          </a:solidFill>
          <a:ln w="9525">
            <a:solidFill>
              <a:srgbClr val="E2DC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79576" y="2724912"/>
            <a:ext cx="26069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B6A3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المكتبي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79576" y="3154680"/>
            <a:ext cx="2606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بيع المتر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79576" y="3447288"/>
            <a:ext cx="26069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16,000 ريال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1179576" y="4251960"/>
            <a:ext cx="2606954" cy="0"/>
          </a:xfrm>
          <a:prstGeom prst="line">
            <a:avLst/>
          </a:prstGeom>
          <a:noFill/>
          <a:ln w="9525">
            <a:solidFill>
              <a:srgbClr val="E2DC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79576" y="4389120"/>
            <a:ext cx="2606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254.0 مليون ريال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1179576" y="4864608"/>
            <a:ext cx="2606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15,875 م² مكاتب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1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786384"/>
            <a:ext cx="105640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9A86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أرباح مالك الأرض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1188720"/>
            <a:ext cx="105640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صافي ربح 88.7 مليون ريال خلال 4 سنوات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57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636776" y="6199632"/>
            <a:ext cx="9741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8C857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الأرض والرسوم = رأس المال · الأرباح بعد خصم كل التكاليف والتمويل وحافز أداء المطور · تقديرات وليست ضماناً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45473" y="3566160"/>
            <a:ext cx="2332406" cy="0"/>
          </a:xfrm>
          <a:prstGeom prst="line">
            <a:avLst/>
          </a:prstGeom>
          <a:noFill/>
          <a:ln w="9525">
            <a:solidFill>
              <a:srgbClr val="C9A8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45473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168.5 م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9045473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قيمة الأرض ورسومها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045473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· 21,000 ريال/م² للأرض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1588" y="3566160"/>
            <a:ext cx="2332406" cy="0"/>
          </a:xfrm>
          <a:prstGeom prst="line">
            <a:avLst/>
          </a:prstGeom>
          <a:noFill/>
          <a:ln w="9525">
            <a:solidFill>
              <a:srgbClr val="C9A86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1588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88.7 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1588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صافي الربح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1588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بعد كل التكاليف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57702" y="3566160"/>
            <a:ext cx="2332406" cy="0"/>
          </a:xfrm>
          <a:prstGeom prst="line">
            <a:avLst/>
          </a:prstGeom>
          <a:noFill/>
          <a:ln w="9525">
            <a:solidFill>
              <a:srgbClr val="C9A8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702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257.2 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3557702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إجمالي ما يستلمه المالك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57702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· 33,050 ريال لكل م² أرض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" y="3566160"/>
            <a:ext cx="2332406" cy="0"/>
          </a:xfrm>
          <a:prstGeom prst="line">
            <a:avLst/>
          </a:prstGeom>
          <a:noFill/>
          <a:ln w="9525">
            <a:solidFill>
              <a:srgbClr val="C9A8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" y="3749040"/>
            <a:ext cx="23324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13.2%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" y="4480560"/>
            <a:ext cx="23324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F3E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عائد سنوي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4846320"/>
            <a:ext cx="23324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9D3C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عائد كلي 53% خلال 4 سنوات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gdy/f24981f4-70a0-5320-9840-62400667b25b/scratchpad/a/p03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3154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754880" y="3611880"/>
            <a:ext cx="66229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8B6A3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الخطوات التالية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4754880" y="3931920"/>
            <a:ext cx="66229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زيارة الموقع ثم توقيع الاتفاقية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754880" y="4663440"/>
            <a:ext cx="6622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المالي التفصيلي متاح عند الطلب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13816" y="3566160"/>
            <a:ext cx="3566160" cy="1463040"/>
          </a:xfrm>
          <a:prstGeom prst="roundRect">
            <a:avLst>
              <a:gd name="adj" fmla="val 3750"/>
            </a:avLst>
          </a:prstGeom>
          <a:solidFill>
            <a:srgbClr val="EDE4D3"/>
          </a:solidFill>
          <a:ln w="12700">
            <a:solidFill>
              <a:srgbClr val="EDE4D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3749040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8B6A3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حصير للتطوير العقاري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4069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F1C17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+966 55 789 8945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459943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75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920020056 · info@hihasier.com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57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Haseer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حي العليا - حصير للتطوير العقاري</dc:title>
  <dc:subject>PptxGenJS Presentation</dc:subject>
  <dc:creator>PptxGenJS</dc:creator>
  <cp:lastModifiedBy>PptxGenJS</cp:lastModifiedBy>
  <cp:revision>1</cp:revision>
  <dcterms:created xsi:type="dcterms:W3CDTF">2026-10-03T15:51:00Z</dcterms:created>
  <dcterms:modified xsi:type="dcterms:W3CDTF">2026-10-03T15:51:00Z</dcterms:modified>
</cp:coreProperties>
</file>