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1" r:id="rId16"/>
    <p:sldId id="272" r:id="rId17"/>
    <p:sldId id="273" r:id="rId18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32"/>
  </p:normalViewPr>
  <p:slideViewPr>
    <p:cSldViewPr snapToGrid="0" snapToObjects="1">
      <p:cViewPr>
        <p:scale>
          <a:sx n="66" d="100"/>
          <a:sy n="66" d="100"/>
        </p:scale>
        <p:origin x="34" y="-17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رأس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عنصر نائب للتاريخ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87A772E8-3A12-D147-BF92-03536E12A529}" type="datetimeFigureOut">
              <a:rPr lang="ar-SA" smtClean="0"/>
              <a:t>24/04/1448</a:t>
            </a:fld>
            <a:endParaRPr lang="ar-SA"/>
          </a:p>
        </p:txBody>
      </p:sp>
      <p:sp>
        <p:nvSpPr>
          <p:cNvPr id="4" name="عنصر نائب لصورة الشريحة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ar-SA"/>
          </a:p>
        </p:txBody>
      </p:sp>
      <p:sp>
        <p:nvSpPr>
          <p:cNvPr id="5" name="عنصر نائب للملاحظا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6" name="عنصر نائب للتذييل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عنصر نائب لرقم الشريحة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0134E2B4-A618-D048-9839-933AAECD0163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394015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34E2B4-A618-D048-9839-933AAECD0163}" type="slidenum">
              <a:rPr lang="ar-SA" smtClean="0"/>
              <a:t>16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4062236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34E2B4-A618-D048-9839-933AAECD0163}" type="slidenum">
              <a:rPr lang="ar-SA" smtClean="0"/>
              <a:t>17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92594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ro.jpg"/>
          <p:cNvPicPr>
            <a:picLocks noChangeAspect="1"/>
          </p:cNvPicPr>
          <p:nvPr/>
        </p:nvPicPr>
        <p:blipFill>
          <a:blip r:embed="rId2"/>
          <a:srcRect l="16" r="1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77000"/>
            <a:ext cx="18288000" cy="3810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4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0" y="4445000"/>
            <a:ext cx="3886200" cy="139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7442200"/>
            <a:ext cx="117348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مشروع أرض العليا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0" y="9194800"/>
            <a:ext cx="11734800" cy="355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650" b="0">
                <a:solidFill>
                  <a:srgbClr val="F2ECE3"/>
                </a:solidFill>
                <a:latin typeface="Arial"/>
                <a:ea typeface="Arial"/>
                <a:cs typeface="Arial"/>
              </a:rPr>
              <a:t>شركة حصير للتطوير العقاري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tement.jpg"/>
          <p:cNvPicPr>
            <a:picLocks noChangeAspect="1"/>
          </p:cNvPicPr>
          <p:nvPr/>
        </p:nvPicPr>
        <p:blipFill>
          <a:blip r:embed="rId2"/>
          <a:srcRect l="6" r="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3111500" y="787400"/>
            <a:ext cx="114300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مشروع</a:t>
            </a:r>
            <a:r>
              <a:rPr sz="41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أرض</a:t>
            </a:r>
            <a:r>
              <a:rPr sz="41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العليا</a:t>
            </a:r>
            <a:endParaRPr sz="4100" b="1" dirty="0">
              <a:solidFill>
                <a:srgbClr val="FFFFFF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-3111500" y="1498600"/>
            <a:ext cx="114300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عرض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مشروع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عقاري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·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شركة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حصير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للتطوير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العقاري</a:t>
            </a:r>
            <a:endParaRPr sz="2500" b="1" dirty="0">
              <a:solidFill>
                <a:srgbClr val="FFFFFF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7" name="Picture 6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crane.jpg"/>
          <p:cNvPicPr>
            <a:picLocks noChangeAspect="1"/>
          </p:cNvPicPr>
          <p:nvPr/>
        </p:nvPicPr>
        <p:blipFill>
          <a:blip r:embed="rId2"/>
          <a:srcRect l="5775" r="5331"/>
          <a:stretch>
            <a:fillRect/>
          </a:stretch>
        </p:blipFill>
        <p:spPr>
          <a:xfrm>
            <a:off x="0" y="0"/>
            <a:ext cx="7112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26400" y="1905000"/>
            <a:ext cx="91948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منهج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26400" y="2311400"/>
            <a:ext cx="9194800" cy="1143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منهجية متكاملة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 قراءة الأرض إلى أصل مُنتج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354584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26400" y="3964940"/>
            <a:ext cx="9194800" cy="1016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تبدأ من تقييم الأرض ونطاقها العمراني، وتنتهي بتشغيل أصل عقاري مُنتج ومستدام يحافظ على قيمته على المدى الطويل.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6400" y="49809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535400" y="51714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6400" y="51333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تقييم الأرض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6400" y="54889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تحليل الموقع والمحيط والفرص المحيطة به.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6400" y="60223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535400" y="62128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400" y="61747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التصور والتصميم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6400" y="65303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وضع فكرة المشروع ونموذجه الاستثماري بما يناسب الأرض.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6400" y="70637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535400" y="72542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6400" y="72161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التنفيذ والتفعيل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6400" y="75717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تحويل الفكرة إلى واقع على الأرض خلال فترة وجيزة.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6400" y="81051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535400" y="82956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6400" y="82575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التشغيل والمتابعة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6400" y="86131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إدارة النشاط واستمرارية العائد وتحديث الاستخدام عند الحاجة.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25" name="Picture 24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 dirty="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524000"/>
            <a:ext cx="13208000" cy="574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10000" y="5740400"/>
            <a:ext cx="13208000" cy="1524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8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7" name="Picture 6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8" name="Picture 7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الموقع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0" y="6172200"/>
            <a:ext cx="7874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الموقع والنطاق العمراني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62200" y="691083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47200" y="7279132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الموقع: حي الملك فهد، شارع العليا، الرياض.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" y="8051800"/>
            <a:ext cx="16154400" cy="952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175066" y="85344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75066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933" y="85344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6.00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933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921066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6800" y="85344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6933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31200" y="1727200"/>
            <a:ext cx="8890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175066" y="29972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75066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933" y="29972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933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921066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66800" y="29972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6933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graphicFrame>
        <p:nvGraphicFramePr>
          <p:cNvPr id="401" name="ProjectTable 401"/>
          <p:cNvGraphicFramePr>
            <a:graphicFrameLocks noGrp="1"/>
          </p:cNvGraphicFramePr>
          <p:nvPr/>
        </p:nvGraphicFramePr>
        <p:xfrm>
          <a:off x="1066800" y="4500000"/>
          <a:ext cx="16154400" cy="4875000"/>
        </p:xfrm>
        <a:graphic>
          <a:graphicData uri="http://schemas.openxmlformats.org/drawingml/2006/table">
            <a:tbl>
              <a:tblPr rtl="1" firstRow="1" bandRow="1"/>
              <a:tblGrid>
                <a:gridCol w="6000000"/>
                <a:gridCol w="3384800"/>
                <a:gridCol w="3384800"/>
                <a:gridCol w="3384800"/>
              </a:tblGrid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البند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شقق سكنية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المخصص من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مساحة الأرض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4,669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3,113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البناء على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المبنى عليها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2,335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1,556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3,891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معامل البناء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المسطحات البنائية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18,677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46,692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الأدوار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المساحة الصافية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البيعية الصافية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23,813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15,875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39,688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مساحة الوحدة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الوحدات السكنية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198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198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المواقف بالقبو لمكونات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381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556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مسطحات القبو بالمشروع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7,354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23,369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أدوار القبو -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f.jpg"/>
          <p:cNvPicPr>
            <a:picLocks noChangeAspect="1"/>
          </p:cNvPicPr>
          <p:nvPr/>
        </p:nvPicPr>
        <p:blipFill>
          <a:blip r:embed="rId2"/>
          <a:srcRect l="13724" r="13724"/>
          <a:stretch>
            <a:fillRect/>
          </a:stretch>
        </p:blipFill>
        <p:spPr>
          <a:xfrm>
            <a:off x="0" y="0"/>
            <a:ext cx="4978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397000"/>
            <a:ext cx="1127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الدراسة المالية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727200"/>
            <a:ext cx="112776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تكاليف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943600" y="8560000"/>
            <a:ext cx="11277600" cy="304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3411200" y="8890000"/>
            <a:ext cx="3810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تكلفة المشروع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8813800"/>
            <a:ext cx="5842000" cy="736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452,471,142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2" name="Picture 41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43" name="Picture 42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02" name="CostTable 402"/>
          <p:cNvGraphicFramePr>
            <a:graphicFrameLocks noGrp="1"/>
          </p:cNvGraphicFramePr>
          <p:nvPr/>
        </p:nvGraphicFramePr>
        <p:xfrm>
          <a:off x="5943600" y="2650000"/>
          <a:ext cx="11277600" cy="126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سعر المتر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شراء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21,000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163,422,000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36.12%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السعي والضريبة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163,422,000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3,500,000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0.77%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شراء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21,450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166,922,000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36.89%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3" name="CostTable 403"/>
          <p:cNvGraphicFramePr>
            <a:graphicFrameLocks noGrp="1"/>
          </p:cNvGraphicFramePr>
          <p:nvPr/>
        </p:nvGraphicFramePr>
        <p:xfrm>
          <a:off x="5943600" y="4060000"/>
          <a:ext cx="11277600" cy="189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البناء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سعر المتر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السكني شقق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3,700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103,656,240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22.91%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18,677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3,200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59,765,760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13.21%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القبو - مواقف وخدمات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23,369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2,700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63,097,234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13.95%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الموقع العام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3,891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1,750,950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0.39%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المباشرة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70,061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50.45%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4" name="CostTable 404"/>
          <p:cNvGraphicFramePr>
            <a:graphicFrameLocks noGrp="1"/>
          </p:cNvGraphicFramePr>
          <p:nvPr/>
        </p:nvGraphicFramePr>
        <p:xfrm>
          <a:off x="5943600" y="6100000"/>
          <a:ext cx="11277600" cy="189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غير المباشرة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التطوير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النسبة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المبلغ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الأخرى (تصاميم، إشراف، رسوم، تسويق)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7.59%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17,331,675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3.83%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الاحتياطي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2.50%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5,706,755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1.26%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أتعاب المطور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15.00%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34,240,528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7.57%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التكاليف الأخرى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57,278,958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12.66%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تكاليف التطوير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285,549,142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63.11%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e.jpg"/>
          <p:cNvPicPr>
            <a:picLocks noChangeAspect="1"/>
          </p:cNvPicPr>
          <p:nvPr/>
        </p:nvPicPr>
        <p:blipFill>
          <a:blip r:embed="rId2"/>
          <a:srcRect t="39439" b="39439"/>
          <a:stretch>
            <a:fillRect/>
          </a:stretch>
        </p:blipFill>
        <p:spPr>
          <a:xfrm>
            <a:off x="0" y="0"/>
            <a:ext cx="18288000" cy="3403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905000"/>
          </a:xfrm>
          <a:prstGeom prst="rect">
            <a:avLst/>
          </a:prstGeom>
          <a:gradFill rotWithShape="1">
            <a:gsLst>
              <a:gs pos="0">
                <a:srgbClr val="211611">
                  <a:alpha val="57999"/>
                </a:srgbClr>
              </a:gs>
              <a:gs pos="100000">
                <a:srgbClr val="211611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0" y="6604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ملخص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10414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25448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105,275,175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5448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صافي الدخل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56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168,462,684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56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حجم الاستثمار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938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6064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064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 dirty="0" err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مدة</a:t>
            </a:r>
            <a:r>
              <a:rPr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1300" b="1" dirty="0" err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المشروع</a:t>
            </a:r>
            <a:r>
              <a:rPr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lang="ar-SA"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(سنوات)</a:t>
            </a:r>
            <a:endParaRPr sz="1300" b="1" dirty="0">
              <a:solidFill>
                <a:srgbClr val="675246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79246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6372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62.49%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372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هامش الربح الكلي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554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6680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15.62%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هامش الربح السنوي (ROI)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جميع القيم بالريال السعودي ما لم يُذكر خلاف ذلك.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53" name="Picture 52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4" name="Picture 53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05" name="SalesTable 405"/>
          <p:cNvGraphicFramePr>
            <a:graphicFrameLocks noGrp="1"/>
          </p:cNvGraphicFramePr>
          <p:nvPr/>
        </p:nvGraphicFramePr>
        <p:xfrm>
          <a:off x="9372600" y="5350000"/>
          <a:ext cx="7848600" cy="24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بيع الشقق والمكاتب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المباعة - سكني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23,813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سعر المتر - سكني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14,000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المباعة - مكتبي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15,875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سعر المتر - 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المبيعات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587,385,360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6" name="CostSummaryTable 406"/>
          <p:cNvGraphicFramePr>
            <a:graphicFrameLocks noGrp="1"/>
          </p:cNvGraphicFramePr>
          <p:nvPr/>
        </p:nvGraphicFramePr>
        <p:xfrm>
          <a:off x="1066800" y="5350000"/>
          <a:ext cx="7848600" cy="24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166,922,000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المباني والإنشاءات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285,549,142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التمويل ورسوم الصندوق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29,639,044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التكاليف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482,110,185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الدخل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105,275,175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أرباح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9200" y="1727200"/>
            <a:ext cx="9652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أرباح المشروع وعائد المستثمر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6800" y="1905000"/>
            <a:ext cx="8128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صافي التدفق النقدي للمشروع، حافز الأداء، والعائد المحقق للمستثمر.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القيم بالريال السعودي. حافز الأداء وفق النموذج الاستثماري المعتمد للمشروع.</a:t>
            </a:r>
          </a:p>
        </p:txBody>
      </p:sp>
      <p:graphicFrame>
        <p:nvGraphicFramePr>
          <p:cNvPr id="407" name="ProfitTable 407"/>
          <p:cNvGraphicFramePr>
            <a:graphicFrameLocks noGrp="1"/>
          </p:cNvGraphicFramePr>
          <p:nvPr/>
        </p:nvGraphicFramePr>
        <p:xfrm>
          <a:off x="1066800" y="2850000"/>
          <a:ext cx="16154400" cy="1600000"/>
        </p:xfrm>
        <a:graphic>
          <a:graphicData uri="http://schemas.openxmlformats.org/drawingml/2006/table">
            <a:tbl>
              <a:tblPr rtl="1" firstRow="1" bandRow="1"/>
              <a:tblGrid>
                <a:gridCol w="12000000"/>
                <a:gridCol w="41544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أرباح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المبلغ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التدفق النقدي للمشروع - قبل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105,275,175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حافز الأداء (30% من الفائض فوق العائد المستهدف 10%)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16,539,671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الربح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88,735,503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8" name="InvestorTable 408"/>
          <p:cNvGraphicFramePr>
            <a:graphicFrameLocks noGrp="1"/>
          </p:cNvGraphicFramePr>
          <p:nvPr/>
        </p:nvGraphicFramePr>
        <p:xfrm>
          <a:off x="9372600" y="5100000"/>
          <a:ext cx="7848600" cy="28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 gridSpan="2"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الربح بعد خصم الحافز للمستثمر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ar-SA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التدفق النقدي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110,735,503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معدل العائد الداخلي IRR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14.36%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مدة المشروع (سنوات)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4.0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حجم الاستثمار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168,462,684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هامش الربح الكلي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65.73%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هامش الربح السنوي ROI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16.43%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</a:tr>
            </a:tbl>
          </a:graphicData>
        </a:graphic>
      </p:graphicFrame>
      <p:sp>
        <p:nvSpPr>
          <p:cNvPr id="409" name="TextBox 409"/>
          <p:cNvSpPr txBox="1"/>
          <p:nvPr/>
        </p:nvSpPr>
        <p:spPr>
          <a:xfrm>
            <a:off x="1066800" y="5100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400" b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صافي التدفق النقدي للمستثمر بعد حافز الأداء</a:t>
            </a:r>
          </a:p>
        </p:txBody>
      </p:sp>
      <p:sp>
        <p:nvSpPr>
          <p:cNvPr id="410" name="Rectangle 410"/>
          <p:cNvSpPr/>
          <p:nvPr/>
        </p:nvSpPr>
        <p:spPr>
          <a:xfrm>
            <a:off x="1066800" y="5404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" name="TextBox 411"/>
          <p:cNvSpPr txBox="1"/>
          <p:nvPr/>
        </p:nvSpPr>
        <p:spPr>
          <a:xfrm>
            <a:off x="1066800" y="5800000"/>
            <a:ext cx="78486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110,735,503</a:t>
            </a:r>
          </a:p>
        </p:txBody>
      </p:sp>
      <p:sp>
        <p:nvSpPr>
          <p:cNvPr id="412" name="TextBox 412"/>
          <p:cNvSpPr txBox="1"/>
          <p:nvPr/>
        </p:nvSpPr>
        <p:spPr>
          <a:xfrm>
            <a:off x="1066800" y="6600000"/>
            <a:ext cx="78486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ريال سعودي</a:t>
            </a:r>
          </a:p>
        </p:txBody>
      </p:sp>
      <p:sp>
        <p:nvSpPr>
          <p:cNvPr id="413" name="TextBox 413"/>
          <p:cNvSpPr txBox="1"/>
          <p:nvPr/>
        </p:nvSpPr>
        <p:spPr>
          <a:xfrm>
            <a:off x="1066800" y="7300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400" b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هامش الربح السنوي ROI بعد حافز الأداء</a:t>
            </a:r>
          </a:p>
        </p:txBody>
      </p:sp>
      <p:sp>
        <p:nvSpPr>
          <p:cNvPr id="414" name="Rectangle 414"/>
          <p:cNvSpPr/>
          <p:nvPr/>
        </p:nvSpPr>
        <p:spPr>
          <a:xfrm>
            <a:off x="1066800" y="7604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5" name="TextBox 415"/>
          <p:cNvSpPr txBox="1"/>
          <p:nvPr/>
        </p:nvSpPr>
        <p:spPr>
          <a:xfrm>
            <a:off x="1066800" y="7800000"/>
            <a:ext cx="78486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16.43%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a.jpg"/>
          <p:cNvPicPr>
            <a:picLocks noChangeAspect="1"/>
          </p:cNvPicPr>
          <p:nvPr/>
        </p:nvPicPr>
        <p:blipFill>
          <a:blip r:embed="rId2"/>
          <a:srcRect t="20505" b="24071"/>
          <a:stretch>
            <a:fillRect/>
          </a:stretch>
        </p:blipFill>
        <p:spPr>
          <a:xfrm>
            <a:off x="406400" y="1143000"/>
            <a:ext cx="159512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684000" y="3175000"/>
            <a:ext cx="4470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090400" y="3708400"/>
            <a:ext cx="365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الواجهات الخارجية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90400" y="4140200"/>
            <a:ext cx="3657600" cy="1651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4000"/>
              </a:lnSpc>
              <a:spcAft>
                <a:spcPts val="0"/>
              </a:spcAft>
            </a:pPr>
            <a:r>
              <a:rPr lang="ar-SA" sz="1600" b="0" i="0" u="none" strike="noStrike" dirty="0">
                <a:solidFill>
                  <a:srgbClr val="000000"/>
                </a:solidFill>
                <a:effectLst/>
                <a:latin typeface="Bahij TheSansArabic"/>
                <a:cs typeface="Arial" panose="02040503050201020203" pitchFamily="18" charset="-78"/>
              </a:rPr>
              <a:t>واجهات بتصميم معاصر وبسيط، تتكامل مع الهوية السكنية للمشروع وتوحّد الطابع المعماري للوحدات.</a:t>
            </a:r>
            <a:endParaRPr sz="1650" b="0" dirty="0">
              <a:solidFill>
                <a:srgbClr val="675246"/>
              </a:solidFill>
              <a:latin typeface="Bahij TheSansArabic"/>
              <a:ea typeface="Arial"/>
              <a:cs typeface="Arial" panose="02040503050201020203" pitchFamily="18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4046200" y="5791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06400" y="9423400"/>
            <a:ext cx="660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الواجهة الرئيسية — منظور خارجي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g.jpg"/>
          <p:cNvPicPr>
            <a:picLocks noChangeAspect="1"/>
          </p:cNvPicPr>
          <p:nvPr/>
        </p:nvPicPr>
        <p:blipFill>
          <a:blip r:embed="rId2"/>
          <a:srcRect t="19088" b="19088"/>
          <a:stretch>
            <a:fillRect/>
          </a:stretch>
        </p:blipFill>
        <p:spPr>
          <a:xfrm>
            <a:off x="0" y="0"/>
            <a:ext cx="11074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39600" y="4826000"/>
            <a:ext cx="5181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المساحات المشتركة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39600" y="5232400"/>
            <a:ext cx="5181600" cy="1219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أفنية ومرافق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مشتركة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6528815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39600" y="6922515"/>
            <a:ext cx="5181600" cy="1905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أفنية ومظلات وعناصر خدمية مشتركة تربط مكوّنات المشروع وتمنح السكّان فراغًا خارجيًا مُهيّأ على مدار العام.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39600" y="8890000"/>
            <a:ext cx="5181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منظور للفناء الداخلي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c.jpg"/>
          <p:cNvPicPr>
            <a:picLocks noChangeAspect="1"/>
          </p:cNvPicPr>
          <p:nvPr/>
        </p:nvPicPr>
        <p:blipFill>
          <a:blip r:embed="rId2"/>
          <a:srcRect t="30247" b="35507"/>
          <a:stretch>
            <a:fillRect/>
          </a:stretch>
        </p:blipFill>
        <p:spPr>
          <a:xfrm>
            <a:off x="3810000" y="0"/>
            <a:ext cx="14478000" cy="7315200"/>
          </a:xfrm>
          <a:prstGeom prst="rect">
            <a:avLst/>
          </a:prstGeom>
        </p:spPr>
      </p:pic>
      <p:pic>
        <p:nvPicPr>
          <p:cNvPr id="4" name="Picture 3" descr="ext_d.jpg"/>
          <p:cNvPicPr>
            <a:picLocks noChangeAspect="1"/>
          </p:cNvPicPr>
          <p:nvPr/>
        </p:nvPicPr>
        <p:blipFill>
          <a:blip r:embed="rId3"/>
          <a:srcRect t="11575" b="11575"/>
          <a:stretch>
            <a:fillRect/>
          </a:stretch>
        </p:blipFill>
        <p:spPr>
          <a:xfrm>
            <a:off x="1066800" y="5181600"/>
            <a:ext cx="5334000" cy="381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66800" y="5181600"/>
            <a:ext cx="5334000" cy="381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519400" y="8622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347200" y="8990838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تدرّج الكتل والمظلات والمعالجات البصرية للواجهات.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a.jpg"/>
          <p:cNvPicPr>
            <a:picLocks noChangeAspect="1"/>
          </p:cNvPicPr>
          <p:nvPr/>
        </p:nvPicPr>
        <p:blipFill>
          <a:blip r:embed="rId2"/>
          <a:srcRect t="6396" b="6396"/>
          <a:stretch>
            <a:fillRect/>
          </a:stretch>
        </p:blipFill>
        <p:spPr>
          <a:xfrm>
            <a:off x="0" y="0"/>
            <a:ext cx="10033000" cy="10287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5519400" y="648919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47400" y="8890000"/>
            <a:ext cx="62738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الصالة الرئيسية — منظور داخلي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c.jpg"/>
          <p:cNvPicPr>
            <a:picLocks noChangeAspect="1"/>
          </p:cNvPicPr>
          <p:nvPr/>
        </p:nvPicPr>
        <p:blipFill>
          <a:blip r:embed="rId2"/>
          <a:srcRect t="22836" b="22836"/>
          <a:stretch>
            <a:fillRect/>
          </a:stretch>
        </p:blipFill>
        <p:spPr>
          <a:xfrm>
            <a:off x="0" y="0"/>
            <a:ext cx="11226800" cy="6858000"/>
          </a:xfrm>
          <a:prstGeom prst="rect">
            <a:avLst/>
          </a:prstGeom>
        </p:spPr>
      </p:pic>
      <p:pic>
        <p:nvPicPr>
          <p:cNvPr id="4" name="Picture 3" descr="int_d.jpg"/>
          <p:cNvPicPr>
            <a:picLocks noChangeAspect="1"/>
          </p:cNvPicPr>
          <p:nvPr/>
        </p:nvPicPr>
        <p:blipFill>
          <a:blip r:embed="rId3"/>
          <a:srcRect t="25048" b="25048"/>
          <a:stretch>
            <a:fillRect/>
          </a:stretch>
        </p:blipFill>
        <p:spPr>
          <a:xfrm>
            <a:off x="10414000" y="4191000"/>
            <a:ext cx="6807200" cy="508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414000" y="4191000"/>
            <a:ext cx="6807200" cy="508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77000" y="8429244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التصاميم الداخلية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99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3" name="Picture 12" descr="int_e.jpg"/>
          <p:cNvPicPr>
            <a:picLocks noChangeAspect="1"/>
          </p:cNvPicPr>
          <p:nvPr/>
        </p:nvPicPr>
        <p:blipFill>
          <a:blip r:embed="rId4"/>
          <a:srcRect t="4277" b="4277"/>
          <a:stretch>
            <a:fillRect/>
          </a:stretch>
        </p:blipFill>
        <p:spPr>
          <a:xfrm>
            <a:off x="1066800" y="3810000"/>
            <a:ext cx="5181600" cy="5334000"/>
          </a:xfrm>
          <a:prstGeom prst="rect">
            <a:avLst/>
          </a:prstGeom>
        </p:spPr>
      </p:pic>
      <p:pic>
        <p:nvPicPr>
          <p:cNvPr id="14" name="Picture 13" descr="int_g.jpg"/>
          <p:cNvPicPr>
            <a:picLocks noChangeAspect="1"/>
          </p:cNvPicPr>
          <p:nvPr/>
        </p:nvPicPr>
        <p:blipFill>
          <a:blip r:embed="rId5"/>
          <a:srcRect t="2229" b="2229"/>
          <a:stretch>
            <a:fillRect/>
          </a:stretch>
        </p:blipFill>
        <p:spPr>
          <a:xfrm>
            <a:off x="6604000" y="3327400"/>
            <a:ext cx="5181600" cy="5816600"/>
          </a:xfrm>
          <a:prstGeom prst="rect">
            <a:avLst/>
          </a:prstGeom>
        </p:spPr>
      </p:pic>
      <p:pic>
        <p:nvPicPr>
          <p:cNvPr id="15" name="Picture 14" descr="int_f.jpg"/>
          <p:cNvPicPr>
            <a:picLocks noChangeAspect="1"/>
          </p:cNvPicPr>
          <p:nvPr/>
        </p:nvPicPr>
        <p:blipFill>
          <a:blip r:embed="rId6"/>
          <a:srcRect t="24379" b="24379"/>
          <a:stretch>
            <a:fillRect/>
          </a:stretch>
        </p:blipFill>
        <p:spPr>
          <a:xfrm>
            <a:off x="12141200" y="3810000"/>
            <a:ext cx="51816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j.jpg"/>
          <p:cNvPicPr>
            <a:picLocks noChangeAspect="1"/>
          </p:cNvPicPr>
          <p:nvPr/>
        </p:nvPicPr>
        <p:blipFill>
          <a:blip r:embed="rId2"/>
          <a:srcRect t="24286" b="24286"/>
          <a:stretch>
            <a:fillRect/>
          </a:stretch>
        </p:blipFill>
        <p:spPr>
          <a:xfrm>
            <a:off x="5969000" y="0"/>
            <a:ext cx="12319000" cy="7924800"/>
          </a:xfrm>
          <a:prstGeom prst="rect">
            <a:avLst/>
          </a:prstGeom>
        </p:spPr>
      </p:pic>
      <p:pic>
        <p:nvPicPr>
          <p:cNvPr id="4" name="Picture 3" descr="int_k.jpg"/>
          <p:cNvPicPr>
            <a:picLocks noChangeAspect="1"/>
          </p:cNvPicPr>
          <p:nvPr/>
        </p:nvPicPr>
        <p:blipFill>
          <a:blip r:embed="rId3"/>
          <a:srcRect t="12714" b="12714"/>
          <a:stretch>
            <a:fillRect/>
          </a:stretch>
        </p:blipFill>
        <p:spPr>
          <a:xfrm>
            <a:off x="1066800" y="4470400"/>
            <a:ext cx="4292600" cy="345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800" y="2787650"/>
            <a:ext cx="4292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 dirty="0" err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التشطيبات</a:t>
            </a:r>
            <a:endParaRPr sz="1400" b="1" spc="60" dirty="0">
              <a:solidFill>
                <a:srgbClr val="A87E33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0" y="3403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69000" y="8737600"/>
            <a:ext cx="112522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69000" y="8966200"/>
            <a:ext cx="112522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مواد التشطيب النهائية ومستوى الإنهاء المستهدف.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1" name="Picture 10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2" name="Picture 11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>
              <a:latin typeface="Bahij TheSansArab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93100" y="2768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048000" y="3327400"/>
            <a:ext cx="12192000" cy="254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 رسمٍ أولي …</a:t>
            </a:r>
          </a:p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إلى كيانٍ يكتمل.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0" y="5943600"/>
            <a:ext cx="12192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17</a:t>
            </a:r>
          </a:p>
        </p:txBody>
      </p:sp>
      <p:pic>
        <p:nvPicPr>
          <p:cNvPr id="13" name="Picture 1" descr="closing.jpg">
            <a:extLst>
              <a:ext uri="{FF2B5EF4-FFF2-40B4-BE49-F238E27FC236}">
                <a16:creationId xmlns:a16="http://schemas.microsoft.com/office/drawing/2014/main" id="{18EDDC5B-B58C-E558-250C-6F9F7BE1760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961" t="58402" r="12868"/>
          <a:stretch/>
        </p:blipFill>
        <p:spPr>
          <a:xfrm>
            <a:off x="0" y="6128123"/>
            <a:ext cx="18288000" cy="42791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829370"/>
            <a:ext cx="18288000" cy="2540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>
              <a:latin typeface="Bahij TheSansArab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.jpg"/>
          <p:cNvPicPr>
            <a:picLocks noChangeAspect="1"/>
          </p:cNvPicPr>
          <p:nvPr/>
        </p:nvPicPr>
        <p:blipFill>
          <a:blip r:embed="rId3"/>
          <a:srcRect l="10961" r="1286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699000"/>
            <a:ext cx="18288000" cy="5588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8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8500" y="4140200"/>
            <a:ext cx="3886200" cy="1397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7366000"/>
            <a:ext cx="11734800" cy="889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شكرًا لكم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0" y="9169400"/>
            <a:ext cx="117348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E6DED4"/>
                </a:solidFill>
                <a:latin typeface="Bahij TheSansArabic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730</Words>
  <Application>Microsoft Office PowerPoint</Application>
  <PresentationFormat>Custom</PresentationFormat>
  <Paragraphs>249</Paragraphs>
  <Slides>17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Bahij TheSansArabic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Wagdy</dc:creator>
  <cp:keywords/>
  <dc:description>generated using python-pptx</dc:description>
  <cp:lastModifiedBy>Wagdy Mahmoud Elsayed</cp:lastModifiedBy>
  <cp:revision>4</cp:revision>
  <dcterms:created xsi:type="dcterms:W3CDTF">2013-01-27T09:14:16Z</dcterms:created>
  <dcterms:modified xsi:type="dcterms:W3CDTF">2026-10-06T06:47:32Z</dcterms:modified>
  <cp:category/>
</cp:coreProperties>
</file>