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 snapToGrid="0" snapToObjects="1">
      <p:cViewPr varScale="1">
        <p:scale>
          <a:sx n="71" d="100"/>
          <a:sy n="71" d="100"/>
        </p:scale>
        <p:origin x="7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7A772E8-3A12-D147-BF92-03536E12A529}" type="datetimeFigureOut">
              <a:rPr lang="ar-SA" smtClean="0"/>
              <a:t>24 ربيع الثاني، 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134E2B4-A618-D048-9839-933AAECD01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401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4E2B4-A618-D048-9839-933AAECD0163}" type="slidenum">
              <a:rPr lang="ar-SA" smtClean="0"/>
              <a:t>16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62236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rcRect l="16" r="1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77000"/>
            <a:ext cx="18288000" cy="3810000"/>
          </a:xfrm>
          <a:prstGeom prst="rect">
            <a:avLst/>
          </a:prstGeom>
          <a:gradFill rotWithShape="1">
            <a:gsLst>
              <a:gs pos="0">
                <a:srgbClr val="211611">
                  <a:alpha val="0"/>
                </a:srgbClr>
              </a:gs>
              <a:gs pos="100000">
                <a:srgbClr val="211611">
                  <a:alpha val="4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4445000"/>
            <a:ext cx="3886200" cy="139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7442200"/>
            <a:ext cx="11734800" cy="7366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مشروع أرض العليا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8636000"/>
            <a:ext cx="123444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9194800"/>
            <a:ext cx="11734800" cy="3556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650" b="0">
                <a:solidFill>
                  <a:srgbClr val="F2ECE3"/>
                </a:solidFill>
                <a:latin typeface="Bahij TheSansArabic Light"/>
                <a:ea typeface="Bahij TheSansArabic Light"/>
                <a:cs typeface="Bahij TheSansArabic Light"/>
              </a:rPr>
              <a:t>شركة حصير للتطوير العقاري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FFFFFF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ement.jpg"/>
          <p:cNvPicPr>
            <a:picLocks noChangeAspect="1"/>
          </p:cNvPicPr>
          <p:nvPr/>
        </p:nvPicPr>
        <p:blipFill>
          <a:blip r:embed="rId2"/>
          <a:srcRect l="6" r="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3111500" y="787400"/>
            <a:ext cx="11430000" cy="7366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4100" b="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مشروع أرض العليا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111500" y="1498600"/>
            <a:ext cx="114300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عرض مشروع عقاري · شركة حصير للتطوير العقاري</a:t>
            </a:r>
          </a:p>
        </p:txBody>
      </p:sp>
      <p:sp>
        <p:nvSpPr>
          <p:cNvPr id="5" name="Rectangle 4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7" name="Picture 6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FFFFFF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Bahij TheSansArabic SemiLight"/>
                <a:ea typeface="Bahij TheSansArabic SemiLight"/>
                <a:cs typeface="Bahij TheSansArabic SemiLigh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ane.jpg"/>
          <p:cNvPicPr>
            <a:picLocks noChangeAspect="1"/>
          </p:cNvPicPr>
          <p:nvPr/>
        </p:nvPicPr>
        <p:blipFill>
          <a:blip r:embed="rId2"/>
          <a:srcRect l="5775" r="5331"/>
          <a:stretch>
            <a:fillRect/>
          </a:stretch>
        </p:blipFill>
        <p:spPr>
          <a:xfrm>
            <a:off x="0" y="0"/>
            <a:ext cx="7112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26400" y="1905000"/>
            <a:ext cx="91948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منهج العمل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26400" y="2311400"/>
            <a:ext cx="9194800" cy="1143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30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منهجية متكاملة</a:t>
            </a:r>
          </a:p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30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من قراءة الأرض إلى أصل مُنتج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9400" y="354584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26400" y="3964940"/>
            <a:ext cx="9194800" cy="1016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just" rtl="1">
              <a:lnSpc>
                <a:spcPct val="172000"/>
              </a:lnSpc>
              <a:spcAft>
                <a:spcPts val="0"/>
              </a:spcAft>
            </a:pPr>
            <a:r>
              <a:rPr sz="160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تبدأ من تقييم الأرض ونطاقها العمراني، وتنتهي بتشغيل أصل عقاري مُنتج ومستدام يحافظ على قيمته على المدى الطويل.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6400" y="4980940"/>
            <a:ext cx="91948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535400" y="5171440"/>
            <a:ext cx="68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6400" y="513334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تقييم الأرض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6400" y="5488940"/>
            <a:ext cx="8229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تحليل الموقع والمحيط والفرص المحيطة به.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6400" y="6022340"/>
            <a:ext cx="91948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535400" y="6212840"/>
            <a:ext cx="68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6400" y="617474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التصور والتصميم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6400" y="6530340"/>
            <a:ext cx="8229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وضع فكرة المشروع ونموذجه الاستثماري بما يناسب الأرض.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6400" y="7063740"/>
            <a:ext cx="91948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535400" y="7254240"/>
            <a:ext cx="68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6400" y="721614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التنفيذ والتفعيل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6400" y="7571740"/>
            <a:ext cx="8229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تحويل الفكرة إلى واقع على الأرض خلال فترة وجيزة.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6400" y="8105140"/>
            <a:ext cx="91948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535400" y="8295640"/>
            <a:ext cx="68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6400" y="825754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التشغيل والمتابعة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6400" y="8613140"/>
            <a:ext cx="8229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إدارة النشاط واستمرارية العائد وتحديث الاستخدام عند الحاجة.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1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6" y="8394700"/>
            <a:ext cx="304927" cy="622300"/>
          </a:xfrm>
          <a:prstGeom prst="rect">
            <a:avLst/>
          </a:prstGeom>
        </p:spPr>
      </p:pic>
      <p:pic>
        <p:nvPicPr>
          <p:cNvPr id="26" name="Picture 25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622300"/>
            <a:ext cx="1231900" cy="444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387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524000"/>
            <a:ext cx="13208000" cy="574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0" y="5740400"/>
            <a:ext cx="13208000" cy="15240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0000" y="1524000"/>
            <a:ext cx="3810000" cy="57404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8" name="Picture 7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44500"/>
            <a:ext cx="8509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4800" y="4953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الموقع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2000" y="558800"/>
            <a:ext cx="14986000" cy="1270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200" y="6172200"/>
            <a:ext cx="7874000" cy="533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28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الموقع والنطاق العمراني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19400" y="6910832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47200" y="7279132"/>
            <a:ext cx="7874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الموقع: حي الملك فهد، شارع العليا، الرياض.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" y="8051800"/>
            <a:ext cx="16154400" cy="952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75066" y="85344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rtlCol="1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7,782</a:t>
            </a:r>
            <a:r>
              <a:rPr sz="4000" b="0">
                <a:solidFill>
                  <a:srgbClr val="CC9C47"/>
                </a:solidFill>
                <a:latin typeface="Bahij TheSansArabic Light"/>
                <a:ea typeface="Bahij TheSansArabic Light"/>
                <a:cs typeface="Bahij TheSansArabic Light"/>
              </a:rPr>
              <a:t> م²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75066" y="91338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إجمالي مساحة الأرض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933" y="85344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6.00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933" y="91338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معامل البناء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921066" y="8585200"/>
            <a:ext cx="9525" cy="78740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6800" y="85344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rtlCol="1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46,692</a:t>
            </a:r>
            <a:r>
              <a:rPr sz="4000" b="0">
                <a:solidFill>
                  <a:srgbClr val="CC9C47"/>
                </a:solidFill>
                <a:latin typeface="Bahij TheSansArabic Light"/>
                <a:ea typeface="Bahij TheSansArabic Light"/>
                <a:cs typeface="Bahij TheSansArabic Light"/>
              </a:rPr>
              <a:t> م²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91338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المسطحات البنائية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6933" y="8585200"/>
            <a:ext cx="9525" cy="78740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5" name="Picture 4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44500"/>
            <a:ext cx="850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4800" y="4953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وصف المشروع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2000" y="558800"/>
            <a:ext cx="14986000" cy="1270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1200" y="1727200"/>
            <a:ext cx="8890000" cy="533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28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وصف المشروع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19400" y="23622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1905000"/>
            <a:ext cx="7112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l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البيانات كما وردت في مستندات المشروع المستلمة.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75066" y="29972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rtlCol="1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7,782</a:t>
            </a:r>
            <a:r>
              <a:rPr sz="4000" b="0">
                <a:solidFill>
                  <a:srgbClr val="CC9C47"/>
                </a:solidFill>
                <a:latin typeface="Bahij TheSansArabic Light"/>
                <a:ea typeface="Bahij TheSansArabic Light"/>
                <a:cs typeface="Bahij TheSansArabic Light"/>
              </a:rPr>
              <a:t> م²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75066" y="35966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إجمالي مساحة الأرض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933" y="29972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6.00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933" y="35966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معامل البناء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921066" y="3048000"/>
            <a:ext cx="9525" cy="78740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29972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rtlCol="1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46,692</a:t>
            </a:r>
            <a:r>
              <a:rPr sz="4000" b="0">
                <a:solidFill>
                  <a:srgbClr val="CC9C47"/>
                </a:solidFill>
                <a:latin typeface="Bahij TheSansArabic Light"/>
                <a:ea typeface="Bahij TheSansArabic Light"/>
                <a:cs typeface="Bahij TheSansArabic Light"/>
              </a:rPr>
              <a:t> م²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35966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المسطحات البنائية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6933" y="3048000"/>
            <a:ext cx="9525" cy="78740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1"/>
          <p:cNvSpPr txBox="1"/>
          <p:nvPr/>
        </p:nvSpPr>
        <p:spPr>
          <a:xfrm>
            <a:off x="9372600" y="49530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تفاصيل المشروع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116726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سكني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105226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مكتبي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93726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الإجمالي</a:t>
            </a:r>
          </a:p>
        </p:txBody>
      </p:sp>
      <p:sp>
        <p:nvSpPr>
          <p:cNvPr id="205" name="Rectangle 205"/>
          <p:cNvSpPr/>
          <p:nvPr/>
        </p:nvSpPr>
        <p:spPr>
          <a:xfrm>
            <a:off x="9372600" y="52578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12972600" y="54238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نسبة المخصص من الأرض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116726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60%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105226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40%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93726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100%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9372600" y="57467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1"/>
          <p:cNvSpPr txBox="1"/>
          <p:nvPr/>
        </p:nvSpPr>
        <p:spPr>
          <a:xfrm>
            <a:off x="12972600" y="58429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مساحة الأرض م²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116726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4,669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105226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3,113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93726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7,782</a:t>
            </a:r>
          </a:p>
        </p:txBody>
      </p:sp>
      <p:sp>
        <p:nvSpPr>
          <p:cNvPr id="215" name="Rectangle 215"/>
          <p:cNvSpPr/>
          <p:nvPr/>
        </p:nvSpPr>
        <p:spPr>
          <a:xfrm>
            <a:off x="9372600" y="61658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6"/>
          <p:cNvSpPr txBox="1"/>
          <p:nvPr/>
        </p:nvSpPr>
        <p:spPr>
          <a:xfrm>
            <a:off x="12972600" y="62620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نسبة البناء على الأرض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116726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50%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105226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50%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93726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50%</a:t>
            </a:r>
          </a:p>
        </p:txBody>
      </p:sp>
      <p:sp>
        <p:nvSpPr>
          <p:cNvPr id="220" name="Rectangle 220"/>
          <p:cNvSpPr/>
          <p:nvPr/>
        </p:nvSpPr>
        <p:spPr>
          <a:xfrm>
            <a:off x="9372600" y="65849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1"/>
          <p:cNvSpPr txBox="1"/>
          <p:nvPr/>
        </p:nvSpPr>
        <p:spPr>
          <a:xfrm>
            <a:off x="12972600" y="66811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المساحة المبنى عليها م²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116726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2,335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105226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1,556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93726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3,891</a:t>
            </a:r>
          </a:p>
        </p:txBody>
      </p:sp>
      <p:sp>
        <p:nvSpPr>
          <p:cNvPr id="225" name="Rectangle 225"/>
          <p:cNvSpPr/>
          <p:nvPr/>
        </p:nvSpPr>
        <p:spPr>
          <a:xfrm>
            <a:off x="9372600" y="70040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6"/>
          <p:cNvSpPr txBox="1"/>
          <p:nvPr/>
        </p:nvSpPr>
        <p:spPr>
          <a:xfrm>
            <a:off x="12972600" y="71002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معامل البناء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116726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6.00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105226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6.00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93726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6.00</a:t>
            </a:r>
          </a:p>
        </p:txBody>
      </p:sp>
      <p:sp>
        <p:nvSpPr>
          <p:cNvPr id="230" name="Rectangle 230"/>
          <p:cNvSpPr/>
          <p:nvPr/>
        </p:nvSpPr>
        <p:spPr>
          <a:xfrm>
            <a:off x="9372600" y="74231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1"/>
          <p:cNvSpPr txBox="1"/>
          <p:nvPr/>
        </p:nvSpPr>
        <p:spPr>
          <a:xfrm>
            <a:off x="12972600" y="75193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المسطحات البنائية م²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116726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28,015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105226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18,677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93726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46,692</a:t>
            </a:r>
          </a:p>
        </p:txBody>
      </p:sp>
      <p:sp>
        <p:nvSpPr>
          <p:cNvPr id="235" name="Rectangle 235"/>
          <p:cNvSpPr/>
          <p:nvPr/>
        </p:nvSpPr>
        <p:spPr>
          <a:xfrm>
            <a:off x="9372600" y="7842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6"/>
          <p:cNvSpPr txBox="1"/>
          <p:nvPr/>
        </p:nvSpPr>
        <p:spPr>
          <a:xfrm>
            <a:off x="12972600" y="79384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عدد الأدوار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116726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12.00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105226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12.00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93726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12.00</a:t>
            </a:r>
          </a:p>
        </p:txBody>
      </p:sp>
      <p:sp>
        <p:nvSpPr>
          <p:cNvPr id="240" name="Rectangle 240"/>
          <p:cNvSpPr/>
          <p:nvPr/>
        </p:nvSpPr>
        <p:spPr>
          <a:xfrm>
            <a:off x="9372600" y="82613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1"/>
          <p:cNvSpPr txBox="1"/>
          <p:nvPr/>
        </p:nvSpPr>
        <p:spPr>
          <a:xfrm>
            <a:off x="1066800" y="49530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المساحات البيعية والمواقف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33668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سكني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22168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مكتبي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10668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الإجمالي</a:t>
            </a:r>
          </a:p>
        </p:txBody>
      </p:sp>
      <p:sp>
        <p:nvSpPr>
          <p:cNvPr id="245" name="Rectangle 245"/>
          <p:cNvSpPr/>
          <p:nvPr/>
        </p:nvSpPr>
        <p:spPr>
          <a:xfrm>
            <a:off x="1066800" y="52578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6"/>
          <p:cNvSpPr txBox="1"/>
          <p:nvPr/>
        </p:nvSpPr>
        <p:spPr>
          <a:xfrm>
            <a:off x="4666800" y="54238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نسبة المساحة الصافية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33668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85%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22168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85%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10668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85%</a:t>
            </a:r>
          </a:p>
        </p:txBody>
      </p:sp>
      <p:sp>
        <p:nvSpPr>
          <p:cNvPr id="250" name="Rectangle 250"/>
          <p:cNvSpPr/>
          <p:nvPr/>
        </p:nvSpPr>
        <p:spPr>
          <a:xfrm>
            <a:off x="1066800" y="57467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1"/>
          <p:cNvSpPr txBox="1"/>
          <p:nvPr/>
        </p:nvSpPr>
        <p:spPr>
          <a:xfrm>
            <a:off x="4666800" y="58429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المساحات البيعية الصافية م²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33668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23,813</a:t>
            </a:r>
          </a:p>
        </p:txBody>
      </p:sp>
      <p:sp>
        <p:nvSpPr>
          <p:cNvPr id="253" name="TextBox 253"/>
          <p:cNvSpPr txBox="1"/>
          <p:nvPr/>
        </p:nvSpPr>
        <p:spPr>
          <a:xfrm>
            <a:off x="22168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15,875</a:t>
            </a:r>
          </a:p>
        </p:txBody>
      </p:sp>
      <p:sp>
        <p:nvSpPr>
          <p:cNvPr id="254" name="TextBox 254"/>
          <p:cNvSpPr txBox="1"/>
          <p:nvPr/>
        </p:nvSpPr>
        <p:spPr>
          <a:xfrm>
            <a:off x="10668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39,688</a:t>
            </a:r>
          </a:p>
        </p:txBody>
      </p:sp>
      <p:sp>
        <p:nvSpPr>
          <p:cNvPr id="255" name="Rectangle 255"/>
          <p:cNvSpPr/>
          <p:nvPr/>
        </p:nvSpPr>
        <p:spPr>
          <a:xfrm>
            <a:off x="1066800" y="61658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6"/>
          <p:cNvSpPr txBox="1"/>
          <p:nvPr/>
        </p:nvSpPr>
        <p:spPr>
          <a:xfrm>
            <a:off x="4666800" y="62620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متوسط مساحة الوحدة م²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33668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120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22168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-</a:t>
            </a:r>
          </a:p>
        </p:txBody>
      </p:sp>
      <p:sp>
        <p:nvSpPr>
          <p:cNvPr id="259" name="TextBox 259"/>
          <p:cNvSpPr txBox="1"/>
          <p:nvPr/>
        </p:nvSpPr>
        <p:spPr>
          <a:xfrm>
            <a:off x="10668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-</a:t>
            </a:r>
          </a:p>
        </p:txBody>
      </p:sp>
      <p:sp>
        <p:nvSpPr>
          <p:cNvPr id="260" name="Rectangle 260"/>
          <p:cNvSpPr/>
          <p:nvPr/>
        </p:nvSpPr>
        <p:spPr>
          <a:xfrm>
            <a:off x="1066800" y="65849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1"/>
          <p:cNvSpPr txBox="1"/>
          <p:nvPr/>
        </p:nvSpPr>
        <p:spPr>
          <a:xfrm>
            <a:off x="4666800" y="66811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عدد الوحدات السكنية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33668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198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22168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-</a:t>
            </a:r>
          </a:p>
        </p:txBody>
      </p:sp>
      <p:sp>
        <p:nvSpPr>
          <p:cNvPr id="264" name="TextBox 264"/>
          <p:cNvSpPr txBox="1"/>
          <p:nvPr/>
        </p:nvSpPr>
        <p:spPr>
          <a:xfrm>
            <a:off x="10668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198</a:t>
            </a:r>
          </a:p>
        </p:txBody>
      </p:sp>
      <p:sp>
        <p:nvSpPr>
          <p:cNvPr id="265" name="Rectangle 265"/>
          <p:cNvSpPr/>
          <p:nvPr/>
        </p:nvSpPr>
        <p:spPr>
          <a:xfrm>
            <a:off x="1066800" y="70040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6"/>
          <p:cNvSpPr txBox="1"/>
          <p:nvPr/>
        </p:nvSpPr>
        <p:spPr>
          <a:xfrm>
            <a:off x="4666800" y="71002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عدد المواقف بالقبو لمكونات المشروع</a:t>
            </a:r>
          </a:p>
        </p:txBody>
      </p:sp>
      <p:sp>
        <p:nvSpPr>
          <p:cNvPr id="267" name="TextBox 267"/>
          <p:cNvSpPr txBox="1"/>
          <p:nvPr/>
        </p:nvSpPr>
        <p:spPr>
          <a:xfrm>
            <a:off x="33668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175</a:t>
            </a:r>
          </a:p>
        </p:txBody>
      </p:sp>
      <p:sp>
        <p:nvSpPr>
          <p:cNvPr id="268" name="TextBox 268"/>
          <p:cNvSpPr txBox="1"/>
          <p:nvPr/>
        </p:nvSpPr>
        <p:spPr>
          <a:xfrm>
            <a:off x="22168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381</a:t>
            </a:r>
          </a:p>
        </p:txBody>
      </p:sp>
      <p:sp>
        <p:nvSpPr>
          <p:cNvPr id="269" name="TextBox 269"/>
          <p:cNvSpPr txBox="1"/>
          <p:nvPr/>
        </p:nvSpPr>
        <p:spPr>
          <a:xfrm>
            <a:off x="10668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556</a:t>
            </a:r>
          </a:p>
        </p:txBody>
      </p:sp>
      <p:sp>
        <p:nvSpPr>
          <p:cNvPr id="270" name="Rectangle 270"/>
          <p:cNvSpPr/>
          <p:nvPr/>
        </p:nvSpPr>
        <p:spPr>
          <a:xfrm>
            <a:off x="1066800" y="74231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1"/>
          <p:cNvSpPr txBox="1"/>
          <p:nvPr/>
        </p:nvSpPr>
        <p:spPr>
          <a:xfrm>
            <a:off x="4666800" y="75193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إجمالي مسطحات القبو بالمشروع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33668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7,354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22168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16,015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10668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23,369</a:t>
            </a:r>
          </a:p>
        </p:txBody>
      </p:sp>
      <p:sp>
        <p:nvSpPr>
          <p:cNvPr id="275" name="Rectangle 275"/>
          <p:cNvSpPr/>
          <p:nvPr/>
        </p:nvSpPr>
        <p:spPr>
          <a:xfrm>
            <a:off x="1066800" y="7842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6"/>
          <p:cNvSpPr txBox="1"/>
          <p:nvPr/>
        </p:nvSpPr>
        <p:spPr>
          <a:xfrm>
            <a:off x="4666800" y="79384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عدد أدوار القبو - المشروع</a:t>
            </a:r>
          </a:p>
        </p:txBody>
      </p:sp>
      <p:sp>
        <p:nvSpPr>
          <p:cNvPr id="277" name="TextBox 277"/>
          <p:cNvSpPr txBox="1"/>
          <p:nvPr/>
        </p:nvSpPr>
        <p:spPr>
          <a:xfrm>
            <a:off x="33668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1.6</a:t>
            </a:r>
          </a:p>
        </p:txBody>
      </p:sp>
      <p:sp>
        <p:nvSpPr>
          <p:cNvPr id="278" name="TextBox 278"/>
          <p:cNvSpPr txBox="1"/>
          <p:nvPr/>
        </p:nvSpPr>
        <p:spPr>
          <a:xfrm>
            <a:off x="22168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5.1</a:t>
            </a:r>
          </a:p>
        </p:txBody>
      </p:sp>
      <p:sp>
        <p:nvSpPr>
          <p:cNvPr id="279" name="TextBox 279"/>
          <p:cNvSpPr txBox="1"/>
          <p:nvPr/>
        </p:nvSpPr>
        <p:spPr>
          <a:xfrm>
            <a:off x="10668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3</a:t>
            </a:r>
          </a:p>
        </p:txBody>
      </p:sp>
      <p:sp>
        <p:nvSpPr>
          <p:cNvPr id="280" name="Rectangle 280"/>
          <p:cNvSpPr/>
          <p:nvPr/>
        </p:nvSpPr>
        <p:spPr>
          <a:xfrm>
            <a:off x="1066800" y="82613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f.jpg"/>
          <p:cNvPicPr>
            <a:picLocks noChangeAspect="1"/>
          </p:cNvPicPr>
          <p:nvPr/>
        </p:nvPicPr>
        <p:blipFill>
          <a:blip r:embed="rId2"/>
          <a:srcRect l="13724" r="13724"/>
          <a:stretch>
            <a:fillRect/>
          </a:stretch>
        </p:blipFill>
        <p:spPr>
          <a:xfrm>
            <a:off x="0" y="0"/>
            <a:ext cx="49784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97000"/>
            <a:ext cx="1127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الدراسة المالية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727200"/>
            <a:ext cx="11277600" cy="533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28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تكاليف المشروع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9400" y="23622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0" y="8560000"/>
            <a:ext cx="11277600" cy="304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411200" y="8890000"/>
            <a:ext cx="3810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21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تكلفة المشروع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11200" y="93472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ريال سعودي  ·  100٪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8813800"/>
            <a:ext cx="5842000" cy="736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4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452,471,142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1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6" y="8394700"/>
            <a:ext cx="304927" cy="622300"/>
          </a:xfrm>
          <a:prstGeom prst="rect">
            <a:avLst/>
          </a:prstGeom>
        </p:spPr>
      </p:pic>
      <p:pic>
        <p:nvPicPr>
          <p:cNvPr id="43" name="Picture 42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622300"/>
            <a:ext cx="1231900" cy="4445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387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</a:t>
            </a:r>
          </a:p>
        </p:txBody>
      </p:sp>
      <p:sp>
        <p:nvSpPr>
          <p:cNvPr id="281" name="TextBox 281"/>
          <p:cNvSpPr txBox="1"/>
          <p:nvPr/>
        </p:nvSpPr>
        <p:spPr>
          <a:xfrm>
            <a:off x="5943600" y="2650000"/>
            <a:ext cx="1127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تكلفة الأرض</a:t>
            </a:r>
          </a:p>
        </p:txBody>
      </p:sp>
      <p:sp>
        <p:nvSpPr>
          <p:cNvPr id="282" name="TextBox 282"/>
          <p:cNvSpPr txBox="1"/>
          <p:nvPr/>
        </p:nvSpPr>
        <p:spPr>
          <a:xfrm>
            <a:off x="5943600" y="26500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36.89٪</a:t>
            </a:r>
          </a:p>
        </p:txBody>
      </p:sp>
      <p:sp>
        <p:nvSpPr>
          <p:cNvPr id="283" name="Rectangle 283"/>
          <p:cNvSpPr/>
          <p:nvPr/>
        </p:nvSpPr>
        <p:spPr>
          <a:xfrm>
            <a:off x="5943600" y="29548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4"/>
          <p:cNvSpPr txBox="1"/>
          <p:nvPr/>
        </p:nvSpPr>
        <p:spPr>
          <a:xfrm>
            <a:off x="8543600" y="304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شراء الأرض (7,782 م² × 21,000 ريال)</a:t>
            </a:r>
          </a:p>
        </p:txBody>
      </p:sp>
      <p:sp>
        <p:nvSpPr>
          <p:cNvPr id="285" name="TextBox 285"/>
          <p:cNvSpPr txBox="1"/>
          <p:nvPr/>
        </p:nvSpPr>
        <p:spPr>
          <a:xfrm>
            <a:off x="5943600" y="304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163,422,000</a:t>
            </a:r>
          </a:p>
        </p:txBody>
      </p:sp>
      <p:sp>
        <p:nvSpPr>
          <p:cNvPr id="286" name="Rectangle 286"/>
          <p:cNvSpPr/>
          <p:nvPr/>
        </p:nvSpPr>
        <p:spPr>
          <a:xfrm>
            <a:off x="5943600" y="331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7"/>
          <p:cNvSpPr txBox="1"/>
          <p:nvPr/>
        </p:nvSpPr>
        <p:spPr>
          <a:xfrm>
            <a:off x="8543600" y="336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السعي والضريبة</a:t>
            </a:r>
          </a:p>
        </p:txBody>
      </p:sp>
      <p:sp>
        <p:nvSpPr>
          <p:cNvPr id="288" name="TextBox 288"/>
          <p:cNvSpPr txBox="1"/>
          <p:nvPr/>
        </p:nvSpPr>
        <p:spPr>
          <a:xfrm>
            <a:off x="5943600" y="336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3,500,000</a:t>
            </a:r>
          </a:p>
        </p:txBody>
      </p:sp>
      <p:sp>
        <p:nvSpPr>
          <p:cNvPr id="289" name="Rectangle 289"/>
          <p:cNvSpPr/>
          <p:nvPr/>
        </p:nvSpPr>
        <p:spPr>
          <a:xfrm>
            <a:off x="5943600" y="363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90"/>
          <p:cNvSpPr/>
          <p:nvPr/>
        </p:nvSpPr>
        <p:spPr>
          <a:xfrm>
            <a:off x="5943600" y="36350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1"/>
          <p:cNvSpPr txBox="1"/>
          <p:nvPr/>
        </p:nvSpPr>
        <p:spPr>
          <a:xfrm>
            <a:off x="8543600" y="368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تكلفة شراء الأرض</a:t>
            </a:r>
          </a:p>
        </p:txBody>
      </p:sp>
      <p:sp>
        <p:nvSpPr>
          <p:cNvPr id="292" name="TextBox 292"/>
          <p:cNvSpPr txBox="1"/>
          <p:nvPr/>
        </p:nvSpPr>
        <p:spPr>
          <a:xfrm>
            <a:off x="5943600" y="368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166,922,000</a:t>
            </a:r>
          </a:p>
        </p:txBody>
      </p:sp>
      <p:sp>
        <p:nvSpPr>
          <p:cNvPr id="293" name="TextBox 293"/>
          <p:cNvSpPr txBox="1"/>
          <p:nvPr/>
        </p:nvSpPr>
        <p:spPr>
          <a:xfrm>
            <a:off x="5943600" y="4120000"/>
            <a:ext cx="1127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تكلفة البناء</a:t>
            </a:r>
          </a:p>
        </p:txBody>
      </p:sp>
      <p:sp>
        <p:nvSpPr>
          <p:cNvPr id="294" name="TextBox 294"/>
          <p:cNvSpPr txBox="1"/>
          <p:nvPr/>
        </p:nvSpPr>
        <p:spPr>
          <a:xfrm>
            <a:off x="5943600" y="41200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50.45٪</a:t>
            </a:r>
          </a:p>
        </p:txBody>
      </p:sp>
      <p:sp>
        <p:nvSpPr>
          <p:cNvPr id="295" name="Rectangle 295"/>
          <p:cNvSpPr/>
          <p:nvPr/>
        </p:nvSpPr>
        <p:spPr>
          <a:xfrm>
            <a:off x="5943600" y="44248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6"/>
          <p:cNvSpPr txBox="1"/>
          <p:nvPr/>
        </p:nvSpPr>
        <p:spPr>
          <a:xfrm>
            <a:off x="8543600" y="451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السكني شقق (28,015 م² × 3,700 ريال)</a:t>
            </a:r>
          </a:p>
        </p:txBody>
      </p:sp>
      <p:sp>
        <p:nvSpPr>
          <p:cNvPr id="297" name="TextBox 297"/>
          <p:cNvSpPr txBox="1"/>
          <p:nvPr/>
        </p:nvSpPr>
        <p:spPr>
          <a:xfrm>
            <a:off x="5943600" y="451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103,656,240</a:t>
            </a:r>
          </a:p>
        </p:txBody>
      </p:sp>
      <p:sp>
        <p:nvSpPr>
          <p:cNvPr id="298" name="Rectangle 298"/>
          <p:cNvSpPr/>
          <p:nvPr/>
        </p:nvSpPr>
        <p:spPr>
          <a:xfrm>
            <a:off x="5943600" y="478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9"/>
          <p:cNvSpPr txBox="1"/>
          <p:nvPr/>
        </p:nvSpPr>
        <p:spPr>
          <a:xfrm>
            <a:off x="8543600" y="483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المكتبي (18,677 م² × 3,200 ريال)</a:t>
            </a:r>
          </a:p>
        </p:txBody>
      </p:sp>
      <p:sp>
        <p:nvSpPr>
          <p:cNvPr id="300" name="TextBox 300"/>
          <p:cNvSpPr txBox="1"/>
          <p:nvPr/>
        </p:nvSpPr>
        <p:spPr>
          <a:xfrm>
            <a:off x="5943600" y="483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59,765,760</a:t>
            </a:r>
          </a:p>
        </p:txBody>
      </p:sp>
      <p:sp>
        <p:nvSpPr>
          <p:cNvPr id="301" name="Rectangle 301"/>
          <p:cNvSpPr/>
          <p:nvPr/>
        </p:nvSpPr>
        <p:spPr>
          <a:xfrm>
            <a:off x="5943600" y="510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TextBox 302"/>
          <p:cNvSpPr txBox="1"/>
          <p:nvPr/>
        </p:nvSpPr>
        <p:spPr>
          <a:xfrm>
            <a:off x="8543600" y="515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القبو - مواقف وخدمات (23,369 م² × 2,700 ريال)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5943600" y="515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63,097,234</a:t>
            </a:r>
          </a:p>
        </p:txBody>
      </p:sp>
      <p:sp>
        <p:nvSpPr>
          <p:cNvPr id="304" name="Rectangle 304"/>
          <p:cNvSpPr/>
          <p:nvPr/>
        </p:nvSpPr>
        <p:spPr>
          <a:xfrm>
            <a:off x="5943600" y="542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5"/>
          <p:cNvSpPr txBox="1"/>
          <p:nvPr/>
        </p:nvSpPr>
        <p:spPr>
          <a:xfrm>
            <a:off x="8543600" y="547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الموقع العام (3,891 م² × 450 ريال)</a:t>
            </a:r>
          </a:p>
        </p:txBody>
      </p:sp>
      <p:sp>
        <p:nvSpPr>
          <p:cNvPr id="306" name="TextBox 306"/>
          <p:cNvSpPr txBox="1"/>
          <p:nvPr/>
        </p:nvSpPr>
        <p:spPr>
          <a:xfrm>
            <a:off x="5943600" y="547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1,750,950</a:t>
            </a:r>
          </a:p>
        </p:txBody>
      </p:sp>
      <p:sp>
        <p:nvSpPr>
          <p:cNvPr id="307" name="Rectangle 307"/>
          <p:cNvSpPr/>
          <p:nvPr/>
        </p:nvSpPr>
        <p:spPr>
          <a:xfrm>
            <a:off x="5943600" y="574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Rectangle 308"/>
          <p:cNvSpPr/>
          <p:nvPr/>
        </p:nvSpPr>
        <p:spPr>
          <a:xfrm>
            <a:off x="5943600" y="57450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9"/>
          <p:cNvSpPr txBox="1"/>
          <p:nvPr/>
        </p:nvSpPr>
        <p:spPr>
          <a:xfrm>
            <a:off x="8543600" y="579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التكاليف المباشرة</a:t>
            </a:r>
          </a:p>
        </p:txBody>
      </p:sp>
      <p:sp>
        <p:nvSpPr>
          <p:cNvPr id="310" name="TextBox 310"/>
          <p:cNvSpPr txBox="1"/>
          <p:nvPr/>
        </p:nvSpPr>
        <p:spPr>
          <a:xfrm>
            <a:off x="5943600" y="579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228,270,184</a:t>
            </a:r>
          </a:p>
        </p:txBody>
      </p:sp>
      <p:sp>
        <p:nvSpPr>
          <p:cNvPr id="311" name="TextBox 311"/>
          <p:cNvSpPr txBox="1"/>
          <p:nvPr/>
        </p:nvSpPr>
        <p:spPr>
          <a:xfrm>
            <a:off x="5943600" y="6230000"/>
            <a:ext cx="1127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التكاليف غير المباشرة</a:t>
            </a:r>
          </a:p>
        </p:txBody>
      </p:sp>
      <p:sp>
        <p:nvSpPr>
          <p:cNvPr id="312" name="TextBox 312"/>
          <p:cNvSpPr txBox="1"/>
          <p:nvPr/>
        </p:nvSpPr>
        <p:spPr>
          <a:xfrm>
            <a:off x="5943600" y="62300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12.66٪</a:t>
            </a:r>
          </a:p>
        </p:txBody>
      </p:sp>
      <p:sp>
        <p:nvSpPr>
          <p:cNvPr id="313" name="Rectangle 313"/>
          <p:cNvSpPr/>
          <p:nvPr/>
        </p:nvSpPr>
        <p:spPr>
          <a:xfrm>
            <a:off x="5943600" y="65348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TextBox 314"/>
          <p:cNvSpPr txBox="1"/>
          <p:nvPr/>
        </p:nvSpPr>
        <p:spPr>
          <a:xfrm>
            <a:off x="8543600" y="662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التكاليف الأخرى: التصاميم والإشراف الهندسي والرسوم الحكومية والتسويق (7.59%)</a:t>
            </a:r>
          </a:p>
        </p:txBody>
      </p:sp>
      <p:sp>
        <p:nvSpPr>
          <p:cNvPr id="315" name="TextBox 315"/>
          <p:cNvSpPr txBox="1"/>
          <p:nvPr/>
        </p:nvSpPr>
        <p:spPr>
          <a:xfrm>
            <a:off x="5943600" y="662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17,331,675</a:t>
            </a:r>
          </a:p>
        </p:txBody>
      </p:sp>
      <p:sp>
        <p:nvSpPr>
          <p:cNvPr id="316" name="Rectangle 316"/>
          <p:cNvSpPr/>
          <p:nvPr/>
        </p:nvSpPr>
        <p:spPr>
          <a:xfrm>
            <a:off x="5943600" y="689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7"/>
          <p:cNvSpPr txBox="1"/>
          <p:nvPr/>
        </p:nvSpPr>
        <p:spPr>
          <a:xfrm>
            <a:off x="8543600" y="694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الاحتياطي (2.50%)</a:t>
            </a:r>
          </a:p>
        </p:txBody>
      </p:sp>
      <p:sp>
        <p:nvSpPr>
          <p:cNvPr id="318" name="TextBox 318"/>
          <p:cNvSpPr txBox="1"/>
          <p:nvPr/>
        </p:nvSpPr>
        <p:spPr>
          <a:xfrm>
            <a:off x="5943600" y="694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5,706,755</a:t>
            </a:r>
          </a:p>
        </p:txBody>
      </p:sp>
      <p:sp>
        <p:nvSpPr>
          <p:cNvPr id="319" name="Rectangle 319"/>
          <p:cNvSpPr/>
          <p:nvPr/>
        </p:nvSpPr>
        <p:spPr>
          <a:xfrm>
            <a:off x="5943600" y="721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320"/>
          <p:cNvSpPr txBox="1"/>
          <p:nvPr/>
        </p:nvSpPr>
        <p:spPr>
          <a:xfrm>
            <a:off x="8543600" y="726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أتعاب المطور (15%)</a:t>
            </a:r>
          </a:p>
        </p:txBody>
      </p:sp>
      <p:sp>
        <p:nvSpPr>
          <p:cNvPr id="321" name="TextBox 321"/>
          <p:cNvSpPr txBox="1"/>
          <p:nvPr/>
        </p:nvSpPr>
        <p:spPr>
          <a:xfrm>
            <a:off x="5943600" y="726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34,240,528</a:t>
            </a:r>
          </a:p>
        </p:txBody>
      </p:sp>
      <p:sp>
        <p:nvSpPr>
          <p:cNvPr id="322" name="Rectangle 322"/>
          <p:cNvSpPr/>
          <p:nvPr/>
        </p:nvSpPr>
        <p:spPr>
          <a:xfrm>
            <a:off x="5943600" y="753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Rectangle 323"/>
          <p:cNvSpPr/>
          <p:nvPr/>
        </p:nvSpPr>
        <p:spPr>
          <a:xfrm>
            <a:off x="5943600" y="75350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324"/>
          <p:cNvSpPr txBox="1"/>
          <p:nvPr/>
        </p:nvSpPr>
        <p:spPr>
          <a:xfrm>
            <a:off x="8543600" y="758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إجمالي التكاليف الأخرى</a:t>
            </a:r>
          </a:p>
        </p:txBody>
      </p:sp>
      <p:sp>
        <p:nvSpPr>
          <p:cNvPr id="325" name="TextBox 325"/>
          <p:cNvSpPr txBox="1"/>
          <p:nvPr/>
        </p:nvSpPr>
        <p:spPr>
          <a:xfrm>
            <a:off x="5943600" y="758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57,278,958</a:t>
            </a:r>
          </a:p>
        </p:txBody>
      </p:sp>
      <p:sp>
        <p:nvSpPr>
          <p:cNvPr id="326" name="Rectangle 326"/>
          <p:cNvSpPr/>
          <p:nvPr/>
        </p:nvSpPr>
        <p:spPr>
          <a:xfrm>
            <a:off x="5943600" y="78550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7"/>
          <p:cNvSpPr txBox="1"/>
          <p:nvPr/>
        </p:nvSpPr>
        <p:spPr>
          <a:xfrm>
            <a:off x="8543600" y="790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إجمالي تكاليف التطوير</a:t>
            </a:r>
          </a:p>
        </p:txBody>
      </p:sp>
      <p:sp>
        <p:nvSpPr>
          <p:cNvPr id="328" name="TextBox 328"/>
          <p:cNvSpPr txBox="1"/>
          <p:nvPr/>
        </p:nvSpPr>
        <p:spPr>
          <a:xfrm>
            <a:off x="5943600" y="790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285,549,142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e.jpg"/>
          <p:cNvPicPr>
            <a:picLocks noChangeAspect="1"/>
          </p:cNvPicPr>
          <p:nvPr/>
        </p:nvPicPr>
        <p:blipFill>
          <a:blip r:embed="rId2"/>
          <a:srcRect t="39439" b="39439"/>
          <a:stretch>
            <a:fillRect/>
          </a:stretch>
        </p:blipFill>
        <p:spPr>
          <a:xfrm>
            <a:off x="0" y="0"/>
            <a:ext cx="18288000" cy="340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905000"/>
          </a:xfrm>
          <a:prstGeom prst="rect">
            <a:avLst/>
          </a:prstGeom>
          <a:gradFill rotWithShape="1">
            <a:gsLst>
              <a:gs pos="0">
                <a:srgbClr val="211611">
                  <a:alpha val="57999"/>
                </a:srgbClr>
              </a:gs>
              <a:gs pos="100000">
                <a:srgbClr val="211611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0" y="6604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ملخص المشروع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9400" y="10414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25448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105,275,175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5448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صافي الدخل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56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168,462,684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56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حجم الاستثمار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89380" y="4013200"/>
            <a:ext cx="9525" cy="61023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064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064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مدة المشروع (سنوات)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2460" y="4013200"/>
            <a:ext cx="9525" cy="61023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372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62.49%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372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هامش الربح الكلي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5540" y="4013200"/>
            <a:ext cx="9525" cy="61023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15.62%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هامش الربح السنوي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98620" y="4013200"/>
            <a:ext cx="9525" cy="61023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57404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بيع الشقق والمكاتب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60452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62112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المساحات المباعة - سكني م²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62112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23,813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65341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66303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متوسط سعر المتر - سكني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66303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14,000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6953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70494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المساحات المباعة - مكتبي م²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70494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15,875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73723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72600" y="74685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متوسط سعر المتر - مكتبي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74685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77914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600" y="78876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إجمالي المبيعات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78876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587,385,360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82105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09800" y="9575800"/>
            <a:ext cx="150114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جميع القيم بالريال السعودي ما لم يُذكر خلاف ذلك.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54" name="Picture 53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7</a:t>
            </a:r>
          </a:p>
        </p:txBody>
      </p:sp>
      <p:sp>
        <p:nvSpPr>
          <p:cNvPr id="329" name="TextBox 329"/>
          <p:cNvSpPr txBox="1"/>
          <p:nvPr/>
        </p:nvSpPr>
        <p:spPr>
          <a:xfrm>
            <a:off x="1066800" y="57404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تكاليف المشروع</a:t>
            </a:r>
          </a:p>
        </p:txBody>
      </p:sp>
      <p:sp>
        <p:nvSpPr>
          <p:cNvPr id="330" name="Rectangle 330"/>
          <p:cNvSpPr/>
          <p:nvPr/>
        </p:nvSpPr>
        <p:spPr>
          <a:xfrm>
            <a:off x="1066800" y="60452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TextBox 331"/>
          <p:cNvSpPr txBox="1"/>
          <p:nvPr/>
        </p:nvSpPr>
        <p:spPr>
          <a:xfrm>
            <a:off x="3454400" y="62112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تكلفة الأرض</a:t>
            </a:r>
          </a:p>
        </p:txBody>
      </p:sp>
      <p:sp>
        <p:nvSpPr>
          <p:cNvPr id="332" name="TextBox 332"/>
          <p:cNvSpPr txBox="1"/>
          <p:nvPr/>
        </p:nvSpPr>
        <p:spPr>
          <a:xfrm>
            <a:off x="1066800" y="62112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166,922,000</a:t>
            </a:r>
          </a:p>
        </p:txBody>
      </p:sp>
      <p:sp>
        <p:nvSpPr>
          <p:cNvPr id="333" name="Rectangle 333"/>
          <p:cNvSpPr/>
          <p:nvPr/>
        </p:nvSpPr>
        <p:spPr>
          <a:xfrm>
            <a:off x="1066800" y="65341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34"/>
          <p:cNvSpPr txBox="1"/>
          <p:nvPr/>
        </p:nvSpPr>
        <p:spPr>
          <a:xfrm>
            <a:off x="3454400" y="66303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تكاليف المباني والانشاءات</a:t>
            </a:r>
          </a:p>
        </p:txBody>
      </p:sp>
      <p:sp>
        <p:nvSpPr>
          <p:cNvPr id="335" name="TextBox 335"/>
          <p:cNvSpPr txBox="1"/>
          <p:nvPr/>
        </p:nvSpPr>
        <p:spPr>
          <a:xfrm>
            <a:off x="1066800" y="66303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285,549,142</a:t>
            </a:r>
          </a:p>
        </p:txBody>
      </p:sp>
      <p:sp>
        <p:nvSpPr>
          <p:cNvPr id="336" name="Rectangle 336"/>
          <p:cNvSpPr/>
          <p:nvPr/>
        </p:nvSpPr>
        <p:spPr>
          <a:xfrm>
            <a:off x="1066800" y="6953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7"/>
          <p:cNvSpPr txBox="1"/>
          <p:nvPr/>
        </p:nvSpPr>
        <p:spPr>
          <a:xfrm>
            <a:off x="3454400" y="70494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تكاليف التمويل ورسوم الصندوق</a:t>
            </a:r>
          </a:p>
        </p:txBody>
      </p:sp>
      <p:sp>
        <p:nvSpPr>
          <p:cNvPr id="338" name="TextBox 338"/>
          <p:cNvSpPr txBox="1"/>
          <p:nvPr/>
        </p:nvSpPr>
        <p:spPr>
          <a:xfrm>
            <a:off x="1066800" y="70494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29,639,044</a:t>
            </a:r>
          </a:p>
        </p:txBody>
      </p:sp>
      <p:sp>
        <p:nvSpPr>
          <p:cNvPr id="339" name="Rectangle 339"/>
          <p:cNvSpPr/>
          <p:nvPr/>
        </p:nvSpPr>
        <p:spPr>
          <a:xfrm>
            <a:off x="1066800" y="73723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Rectangle 340"/>
          <p:cNvSpPr/>
          <p:nvPr/>
        </p:nvSpPr>
        <p:spPr>
          <a:xfrm>
            <a:off x="1066800" y="742697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1"/>
          <p:cNvSpPr txBox="1"/>
          <p:nvPr/>
        </p:nvSpPr>
        <p:spPr>
          <a:xfrm>
            <a:off x="3454400" y="75185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إجمالي التكاليف</a:t>
            </a:r>
          </a:p>
        </p:txBody>
      </p:sp>
      <p:sp>
        <p:nvSpPr>
          <p:cNvPr id="342" name="TextBox 342"/>
          <p:cNvSpPr txBox="1"/>
          <p:nvPr/>
        </p:nvSpPr>
        <p:spPr>
          <a:xfrm>
            <a:off x="1066800" y="75185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482,110,185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3454400" y="81154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هامش الربح السنوي (ROI) قبل حافز الأداء</a:t>
            </a:r>
          </a:p>
        </p:txBody>
      </p:sp>
      <p:sp>
        <p:nvSpPr>
          <p:cNvPr id="344" name="TextBox 344"/>
          <p:cNvSpPr txBox="1"/>
          <p:nvPr/>
        </p:nvSpPr>
        <p:spPr>
          <a:xfrm>
            <a:off x="1066800" y="81154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15.62%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5" name="Picture 4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44500"/>
            <a:ext cx="850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4800" y="4953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أرباح المشروع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2000" y="558800"/>
            <a:ext cx="14986000" cy="1270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9200" y="1727200"/>
            <a:ext cx="9652000" cy="533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28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أرباح المشروع وعائد المستثمر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19400" y="23622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1905000"/>
            <a:ext cx="8128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l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صافي التدفق النقدي للمشروع، حافز الأداء، والعائد المحقق للمستثمر.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9800" y="9575800"/>
            <a:ext cx="150114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القيم بالريال السعودي. حافز الأداء وفق النموذج الاستثماري المعتمد للمشروع.</a:t>
            </a:r>
          </a:p>
        </p:txBody>
      </p:sp>
      <p:sp>
        <p:nvSpPr>
          <p:cNvPr id="345" name="TextBox 345"/>
          <p:cNvSpPr txBox="1"/>
          <p:nvPr/>
        </p:nvSpPr>
        <p:spPr>
          <a:xfrm>
            <a:off x="1066800" y="2895600"/>
            <a:ext cx="161544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أرباح المشروع</a:t>
            </a:r>
          </a:p>
        </p:txBody>
      </p:sp>
      <p:sp>
        <p:nvSpPr>
          <p:cNvPr id="346" name="TextBox 346"/>
          <p:cNvSpPr txBox="1"/>
          <p:nvPr/>
        </p:nvSpPr>
        <p:spPr>
          <a:xfrm>
            <a:off x="1066800" y="28956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المبلغ</a:t>
            </a:r>
          </a:p>
        </p:txBody>
      </p:sp>
      <p:sp>
        <p:nvSpPr>
          <p:cNvPr id="347" name="Rectangle 347"/>
          <p:cNvSpPr/>
          <p:nvPr/>
        </p:nvSpPr>
        <p:spPr>
          <a:xfrm>
            <a:off x="1066800" y="3200400"/>
            <a:ext cx="161544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TextBox 348"/>
          <p:cNvSpPr txBox="1"/>
          <p:nvPr/>
        </p:nvSpPr>
        <p:spPr>
          <a:xfrm>
            <a:off x="4266800" y="3368675"/>
            <a:ext cx="129544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صافي التدفق النقدي للمشروع قبل حافز الأداء</a:t>
            </a:r>
          </a:p>
        </p:txBody>
      </p:sp>
      <p:sp>
        <p:nvSpPr>
          <p:cNvPr id="349" name="TextBox 349"/>
          <p:cNvSpPr txBox="1"/>
          <p:nvPr/>
        </p:nvSpPr>
        <p:spPr>
          <a:xfrm>
            <a:off x="1066800" y="3368675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105,275,175</a:t>
            </a:r>
          </a:p>
        </p:txBody>
      </p:sp>
      <p:sp>
        <p:nvSpPr>
          <p:cNvPr id="350" name="Rectangle 350"/>
          <p:cNvSpPr/>
          <p:nvPr/>
        </p:nvSpPr>
        <p:spPr>
          <a:xfrm>
            <a:off x="1066800" y="3702050"/>
            <a:ext cx="161544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1"/>
          <p:cNvSpPr txBox="1"/>
          <p:nvPr/>
        </p:nvSpPr>
        <p:spPr>
          <a:xfrm>
            <a:off x="4266800" y="3800475"/>
            <a:ext cx="129544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حافز الأداء: 30% من الفائض فوق العائد المستهدف (10%)</a:t>
            </a:r>
          </a:p>
        </p:txBody>
      </p:sp>
      <p:sp>
        <p:nvSpPr>
          <p:cNvPr id="352" name="TextBox 352"/>
          <p:cNvSpPr txBox="1"/>
          <p:nvPr/>
        </p:nvSpPr>
        <p:spPr>
          <a:xfrm>
            <a:off x="1066800" y="3800475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16,539,671</a:t>
            </a:r>
          </a:p>
        </p:txBody>
      </p:sp>
      <p:sp>
        <p:nvSpPr>
          <p:cNvPr id="353" name="Rectangle 353"/>
          <p:cNvSpPr/>
          <p:nvPr/>
        </p:nvSpPr>
        <p:spPr>
          <a:xfrm>
            <a:off x="1066800" y="4133850"/>
            <a:ext cx="161544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Rectangle 354"/>
          <p:cNvSpPr/>
          <p:nvPr/>
        </p:nvSpPr>
        <p:spPr>
          <a:xfrm>
            <a:off x="1066800" y="4208095"/>
            <a:ext cx="161544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5"/>
          <p:cNvSpPr txBox="1"/>
          <p:nvPr/>
        </p:nvSpPr>
        <p:spPr>
          <a:xfrm>
            <a:off x="4266800" y="4272275"/>
            <a:ext cx="129544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صافي الربح بعد حافز الأداء</a:t>
            </a:r>
          </a:p>
        </p:txBody>
      </p:sp>
      <p:sp>
        <p:nvSpPr>
          <p:cNvPr id="356" name="TextBox 356"/>
          <p:cNvSpPr txBox="1"/>
          <p:nvPr/>
        </p:nvSpPr>
        <p:spPr>
          <a:xfrm>
            <a:off x="1066800" y="4272275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88,735,503</a:t>
            </a:r>
          </a:p>
        </p:txBody>
      </p:sp>
      <p:sp>
        <p:nvSpPr>
          <p:cNvPr id="357" name="TextBox 357"/>
          <p:cNvSpPr txBox="1"/>
          <p:nvPr/>
        </p:nvSpPr>
        <p:spPr>
          <a:xfrm>
            <a:off x="9372600" y="55372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مؤشرات المستثمر بعد خصم الحافز</a:t>
            </a:r>
          </a:p>
        </p:txBody>
      </p:sp>
      <p:sp>
        <p:nvSpPr>
          <p:cNvPr id="358" name="Rectangle 358"/>
          <p:cNvSpPr/>
          <p:nvPr/>
        </p:nvSpPr>
        <p:spPr>
          <a:xfrm>
            <a:off x="9372600" y="58420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9"/>
          <p:cNvSpPr txBox="1"/>
          <p:nvPr/>
        </p:nvSpPr>
        <p:spPr>
          <a:xfrm>
            <a:off x="12012600" y="60144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معدل العائد الداخلي (IRR) بعد حافز الأداء</a:t>
            </a:r>
          </a:p>
        </p:txBody>
      </p:sp>
      <p:sp>
        <p:nvSpPr>
          <p:cNvPr id="360" name="TextBox 360"/>
          <p:cNvSpPr txBox="1"/>
          <p:nvPr/>
        </p:nvSpPr>
        <p:spPr>
          <a:xfrm>
            <a:off x="9372600" y="60144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14.36%</a:t>
            </a:r>
          </a:p>
        </p:txBody>
      </p:sp>
      <p:sp>
        <p:nvSpPr>
          <p:cNvPr id="361" name="Rectangle 361"/>
          <p:cNvSpPr/>
          <p:nvPr/>
        </p:nvSpPr>
        <p:spPr>
          <a:xfrm>
            <a:off x="9372600" y="63436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TextBox 362"/>
          <p:cNvSpPr txBox="1"/>
          <p:nvPr/>
        </p:nvSpPr>
        <p:spPr>
          <a:xfrm>
            <a:off x="12012600" y="64462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مدة المشروع (سنوات)</a:t>
            </a:r>
          </a:p>
        </p:txBody>
      </p:sp>
      <p:sp>
        <p:nvSpPr>
          <p:cNvPr id="363" name="TextBox 363"/>
          <p:cNvSpPr txBox="1"/>
          <p:nvPr/>
        </p:nvSpPr>
        <p:spPr>
          <a:xfrm>
            <a:off x="9372600" y="64462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4.0</a:t>
            </a:r>
          </a:p>
        </p:txBody>
      </p:sp>
      <p:sp>
        <p:nvSpPr>
          <p:cNvPr id="364" name="Rectangle 364"/>
          <p:cNvSpPr/>
          <p:nvPr/>
        </p:nvSpPr>
        <p:spPr>
          <a:xfrm>
            <a:off x="9372600" y="67754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5"/>
          <p:cNvSpPr txBox="1"/>
          <p:nvPr/>
        </p:nvSpPr>
        <p:spPr>
          <a:xfrm>
            <a:off x="12012600" y="68780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حجم الاستثمار</a:t>
            </a:r>
          </a:p>
        </p:txBody>
      </p:sp>
      <p:sp>
        <p:nvSpPr>
          <p:cNvPr id="366" name="TextBox 366"/>
          <p:cNvSpPr txBox="1"/>
          <p:nvPr/>
        </p:nvSpPr>
        <p:spPr>
          <a:xfrm>
            <a:off x="9372600" y="68780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168,462,684</a:t>
            </a:r>
          </a:p>
        </p:txBody>
      </p:sp>
      <p:sp>
        <p:nvSpPr>
          <p:cNvPr id="367" name="Rectangle 367"/>
          <p:cNvSpPr/>
          <p:nvPr/>
        </p:nvSpPr>
        <p:spPr>
          <a:xfrm>
            <a:off x="9372600" y="7207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368"/>
          <p:cNvSpPr txBox="1"/>
          <p:nvPr/>
        </p:nvSpPr>
        <p:spPr>
          <a:xfrm>
            <a:off x="12012600" y="73098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هامش الربح الكلي</a:t>
            </a:r>
          </a:p>
        </p:txBody>
      </p:sp>
      <p:sp>
        <p:nvSpPr>
          <p:cNvPr id="369" name="TextBox 369"/>
          <p:cNvSpPr txBox="1"/>
          <p:nvPr/>
        </p:nvSpPr>
        <p:spPr>
          <a:xfrm>
            <a:off x="9372600" y="73098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65.73%</a:t>
            </a:r>
          </a:p>
        </p:txBody>
      </p:sp>
      <p:sp>
        <p:nvSpPr>
          <p:cNvPr id="370" name="Rectangle 370"/>
          <p:cNvSpPr/>
          <p:nvPr/>
        </p:nvSpPr>
        <p:spPr>
          <a:xfrm>
            <a:off x="9372600" y="76390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Rectangle 371"/>
          <p:cNvSpPr/>
          <p:nvPr/>
        </p:nvSpPr>
        <p:spPr>
          <a:xfrm>
            <a:off x="9372600" y="764667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372"/>
          <p:cNvSpPr txBox="1"/>
          <p:nvPr/>
        </p:nvSpPr>
        <p:spPr>
          <a:xfrm>
            <a:off x="12012600" y="77916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هامش الربح السنوي (ROI) بعد حافز الأداء</a:t>
            </a:r>
          </a:p>
        </p:txBody>
      </p:sp>
      <p:sp>
        <p:nvSpPr>
          <p:cNvPr id="373" name="TextBox 373"/>
          <p:cNvSpPr txBox="1"/>
          <p:nvPr/>
        </p:nvSpPr>
        <p:spPr>
          <a:xfrm>
            <a:off x="9372600" y="77916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16.43%</a:t>
            </a:r>
          </a:p>
        </p:txBody>
      </p:sp>
      <p:sp>
        <p:nvSpPr>
          <p:cNvPr id="374" name="TextBox 374"/>
          <p:cNvSpPr txBox="1"/>
          <p:nvPr/>
        </p:nvSpPr>
        <p:spPr>
          <a:xfrm>
            <a:off x="1066800" y="55372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صافي التدفق النقدي للمستثمر بعد حافز الأداء</a:t>
            </a:r>
          </a:p>
        </p:txBody>
      </p:sp>
      <p:sp>
        <p:nvSpPr>
          <p:cNvPr id="375" name="Rectangle 375"/>
          <p:cNvSpPr/>
          <p:nvPr/>
        </p:nvSpPr>
        <p:spPr>
          <a:xfrm>
            <a:off x="1066800" y="58420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76"/>
          <p:cNvSpPr txBox="1"/>
          <p:nvPr/>
        </p:nvSpPr>
        <p:spPr>
          <a:xfrm>
            <a:off x="1066800" y="6200000"/>
            <a:ext cx="7848600" cy="7366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44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110,735,503</a:t>
            </a:r>
          </a:p>
        </p:txBody>
      </p:sp>
      <p:sp>
        <p:nvSpPr>
          <p:cNvPr id="377" name="TextBox 377"/>
          <p:cNvSpPr txBox="1"/>
          <p:nvPr/>
        </p:nvSpPr>
        <p:spPr>
          <a:xfrm>
            <a:off x="1066800" y="6990000"/>
            <a:ext cx="78486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ريال سعودي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a.jpg"/>
          <p:cNvPicPr>
            <a:picLocks noChangeAspect="1"/>
          </p:cNvPicPr>
          <p:nvPr/>
        </p:nvPicPr>
        <p:blipFill>
          <a:blip r:embed="rId2"/>
          <a:srcRect t="20505" b="24071"/>
          <a:stretch>
            <a:fillRect/>
          </a:stretch>
        </p:blipFill>
        <p:spPr>
          <a:xfrm>
            <a:off x="406400" y="1143000"/>
            <a:ext cx="15951200" cy="8001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684000" y="3175000"/>
            <a:ext cx="4470400" cy="332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090400" y="3708400"/>
            <a:ext cx="365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الواجهات الخارجية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90400" y="4140200"/>
            <a:ext cx="3657600" cy="1651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just" rtl="1">
              <a:lnSpc>
                <a:spcPct val="174000"/>
              </a:lnSpc>
              <a:spcAft>
                <a:spcPts val="0"/>
              </a:spcAft>
            </a:pPr>
            <a:r>
              <a:rPr lang="ar-SA" sz="1600" b="0" i="0" u="none" strike="noStrike" dirty="0">
                <a:solidFill>
                  <a:srgbClr val="000000"/>
                </a:solidFill>
                <a:effectLst/>
                <a:latin typeface="Bahij TheSansArabic SemiLight" panose="02040503050201020203" pitchFamily="18" charset="-78"/>
                <a:cs typeface="Bahij TheSansArabic SemiLight" panose="02040503050201020203" pitchFamily="18" charset="-78"/>
              </a:rPr>
              <a:t>واجهات بتصميم معاصر وبسيط، تتكامل مع الهوية السكنية للمشروع وتوحّد الطابع المعماري للوحدات.</a:t>
            </a:r>
            <a:endParaRPr sz="1650" b="0" dirty="0">
              <a:solidFill>
                <a:srgbClr val="675246"/>
              </a:solidFill>
              <a:latin typeface="Bahij TheSansArabic SemiLight" panose="02040503050201020203" pitchFamily="18" charset="-78"/>
              <a:ea typeface="Bahij TheSansArabic Light"/>
              <a:cs typeface="Bahij TheSansArabic SemiLight" panose="02040503050201020203" pitchFamily="18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046200" y="57912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6400" y="9423400"/>
            <a:ext cx="6604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l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الواجهة الرئيسية — منظور خارجي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1" name="Picture 10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c.jpg"/>
          <p:cNvPicPr>
            <a:picLocks noChangeAspect="1"/>
          </p:cNvPicPr>
          <p:nvPr/>
        </p:nvPicPr>
        <p:blipFill>
          <a:blip r:embed="rId2"/>
          <a:srcRect t="30247" b="35507"/>
          <a:stretch>
            <a:fillRect/>
          </a:stretch>
        </p:blipFill>
        <p:spPr>
          <a:xfrm>
            <a:off x="3810000" y="0"/>
            <a:ext cx="14478000" cy="7315200"/>
          </a:xfrm>
          <a:prstGeom prst="rect">
            <a:avLst/>
          </a:prstGeom>
        </p:spPr>
      </p:pic>
      <p:pic>
        <p:nvPicPr>
          <p:cNvPr id="4" name="Picture 3" descr="ext_d.jpg"/>
          <p:cNvPicPr>
            <a:picLocks noChangeAspect="1"/>
          </p:cNvPicPr>
          <p:nvPr/>
        </p:nvPicPr>
        <p:blipFill>
          <a:blip r:embed="rId3"/>
          <a:srcRect t="11575" b="11575"/>
          <a:stretch>
            <a:fillRect/>
          </a:stretch>
        </p:blipFill>
        <p:spPr>
          <a:xfrm>
            <a:off x="1066800" y="5181600"/>
            <a:ext cx="53340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66800" y="5181600"/>
            <a:ext cx="5334000" cy="381000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519400" y="8622538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47200" y="8990838"/>
            <a:ext cx="7874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تدرّج الكتل والمظلات والمعالجات البصرية للواجهات.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36" y="8394700"/>
            <a:ext cx="304927" cy="622300"/>
          </a:xfrm>
          <a:prstGeom prst="rect">
            <a:avLst/>
          </a:prstGeom>
        </p:spPr>
      </p:pic>
      <p:pic>
        <p:nvPicPr>
          <p:cNvPr id="11" name="Picture 10" descr="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0" y="622300"/>
            <a:ext cx="1231900" cy="44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387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g.jpg"/>
          <p:cNvPicPr>
            <a:picLocks noChangeAspect="1"/>
          </p:cNvPicPr>
          <p:nvPr/>
        </p:nvPicPr>
        <p:blipFill>
          <a:blip r:embed="rId2"/>
          <a:srcRect t="19088" b="19088"/>
          <a:stretch>
            <a:fillRect/>
          </a:stretch>
        </p:blipFill>
        <p:spPr>
          <a:xfrm>
            <a:off x="0" y="0"/>
            <a:ext cx="110744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39600" y="4826000"/>
            <a:ext cx="5181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المساحات المشتركة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39600" y="5232400"/>
            <a:ext cx="5181600" cy="1219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32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أفنية ومرافق</a:t>
            </a:r>
          </a:p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32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مشتركة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9400" y="6528815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39600" y="6922515"/>
            <a:ext cx="5181600" cy="1905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just" rtl="1">
              <a:lnSpc>
                <a:spcPct val="172000"/>
              </a:lnSpc>
              <a:spcAft>
                <a:spcPts val="0"/>
              </a:spcAft>
            </a:pPr>
            <a:r>
              <a:rPr sz="160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أفنية ومظلات وعناصر خدمية مشتركة تربط مكوّنات المشروع وتمنح السكّان فراغًا خارجيًا مُهيّأ على مدار العام.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39600" y="8890000"/>
            <a:ext cx="5181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منظور للفناء الداخلي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6" y="8394700"/>
            <a:ext cx="304927" cy="622300"/>
          </a:xfrm>
          <a:prstGeom prst="rect">
            <a:avLst/>
          </a:prstGeom>
        </p:spPr>
      </p:pic>
      <p:pic>
        <p:nvPicPr>
          <p:cNvPr id="11" name="Picture 10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622300"/>
            <a:ext cx="1231900" cy="44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387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t_a.jpg"/>
          <p:cNvPicPr>
            <a:picLocks noChangeAspect="1"/>
          </p:cNvPicPr>
          <p:nvPr/>
        </p:nvPicPr>
        <p:blipFill>
          <a:blip r:embed="rId2"/>
          <a:srcRect t="6396" b="6396"/>
          <a:stretch>
            <a:fillRect/>
          </a:stretch>
        </p:blipFill>
        <p:spPr>
          <a:xfrm>
            <a:off x="0" y="0"/>
            <a:ext cx="10033000" cy="10287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519400" y="6489192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7400" y="8890000"/>
            <a:ext cx="62738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الصالة الرئيسية — منظور داخلي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0" name="Picture 9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t_c.jpg"/>
          <p:cNvPicPr>
            <a:picLocks noChangeAspect="1"/>
          </p:cNvPicPr>
          <p:nvPr/>
        </p:nvPicPr>
        <p:blipFill>
          <a:blip r:embed="rId2"/>
          <a:srcRect t="22836" b="22836"/>
          <a:stretch>
            <a:fillRect/>
          </a:stretch>
        </p:blipFill>
        <p:spPr>
          <a:xfrm>
            <a:off x="0" y="0"/>
            <a:ext cx="11226800" cy="6858000"/>
          </a:xfrm>
          <a:prstGeom prst="rect">
            <a:avLst/>
          </a:prstGeom>
        </p:spPr>
      </p:pic>
      <p:pic>
        <p:nvPicPr>
          <p:cNvPr id="4" name="Picture 3" descr="int_d.jpg"/>
          <p:cNvPicPr>
            <a:picLocks noChangeAspect="1"/>
          </p:cNvPicPr>
          <p:nvPr/>
        </p:nvPicPr>
        <p:blipFill>
          <a:blip r:embed="rId3"/>
          <a:srcRect t="25048" b="25048"/>
          <a:stretch>
            <a:fillRect/>
          </a:stretch>
        </p:blipFill>
        <p:spPr>
          <a:xfrm>
            <a:off x="10414000" y="4191000"/>
            <a:ext cx="6807200" cy="508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14000" y="4191000"/>
            <a:ext cx="6807200" cy="508000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77000" y="8429244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1" name="Picture 10" descr="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5" name="Picture 4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44500"/>
            <a:ext cx="850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4800" y="4953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التصاميم الداخلية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2000" y="558800"/>
            <a:ext cx="14986000" cy="1270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19400" y="2399538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nt_e.jpg"/>
          <p:cNvPicPr>
            <a:picLocks noChangeAspect="1"/>
          </p:cNvPicPr>
          <p:nvPr/>
        </p:nvPicPr>
        <p:blipFill>
          <a:blip r:embed="rId4"/>
          <a:srcRect t="4277" b="4277"/>
          <a:stretch>
            <a:fillRect/>
          </a:stretch>
        </p:blipFill>
        <p:spPr>
          <a:xfrm>
            <a:off x="1066800" y="3810000"/>
            <a:ext cx="5181600" cy="5334000"/>
          </a:xfrm>
          <a:prstGeom prst="rect">
            <a:avLst/>
          </a:prstGeom>
        </p:spPr>
      </p:pic>
      <p:pic>
        <p:nvPicPr>
          <p:cNvPr id="14" name="Picture 13" descr="int_g.jpg"/>
          <p:cNvPicPr>
            <a:picLocks noChangeAspect="1"/>
          </p:cNvPicPr>
          <p:nvPr/>
        </p:nvPicPr>
        <p:blipFill>
          <a:blip r:embed="rId5"/>
          <a:srcRect t="2229" b="2229"/>
          <a:stretch>
            <a:fillRect/>
          </a:stretch>
        </p:blipFill>
        <p:spPr>
          <a:xfrm>
            <a:off x="6604000" y="3327400"/>
            <a:ext cx="5181600" cy="5816600"/>
          </a:xfrm>
          <a:prstGeom prst="rect">
            <a:avLst/>
          </a:prstGeom>
        </p:spPr>
      </p:pic>
      <p:pic>
        <p:nvPicPr>
          <p:cNvPr id="15" name="Picture 14" descr="int_f.jpg"/>
          <p:cNvPicPr>
            <a:picLocks noChangeAspect="1"/>
          </p:cNvPicPr>
          <p:nvPr/>
        </p:nvPicPr>
        <p:blipFill>
          <a:blip r:embed="rId6"/>
          <a:srcRect t="24379" b="24379"/>
          <a:stretch>
            <a:fillRect/>
          </a:stretch>
        </p:blipFill>
        <p:spPr>
          <a:xfrm>
            <a:off x="12141200" y="3810000"/>
            <a:ext cx="51816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t_j.jpg"/>
          <p:cNvPicPr>
            <a:picLocks noChangeAspect="1"/>
          </p:cNvPicPr>
          <p:nvPr/>
        </p:nvPicPr>
        <p:blipFill>
          <a:blip r:embed="rId2"/>
          <a:srcRect t="24286" b="24286"/>
          <a:stretch>
            <a:fillRect/>
          </a:stretch>
        </p:blipFill>
        <p:spPr>
          <a:xfrm>
            <a:off x="5969000" y="0"/>
            <a:ext cx="12319000" cy="7924800"/>
          </a:xfrm>
          <a:prstGeom prst="rect">
            <a:avLst/>
          </a:prstGeom>
        </p:spPr>
      </p:pic>
      <p:pic>
        <p:nvPicPr>
          <p:cNvPr id="4" name="Picture 3" descr="int_k.jpg"/>
          <p:cNvPicPr>
            <a:picLocks noChangeAspect="1"/>
          </p:cNvPicPr>
          <p:nvPr/>
        </p:nvPicPr>
        <p:blipFill>
          <a:blip r:embed="rId3"/>
          <a:srcRect t="12714" b="12714"/>
          <a:stretch>
            <a:fillRect/>
          </a:stretch>
        </p:blipFill>
        <p:spPr>
          <a:xfrm>
            <a:off x="1066800" y="4470400"/>
            <a:ext cx="4292600" cy="345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800" y="2787650"/>
            <a:ext cx="4292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 dirty="0" err="1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التشطيبات</a:t>
            </a:r>
            <a:endParaRPr sz="1400" b="0" spc="60" dirty="0">
              <a:solidFill>
                <a:srgbClr val="A87E33"/>
              </a:solidFill>
              <a:latin typeface="Bahij TheSansArabic Bold"/>
              <a:ea typeface="Bahij TheSansArabic Bold"/>
              <a:cs typeface="Bahij TheSansArabic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0" y="34036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69000" y="8737600"/>
            <a:ext cx="112522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69000" y="8966200"/>
            <a:ext cx="112522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مواد التشطيب النهائية ومستوى الإنهاء المستهدف.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2" name="Picture 11" descr="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93100" y="27686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48000" y="3327400"/>
            <a:ext cx="12192000" cy="254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34000"/>
              </a:lnSpc>
              <a:spcAft>
                <a:spcPts val="0"/>
              </a:spcAft>
            </a:pPr>
            <a:r>
              <a:rPr sz="52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من رسمٍ أولي …</a:t>
            </a:r>
          </a:p>
          <a:p>
            <a:pPr algn="ctr" rtl="1">
              <a:lnSpc>
                <a:spcPct val="134000"/>
              </a:lnSpc>
              <a:spcAft>
                <a:spcPts val="0"/>
              </a:spcAft>
            </a:pPr>
            <a:r>
              <a:rPr sz="52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إلى كيانٍ يكتمل.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5943600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مشروع أرض العليا  ·  شركة حصير للتطوير العقاري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0" name="Picture 9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17</a:t>
            </a:r>
          </a:p>
        </p:txBody>
      </p:sp>
      <p:pic>
        <p:nvPicPr>
          <p:cNvPr id="13" name="Picture 1" descr="closing.jpg">
            <a:extLst>
              <a:ext uri="{FF2B5EF4-FFF2-40B4-BE49-F238E27FC236}">
                <a16:creationId xmlns:a16="http://schemas.microsoft.com/office/drawing/2014/main" id="{18EDDC5B-B58C-E558-250C-6F9F7BE176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961" t="58402" r="12868"/>
          <a:stretch/>
        </p:blipFill>
        <p:spPr>
          <a:xfrm>
            <a:off x="0" y="6128123"/>
            <a:ext cx="18288000" cy="42791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29370"/>
            <a:ext cx="18288000" cy="2540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ing.jpg"/>
          <p:cNvPicPr>
            <a:picLocks noChangeAspect="1"/>
          </p:cNvPicPr>
          <p:nvPr/>
        </p:nvPicPr>
        <p:blipFill>
          <a:blip r:embed="rId2"/>
          <a:srcRect l="10961" r="1286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99000"/>
            <a:ext cx="18288000" cy="5588000"/>
          </a:xfrm>
          <a:prstGeom prst="rect">
            <a:avLst/>
          </a:prstGeom>
          <a:gradFill rotWithShape="1">
            <a:gsLst>
              <a:gs pos="0">
                <a:srgbClr val="211611">
                  <a:alpha val="0"/>
                </a:srgbClr>
              </a:gs>
              <a:gs pos="100000">
                <a:srgbClr val="211611">
                  <a:alpha val="84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3048000"/>
          </a:xfrm>
          <a:prstGeom prst="rect">
            <a:avLst/>
          </a:prstGeom>
          <a:gradFill rotWithShape="1">
            <a:gsLst>
              <a:gs pos="0">
                <a:srgbClr val="211611">
                  <a:alpha val="54000"/>
                </a:srgbClr>
              </a:gs>
              <a:gs pos="100000">
                <a:srgbClr val="211611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4140200"/>
            <a:ext cx="3886200" cy="139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7366000"/>
            <a:ext cx="11734800" cy="889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شكرًا لكم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8636000"/>
            <a:ext cx="123444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0" y="9169400"/>
            <a:ext cx="117348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E6DED4"/>
                </a:solidFill>
                <a:latin typeface="Bahij TheSansArabic Light"/>
                <a:ea typeface="Bahij TheSansArabic Light"/>
                <a:cs typeface="Bahij TheSansArabic Light"/>
              </a:rPr>
              <a:t>مشروع أرض العليا  ·  شركة حصير للتطوير العقاري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FFFFFF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632</Words>
  <Application>Microsoft Macintosh PowerPoint</Application>
  <PresentationFormat>مخصص</PresentationFormat>
  <Paragraphs>204</Paragraphs>
  <Slides>17</Slides>
  <Notes>1</Notes>
  <HiddenSlides>1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4" baseType="lpstr">
      <vt:lpstr>Aptos</vt:lpstr>
      <vt:lpstr>Arial</vt:lpstr>
      <vt:lpstr>Bahij TheSansArabic Bold</vt:lpstr>
      <vt:lpstr>Bahij TheSansArabic Light</vt:lpstr>
      <vt:lpstr>Bahij TheSansArabic SemiLight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بشرى عصام على محمد الاطرش</cp:lastModifiedBy>
  <cp:revision>3</cp:revision>
  <dcterms:created xsi:type="dcterms:W3CDTF">2013-01-27T09:14:16Z</dcterms:created>
  <dcterms:modified xsi:type="dcterms:W3CDTF">2026-10-05T22:50:15Z</dcterms:modified>
  <cp:category/>
</cp:coreProperties>
</file>