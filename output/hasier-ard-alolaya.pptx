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5" r:id="rId12"/>
    <p:sldId id="267" r:id="rId13"/>
    <p:sldId id="268" r:id="rId14"/>
    <p:sldId id="269" r:id="rId15"/>
    <p:sldId id="271" r:id="rId16"/>
    <p:sldId id="272" r:id="rId17"/>
    <p:sldId id="273" r:id="rId18"/>
  </p:sldIdLst>
  <p:sldSz cx="18288000" cy="10287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0"/>
    <p:restoredTop sz="94632"/>
  </p:normalViewPr>
  <p:slideViewPr>
    <p:cSldViewPr snapToGrid="0" snapToObjects="1">
      <p:cViewPr>
        <p:scale>
          <a:sx n="66" d="100"/>
          <a:sy n="66" d="100"/>
        </p:scale>
        <p:origin x="34" y="-17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صر نائب للرأس 1"/>
          <p:cNvSpPr>
            <a:spLocks noGrp="1"/>
          </p:cNvSpPr>
          <p:nvPr>
            <p:ph type="hdr" sz="quarter"/>
          </p:nvPr>
        </p:nvSpPr>
        <p:spPr>
          <a:xfrm>
            <a:off x="388620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r">
              <a:defRPr sz="1200"/>
            </a:lvl1pPr>
          </a:lstStyle>
          <a:p>
            <a:endParaRPr lang="ar-SA"/>
          </a:p>
        </p:txBody>
      </p:sp>
      <p:sp>
        <p:nvSpPr>
          <p:cNvPr id="3" name="عنصر نائب للتاريخ 2"/>
          <p:cNvSpPr>
            <a:spLocks noGrp="1"/>
          </p:cNvSpPr>
          <p:nvPr>
            <p:ph type="dt" idx="1"/>
          </p:nvPr>
        </p:nvSpPr>
        <p:spPr>
          <a:xfrm>
            <a:off x="1588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l">
              <a:defRPr sz="1200"/>
            </a:lvl1pPr>
          </a:lstStyle>
          <a:p>
            <a:fld id="{87A772E8-3A12-D147-BF92-03536E12A529}" type="datetimeFigureOut">
              <a:rPr lang="ar-SA" smtClean="0"/>
              <a:t>24/04/1448</a:t>
            </a:fld>
            <a:endParaRPr lang="ar-SA"/>
          </a:p>
        </p:txBody>
      </p:sp>
      <p:sp>
        <p:nvSpPr>
          <p:cNvPr id="4" name="عنصر نائب لصورة الشريحة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1" anchor="ctr"/>
          <a:lstStyle/>
          <a:p>
            <a:endParaRPr lang="ar-SA"/>
          </a:p>
        </p:txBody>
      </p:sp>
      <p:sp>
        <p:nvSpPr>
          <p:cNvPr id="5" name="عنصر نائب للملاحظات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1"/>
          <a:lstStyle/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</a:p>
        </p:txBody>
      </p:sp>
      <p:sp>
        <p:nvSpPr>
          <p:cNvPr id="6" name="عنصر نائب للتذييل 5"/>
          <p:cNvSpPr>
            <a:spLocks noGrp="1"/>
          </p:cNvSpPr>
          <p:nvPr>
            <p:ph type="ftr" sz="quarter" idx="4"/>
          </p:nvPr>
        </p:nvSpPr>
        <p:spPr>
          <a:xfrm>
            <a:off x="38862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r">
              <a:defRPr sz="1200"/>
            </a:lvl1pPr>
          </a:lstStyle>
          <a:p>
            <a:endParaRPr lang="ar-SA"/>
          </a:p>
        </p:txBody>
      </p:sp>
      <p:sp>
        <p:nvSpPr>
          <p:cNvPr id="7" name="عنصر نائب لرقم الشريحة 6"/>
          <p:cNvSpPr>
            <a:spLocks noGrp="1"/>
          </p:cNvSpPr>
          <p:nvPr>
            <p:ph type="sldNum" sz="quarter" idx="5"/>
          </p:nvPr>
        </p:nvSpPr>
        <p:spPr>
          <a:xfrm>
            <a:off x="1588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l">
              <a:defRPr sz="1200"/>
            </a:lvl1pPr>
          </a:lstStyle>
          <a:p>
            <a:fld id="{0134E2B4-A618-D048-9839-933AAECD0163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13940152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صر نائب لصورة الشريحة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عنصر نائب للملاحظا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ar-SA" dirty="0"/>
          </a:p>
        </p:txBody>
      </p:sp>
      <p:sp>
        <p:nvSpPr>
          <p:cNvPr id="4" name="عنصر نائب لرقم الشريحة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34E2B4-A618-D048-9839-933AAECD0163}" type="slidenum">
              <a:rPr lang="ar-SA" smtClean="0"/>
              <a:t>16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40622366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34E2B4-A618-D048-9839-933AAECD0163}" type="slidenum">
              <a:rPr lang="ar-SA" smtClean="0"/>
              <a:t>17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39925941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jpg"/><Relationship Id="rId5" Type="http://schemas.openxmlformats.org/officeDocument/2006/relationships/image" Target="../media/image18.jpg"/><Relationship Id="rId4" Type="http://schemas.openxmlformats.org/officeDocument/2006/relationships/image" Target="../media/image17.jp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2.jpg"/><Relationship Id="rId4" Type="http://schemas.openxmlformats.org/officeDocument/2006/relationships/image" Target="../media/image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hero.jpg"/>
          <p:cNvPicPr>
            <a:picLocks noChangeAspect="1"/>
          </p:cNvPicPr>
          <p:nvPr/>
        </p:nvPicPr>
        <p:blipFill>
          <a:blip r:embed="rId2"/>
          <a:srcRect l="16" r="18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77000"/>
            <a:ext cx="18288000" cy="3810000"/>
          </a:xfrm>
          <a:prstGeom prst="rect">
            <a:avLst/>
          </a:prstGeom>
          <a:gradFill rotWithShape="1">
            <a:gsLst>
              <a:gs pos="0">
                <a:srgbClr val="211611">
                  <a:alpha val="0"/>
                </a:srgbClr>
              </a:gs>
              <a:gs pos="100000">
                <a:srgbClr val="211611">
                  <a:alpha val="42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58500" y="4445000"/>
            <a:ext cx="3886200" cy="139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0" y="7442200"/>
            <a:ext cx="11734800" cy="7366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مشروع أرض العليا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0" y="8636000"/>
            <a:ext cx="12344400" cy="292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0" y="9194800"/>
            <a:ext cx="11734800" cy="3556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650" b="0">
                <a:solidFill>
                  <a:srgbClr val="F2ECE3"/>
                </a:solidFill>
                <a:latin typeface="Arial"/>
                <a:ea typeface="Arial"/>
                <a:cs typeface="Arial"/>
              </a:rPr>
              <a:t>شركة حصير للتطوير العقاري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13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FFFFFF"/>
                </a:solidFill>
                <a:latin typeface="Arial"/>
                <a:ea typeface="Arial"/>
                <a:cs typeface="Arial"/>
              </a:rPr>
              <a:t>hihasier.com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tatement.jpg"/>
          <p:cNvPicPr>
            <a:picLocks noChangeAspect="1"/>
          </p:cNvPicPr>
          <p:nvPr/>
        </p:nvPicPr>
        <p:blipFill>
          <a:blip r:embed="rId2"/>
          <a:srcRect l="6" r="6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-3111500" y="787400"/>
            <a:ext cx="11430000" cy="7366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4100" b="1" dirty="0" err="1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مشروع</a:t>
            </a:r>
            <a:r>
              <a:rPr sz="4100" b="1" dirty="0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 </a:t>
            </a:r>
            <a:r>
              <a:rPr sz="4100" b="1" dirty="0" err="1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أرض</a:t>
            </a:r>
            <a:r>
              <a:rPr sz="4100" b="1" dirty="0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 </a:t>
            </a:r>
            <a:r>
              <a:rPr sz="4100" b="1" dirty="0" err="1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العليا</a:t>
            </a:r>
            <a:endParaRPr sz="4100" b="1" dirty="0">
              <a:solidFill>
                <a:srgbClr val="FFFFFF"/>
              </a:solidFill>
              <a:latin typeface="Bahij TheSansArabic"/>
              <a:ea typeface="Arial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-3111500" y="1498600"/>
            <a:ext cx="11430000" cy="4318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2500" b="1" dirty="0" err="1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عرض</a:t>
            </a:r>
            <a:r>
              <a:rPr sz="2500" b="1" dirty="0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 </a:t>
            </a:r>
            <a:r>
              <a:rPr sz="2500" b="1" dirty="0" err="1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مشروع</a:t>
            </a:r>
            <a:r>
              <a:rPr sz="2500" b="1" dirty="0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 </a:t>
            </a:r>
            <a:r>
              <a:rPr sz="2500" b="1" dirty="0" err="1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عقاري</a:t>
            </a:r>
            <a:r>
              <a:rPr sz="2500" b="1" dirty="0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 · </a:t>
            </a:r>
            <a:r>
              <a:rPr sz="2500" b="1" dirty="0" err="1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شركة</a:t>
            </a:r>
            <a:r>
              <a:rPr sz="2500" b="1" dirty="0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 </a:t>
            </a:r>
            <a:r>
              <a:rPr sz="2500" b="1" dirty="0" err="1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حصير</a:t>
            </a:r>
            <a:r>
              <a:rPr sz="2500" b="1" dirty="0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 </a:t>
            </a:r>
            <a:r>
              <a:rPr sz="2500" b="1" dirty="0" err="1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للتطوير</a:t>
            </a:r>
            <a:r>
              <a:rPr sz="2500" b="1" dirty="0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 </a:t>
            </a:r>
            <a:r>
              <a:rPr sz="2500" b="1" dirty="0" err="1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العقاري</a:t>
            </a:r>
            <a:endParaRPr sz="2500" b="1" dirty="0">
              <a:solidFill>
                <a:srgbClr val="FFFFFF"/>
              </a:solidFill>
              <a:latin typeface="Bahij TheSansArabic"/>
              <a:ea typeface="Arial"/>
              <a:cs typeface="Arial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7729200" y="0"/>
            <a:ext cx="11430" cy="819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mark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76736" y="8394700"/>
            <a:ext cx="304927" cy="622300"/>
          </a:xfrm>
          <a:prstGeom prst="rect">
            <a:avLst/>
          </a:prstGeom>
        </p:spPr>
      </p:pic>
      <p:pic>
        <p:nvPicPr>
          <p:cNvPr id="7" name="Picture 6" descr="logo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900" y="622300"/>
            <a:ext cx="1231900" cy="4445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413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FFFFFF"/>
                </a:solidFill>
                <a:latin typeface="Arial"/>
                <a:ea typeface="Arial"/>
                <a:cs typeface="Arial"/>
              </a:rPr>
              <a:t>hihasier.com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1300" y="9918700"/>
            <a:ext cx="508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3" name="Picture 2" descr="crane.jpg"/>
          <p:cNvPicPr>
            <a:picLocks noChangeAspect="1"/>
          </p:cNvPicPr>
          <p:nvPr/>
        </p:nvPicPr>
        <p:blipFill>
          <a:blip r:embed="rId2"/>
          <a:srcRect l="5775" r="5331"/>
          <a:stretch>
            <a:fillRect/>
          </a:stretch>
        </p:blipFill>
        <p:spPr>
          <a:xfrm>
            <a:off x="0" y="0"/>
            <a:ext cx="7112000" cy="10287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26400" y="1905000"/>
            <a:ext cx="9194800" cy="254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00" b="1" spc="60">
                <a:solidFill>
                  <a:srgbClr val="A87E33"/>
                </a:solidFill>
                <a:latin typeface="Bahij TheSansArabic"/>
                <a:ea typeface="Arial"/>
                <a:cs typeface="Arial"/>
              </a:rPr>
              <a:t>منهج العمل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26400" y="2311400"/>
            <a:ext cx="9194800" cy="1143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22000"/>
              </a:lnSpc>
              <a:spcAft>
                <a:spcPts val="0"/>
              </a:spcAft>
            </a:pPr>
            <a:r>
              <a:rPr sz="3000" b="1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منهجية متكاملة</a:t>
            </a:r>
          </a:p>
          <a:p>
            <a:pPr algn="r" rtl="1">
              <a:lnSpc>
                <a:spcPct val="122000"/>
              </a:lnSpc>
              <a:spcAft>
                <a:spcPts val="0"/>
              </a:spcAft>
            </a:pPr>
            <a:r>
              <a:rPr sz="3000" b="1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من قراءة الأرض إلى أصل مُنتج</a:t>
            </a:r>
          </a:p>
        </p:txBody>
      </p:sp>
      <p:sp>
        <p:nvSpPr>
          <p:cNvPr id="6" name="Rectangle 5"/>
          <p:cNvSpPr/>
          <p:nvPr/>
        </p:nvSpPr>
        <p:spPr>
          <a:xfrm>
            <a:off x="15519400" y="3545840"/>
            <a:ext cx="1701800" cy="889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026400" y="3964940"/>
            <a:ext cx="9194800" cy="1016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just" rtl="1">
              <a:lnSpc>
                <a:spcPct val="172000"/>
              </a:lnSpc>
              <a:spcAft>
                <a:spcPts val="0"/>
              </a:spcAft>
            </a:pPr>
            <a:r>
              <a:rPr sz="1600" b="0">
                <a:solidFill>
                  <a:srgbClr val="675246"/>
                </a:solidFill>
                <a:latin typeface="Bahij TheSansArabic"/>
                <a:ea typeface="Arial"/>
                <a:cs typeface="Arial"/>
              </a:rPr>
              <a:t>تبدأ من تقييم الأرض ونطاقها العمراني، وتنتهي بتشغيل أصل عقاري مُنتج ومستدام يحافظ على قيمته على المدى الطويل.</a:t>
            </a:r>
          </a:p>
        </p:txBody>
      </p:sp>
      <p:sp>
        <p:nvSpPr>
          <p:cNvPr id="8" name="Rectangle 7"/>
          <p:cNvSpPr/>
          <p:nvPr/>
        </p:nvSpPr>
        <p:spPr>
          <a:xfrm>
            <a:off x="8026400" y="4980940"/>
            <a:ext cx="9194800" cy="762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6535400" y="5171440"/>
            <a:ext cx="6858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2500" b="1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26400" y="5133340"/>
            <a:ext cx="8229600" cy="3302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700" b="1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تقييم الأرض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26400" y="5488940"/>
            <a:ext cx="8229600" cy="508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8C7B6E"/>
                </a:solidFill>
                <a:latin typeface="Bahij TheSansArabic"/>
                <a:ea typeface="Arial"/>
                <a:cs typeface="Arial"/>
              </a:rPr>
              <a:t>تحليل الموقع والمحيط والفرص المحيطة به.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26400" y="6022340"/>
            <a:ext cx="9194800" cy="762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6535400" y="6212840"/>
            <a:ext cx="6858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2500" b="1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26400" y="6174740"/>
            <a:ext cx="8229600" cy="3302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700" b="1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التصور والتصميم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26400" y="6530340"/>
            <a:ext cx="8229600" cy="508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8C7B6E"/>
                </a:solidFill>
                <a:latin typeface="Bahij TheSansArabic"/>
                <a:ea typeface="Arial"/>
                <a:cs typeface="Arial"/>
              </a:rPr>
              <a:t>وضع فكرة المشروع ونموذجه الاستثماري بما يناسب الأرض.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26400" y="7063740"/>
            <a:ext cx="9194800" cy="762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6535400" y="7254240"/>
            <a:ext cx="6858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2500" b="1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26400" y="7216140"/>
            <a:ext cx="8229600" cy="3302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700" b="1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التنفيذ والتفعيل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26400" y="7571740"/>
            <a:ext cx="8229600" cy="508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8C7B6E"/>
                </a:solidFill>
                <a:latin typeface="Bahij TheSansArabic"/>
                <a:ea typeface="Arial"/>
                <a:cs typeface="Arial"/>
              </a:rPr>
              <a:t>تحويل الفكرة إلى واقع على الأرض خلال فترة وجيزة.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26400" y="8105140"/>
            <a:ext cx="9194800" cy="762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6535400" y="8295640"/>
            <a:ext cx="6858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2500" b="1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26400" y="8257540"/>
            <a:ext cx="8229600" cy="3302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700" b="1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التشغيل والمتابعة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26400" y="8613140"/>
            <a:ext cx="8229600" cy="508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8C7B6E"/>
                </a:solidFill>
                <a:latin typeface="Bahij TheSansArabic"/>
                <a:ea typeface="Arial"/>
                <a:cs typeface="Arial"/>
              </a:rPr>
              <a:t>إدارة النشاط واستمرارية العائد وتحديث الاستخدام عند الحاجة.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6100" y="0"/>
            <a:ext cx="11430" cy="819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25" name="Picture 24" descr="mark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636" y="8394700"/>
            <a:ext cx="304927" cy="622300"/>
          </a:xfrm>
          <a:prstGeom prst="rect">
            <a:avLst/>
          </a:prstGeom>
        </p:spPr>
      </p:pic>
      <p:pic>
        <p:nvPicPr>
          <p:cNvPr id="26" name="Picture 25" descr="logo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9200" y="622300"/>
            <a:ext cx="1231900" cy="4445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78181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 dirty="0">
                <a:solidFill>
                  <a:srgbClr val="A87E33"/>
                </a:solidFill>
                <a:latin typeface="Bahij TheSansArabic"/>
                <a:ea typeface="Arial"/>
                <a:cs typeface="Arial"/>
              </a:rPr>
              <a:t>hihasier.com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538700" y="9918700"/>
            <a:ext cx="508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3" name="Picture 2" descr="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0" y="1524000"/>
            <a:ext cx="13208000" cy="57404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810000" y="5740400"/>
            <a:ext cx="13208000" cy="1524000"/>
          </a:xfrm>
          <a:prstGeom prst="rect">
            <a:avLst/>
          </a:prstGeom>
          <a:gradFill rotWithShape="1">
            <a:gsLst>
              <a:gs pos="0">
                <a:srgbClr val="FFFFFF">
                  <a:alpha val="0"/>
                </a:srgbClr>
              </a:gs>
              <a:gs pos="100000">
                <a:srgbClr val="FFFFFF">
                  <a:alpha val="100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3810000" y="1524000"/>
            <a:ext cx="3810000" cy="5740400"/>
          </a:xfrm>
          <a:prstGeom prst="rect">
            <a:avLst/>
          </a:prstGeom>
          <a:gradFill rotWithShape="1">
            <a:gsLst>
              <a:gs pos="0">
                <a:srgbClr val="FFFFFF">
                  <a:alpha val="100000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7729200" y="0"/>
            <a:ext cx="11430" cy="81915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7" name="Picture 6" descr="mark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76736" y="8394700"/>
            <a:ext cx="304927" cy="622300"/>
          </a:xfrm>
          <a:prstGeom prst="rect">
            <a:avLst/>
          </a:prstGeom>
        </p:spPr>
      </p:pic>
      <p:pic>
        <p:nvPicPr>
          <p:cNvPr id="8" name="Picture 7" descr="logo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00" y="444500"/>
            <a:ext cx="85090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74800" y="495300"/>
            <a:ext cx="1574800" cy="2794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الموقع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02000" y="558800"/>
            <a:ext cx="14986000" cy="1270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413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A87E33"/>
                </a:solidFill>
                <a:latin typeface="Bahij TheSansArabic"/>
                <a:ea typeface="Arial"/>
                <a:cs typeface="Arial"/>
              </a:rPr>
              <a:t>hihasier.com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1300" y="9918700"/>
            <a:ext cx="508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47200" y="6172200"/>
            <a:ext cx="7874000" cy="5334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22000"/>
              </a:lnSpc>
              <a:spcAft>
                <a:spcPts val="0"/>
              </a:spcAft>
            </a:pPr>
            <a:r>
              <a:rPr sz="2800" b="1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الموقع والنطاق العمراني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519400" y="6910832"/>
            <a:ext cx="1701800" cy="889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9347200" y="7279132"/>
            <a:ext cx="7874000" cy="508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8C7B6E"/>
                </a:solidFill>
                <a:latin typeface="Bahij TheSansArabic"/>
                <a:ea typeface="Arial"/>
                <a:cs typeface="Arial"/>
              </a:rPr>
              <a:t>الموقع: حي الملك فهد، شارع العليا، الرياض.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66800" y="8051800"/>
            <a:ext cx="16154400" cy="9525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2175066" y="8534400"/>
            <a:ext cx="5046133" cy="639278"/>
          </a:xfrm>
          <a:prstGeom prst="rect">
            <a:avLst/>
          </a:prstGeom>
          <a:noFill/>
        </p:spPr>
        <p:txBody>
          <a:bodyPr wrap="square" lIns="0" tIns="0" rIns="0" bIns="0" rtlCol="1" anchor="t">
            <a:spAutoFit/>
          </a:bodyPr>
          <a:lstStyle/>
          <a:p>
            <a:pPr algn="ctr" rtl="1">
              <a:lnSpc>
                <a:spcPct val="110000"/>
              </a:lnSpc>
            </a:pPr>
            <a:r>
              <a:rPr sz="4000" b="1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7,782</a:t>
            </a:r>
            <a:r>
              <a:rPr sz="4000" b="0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 م²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75066" y="9133840"/>
            <a:ext cx="5046133" cy="3048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ctr" rtl="1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675246"/>
                </a:solidFill>
                <a:latin typeface="Bahij TheSansArabic"/>
                <a:ea typeface="Arial"/>
                <a:cs typeface="Arial"/>
              </a:rPr>
              <a:t>إجمالي مساحة الأرض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0933" y="8534400"/>
            <a:ext cx="5046133" cy="762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000" b="1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6.00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0933" y="9133840"/>
            <a:ext cx="5046133" cy="3048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ctr" rtl="1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675246"/>
                </a:solidFill>
                <a:latin typeface="Bahij TheSansArabic"/>
                <a:ea typeface="Arial"/>
                <a:cs typeface="Arial"/>
              </a:rPr>
              <a:t>معامل البناء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921066" y="8585200"/>
            <a:ext cx="9525" cy="78740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66800" y="8534400"/>
            <a:ext cx="5046133" cy="639278"/>
          </a:xfrm>
          <a:prstGeom prst="rect">
            <a:avLst/>
          </a:prstGeom>
          <a:noFill/>
        </p:spPr>
        <p:txBody>
          <a:bodyPr wrap="square" lIns="0" tIns="0" rIns="0" bIns="0" rtlCol="1" anchor="t">
            <a:spAutoFit/>
          </a:bodyPr>
          <a:lstStyle/>
          <a:p>
            <a:pPr algn="ctr" rtl="1">
              <a:lnSpc>
                <a:spcPct val="110000"/>
              </a:lnSpc>
            </a:pPr>
            <a:r>
              <a:rPr sz="4000" b="1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46,692</a:t>
            </a:r>
            <a:r>
              <a:rPr sz="4000" b="0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 م²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6800" y="9133840"/>
            <a:ext cx="5046133" cy="3048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ctr" rtl="1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675246"/>
                </a:solidFill>
                <a:latin typeface="Bahij TheSansArabic"/>
                <a:ea typeface="Arial"/>
                <a:cs typeface="Arial"/>
              </a:rPr>
              <a:t>المسطحات البنائية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66933" y="8585200"/>
            <a:ext cx="9525" cy="78740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17729200" y="0"/>
            <a:ext cx="11430" cy="81915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4" name="Picture 3" descr="mark_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76736" y="8394700"/>
            <a:ext cx="304927" cy="622300"/>
          </a:xfrm>
          <a:prstGeom prst="rect">
            <a:avLst/>
          </a:prstGeom>
        </p:spPr>
      </p:pic>
      <p:pic>
        <p:nvPicPr>
          <p:cNvPr id="5" name="Picture 4" descr="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444500"/>
            <a:ext cx="850900" cy="30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574800" y="495300"/>
            <a:ext cx="1574800" cy="2794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وصف المشروع</a:t>
            </a:r>
          </a:p>
        </p:txBody>
      </p:sp>
      <p:sp>
        <p:nvSpPr>
          <p:cNvPr id="7" name="Rectangle 6"/>
          <p:cNvSpPr/>
          <p:nvPr/>
        </p:nvSpPr>
        <p:spPr>
          <a:xfrm>
            <a:off x="3302000" y="558800"/>
            <a:ext cx="14986000" cy="1270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413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A87E33"/>
                </a:solidFill>
                <a:latin typeface="Bahij TheSansArabic"/>
                <a:ea typeface="Arial"/>
                <a:cs typeface="Arial"/>
              </a:rPr>
              <a:t>hihasier.com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1300" y="9918700"/>
            <a:ext cx="508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31200" y="1727200"/>
            <a:ext cx="8890000" cy="5334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22000"/>
              </a:lnSpc>
              <a:spcAft>
                <a:spcPts val="0"/>
              </a:spcAft>
            </a:pPr>
            <a:r>
              <a:rPr sz="2800" b="1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وصف المشروع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519400" y="2362200"/>
            <a:ext cx="1701800" cy="889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2175066" y="2997200"/>
            <a:ext cx="5046133" cy="639278"/>
          </a:xfrm>
          <a:prstGeom prst="rect">
            <a:avLst/>
          </a:prstGeom>
          <a:noFill/>
        </p:spPr>
        <p:txBody>
          <a:bodyPr wrap="square" lIns="0" tIns="0" rIns="0" bIns="0" rtlCol="1" anchor="t">
            <a:spAutoFit/>
          </a:bodyPr>
          <a:lstStyle/>
          <a:p>
            <a:pPr algn="ctr" rtl="1">
              <a:lnSpc>
                <a:spcPct val="110000"/>
              </a:lnSpc>
            </a:pPr>
            <a:r>
              <a:rPr sz="4000" b="1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7,782</a:t>
            </a:r>
            <a:r>
              <a:rPr sz="4000" b="0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 م²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75066" y="3596640"/>
            <a:ext cx="5046133" cy="3048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ctr" rtl="1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675246"/>
                </a:solidFill>
                <a:latin typeface="Bahij TheSansArabic"/>
                <a:ea typeface="Arial"/>
                <a:cs typeface="Arial"/>
              </a:rPr>
              <a:t>إجمالي مساحة الأرض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0933" y="2997200"/>
            <a:ext cx="5046133" cy="762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000" b="1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6.00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0933" y="3596640"/>
            <a:ext cx="5046133" cy="3048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ctr" rtl="1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675246"/>
                </a:solidFill>
                <a:latin typeface="Bahij TheSansArabic"/>
                <a:ea typeface="Arial"/>
                <a:cs typeface="Arial"/>
              </a:rPr>
              <a:t>معامل البناء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921066" y="3048000"/>
            <a:ext cx="9525" cy="78740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066800" y="2997200"/>
            <a:ext cx="5046133" cy="639278"/>
          </a:xfrm>
          <a:prstGeom prst="rect">
            <a:avLst/>
          </a:prstGeom>
          <a:noFill/>
        </p:spPr>
        <p:txBody>
          <a:bodyPr wrap="square" lIns="0" tIns="0" rIns="0" bIns="0" rtlCol="1" anchor="t">
            <a:spAutoFit/>
          </a:bodyPr>
          <a:lstStyle/>
          <a:p>
            <a:pPr algn="ctr" rtl="1">
              <a:lnSpc>
                <a:spcPct val="110000"/>
              </a:lnSpc>
            </a:pPr>
            <a:r>
              <a:rPr sz="4000" b="1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46,692</a:t>
            </a:r>
            <a:r>
              <a:rPr sz="4000" b="0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 م²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6800" y="3596640"/>
            <a:ext cx="5046133" cy="3048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ctr" rtl="1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675246"/>
                </a:solidFill>
                <a:latin typeface="Bahij TheSansArabic"/>
                <a:ea typeface="Arial"/>
                <a:cs typeface="Arial"/>
              </a:rPr>
              <a:t>المسطحات البنائية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66933" y="3048000"/>
            <a:ext cx="9525" cy="78740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graphicFrame>
        <p:nvGraphicFramePr>
          <p:cNvPr id="401" name="ProjectTable 401"/>
          <p:cNvGraphicFramePr>
            <a:graphicFrameLocks noGrp="1"/>
          </p:cNvGraphicFramePr>
          <p:nvPr/>
        </p:nvGraphicFramePr>
        <p:xfrm>
          <a:off x="1066800" y="4500000"/>
          <a:ext cx="16154400" cy="4875000"/>
        </p:xfrm>
        <a:graphic>
          <a:graphicData uri="http://schemas.openxmlformats.org/drawingml/2006/table">
            <a:tbl>
              <a:tblPr rtl="1" firstRow="1" bandRow="1"/>
              <a:tblGrid>
                <a:gridCol w="6000000"/>
                <a:gridCol w="3384800"/>
                <a:gridCol w="3384800"/>
                <a:gridCol w="3384800"/>
              </a:tblGrid>
              <a:tr h="325000">
                <a:tc>
                  <a:txBody>
                    <a:bodyPr/>
                    <a:lstStyle/>
                    <a:p>
                      <a:pPr algn="r" rtl="1"/>
                      <a:r>
                        <a:rPr lang="ar-SA" sz="125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البند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شقق سكنية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مكتبي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الإجمالي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algn="r" rtl="1"/>
                      <a:r>
                        <a:rPr lang="ar-SA" sz="125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نسبة المخصص من الأرض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60%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40%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100%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algn="r" rtl="1"/>
                      <a:r>
                        <a:rPr lang="ar-SA" sz="125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مساحة الأرض م²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4,669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3,113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7,782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algn="r" rtl="1"/>
                      <a:r>
                        <a:rPr lang="ar-SA" sz="125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نسبة البناء على الأرض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50%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50%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50%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algn="r" rtl="1"/>
                      <a:r>
                        <a:rPr lang="ar-SA" sz="125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المساحة المبنى عليها م²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2,335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1,556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3,891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algn="r" rtl="1"/>
                      <a:r>
                        <a:rPr lang="ar-SA" sz="125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معامل البناء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6.00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6.00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6.00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algn="r" rtl="1"/>
                      <a:r>
                        <a:rPr lang="ar-SA" sz="125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المسطحات البنائية م²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28,015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18,677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46,692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algn="r" rtl="1"/>
                      <a:r>
                        <a:rPr lang="ar-SA" sz="125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عدد الأدوار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12.00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12.00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12.00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algn="r" rtl="1"/>
                      <a:r>
                        <a:rPr lang="ar-SA" sz="125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نسبة المساحة الصافية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85%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85%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85%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algn="r" rtl="1"/>
                      <a:r>
                        <a:rPr lang="ar-SA" sz="125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المساحات البيعية الصافية م²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23,813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15,875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39,688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algn="r" rtl="1"/>
                      <a:r>
                        <a:rPr lang="ar-SA" sz="125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متوسط مساحة الوحدة م²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120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-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-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algn="r" rtl="1"/>
                      <a:r>
                        <a:rPr lang="ar-SA" sz="125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عدد الوحدات السكنية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198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-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198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algn="r" rtl="1"/>
                      <a:r>
                        <a:rPr lang="ar-SA" sz="125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عدد المواقف بالقبو لمكونات المشروع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175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381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556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algn="r" rtl="1"/>
                      <a:r>
                        <a:rPr lang="ar-SA" sz="125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إجمالي مسطحات القبو بالمشروع م²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7,354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16,015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23,369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algn="r" rtl="1"/>
                      <a:r>
                        <a:rPr lang="ar-SA" sz="125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عدد أدوار القبو - المشروع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-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-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5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3" name="Picture 2" descr="ext_f.jpg"/>
          <p:cNvPicPr>
            <a:picLocks noChangeAspect="1"/>
          </p:cNvPicPr>
          <p:nvPr/>
        </p:nvPicPr>
        <p:blipFill>
          <a:blip r:embed="rId2"/>
          <a:srcRect l="13724" r="13724"/>
          <a:stretch>
            <a:fillRect/>
          </a:stretch>
        </p:blipFill>
        <p:spPr>
          <a:xfrm>
            <a:off x="0" y="0"/>
            <a:ext cx="4978400" cy="10287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0" y="1397000"/>
            <a:ext cx="11277600" cy="254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00" b="1" spc="60">
                <a:solidFill>
                  <a:srgbClr val="A87E33"/>
                </a:solidFill>
                <a:latin typeface="Bahij TheSansArabic"/>
                <a:ea typeface="Arial"/>
                <a:cs typeface="Arial"/>
              </a:rPr>
              <a:t>الدراسة المالية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727200"/>
            <a:ext cx="11277600" cy="5334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22000"/>
              </a:lnSpc>
              <a:spcAft>
                <a:spcPts val="0"/>
              </a:spcAft>
            </a:pPr>
            <a:r>
              <a:rPr sz="2800" b="1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تكاليف المشروع</a:t>
            </a:r>
          </a:p>
        </p:txBody>
      </p:sp>
      <p:sp>
        <p:nvSpPr>
          <p:cNvPr id="6" name="Rectangle 5"/>
          <p:cNvSpPr/>
          <p:nvPr/>
        </p:nvSpPr>
        <p:spPr>
          <a:xfrm>
            <a:off x="15519400" y="2362200"/>
            <a:ext cx="1701800" cy="889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5943600" y="8560000"/>
            <a:ext cx="11277600" cy="3048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3411200" y="8890000"/>
            <a:ext cx="3810000" cy="508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2100" b="1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تكلفة المشروع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8813800"/>
            <a:ext cx="5842000" cy="736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4400" b="1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452,471,142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6100" y="0"/>
            <a:ext cx="11430" cy="819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42" name="Picture 41" descr="mark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636" y="8394700"/>
            <a:ext cx="304927" cy="622300"/>
          </a:xfrm>
          <a:prstGeom prst="rect">
            <a:avLst/>
          </a:prstGeom>
        </p:spPr>
      </p:pic>
      <p:pic>
        <p:nvPicPr>
          <p:cNvPr id="43" name="Picture 42" descr="logo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9200" y="622300"/>
            <a:ext cx="1231900" cy="4445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78181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A87E33"/>
                </a:solidFill>
                <a:latin typeface="Bahij TheSansArabic"/>
                <a:ea typeface="Arial"/>
                <a:cs typeface="Arial"/>
              </a:rPr>
              <a:t>hihasier.com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538700" y="9918700"/>
            <a:ext cx="508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6</a:t>
            </a:r>
          </a:p>
        </p:txBody>
      </p:sp>
      <p:graphicFrame>
        <p:nvGraphicFramePr>
          <p:cNvPr id="402" name="CostTable 402"/>
          <p:cNvGraphicFramePr>
            <a:graphicFrameLocks noGrp="1"/>
          </p:cNvGraphicFramePr>
          <p:nvPr/>
        </p:nvGraphicFramePr>
        <p:xfrm>
          <a:off x="5943600" y="2650000"/>
          <a:ext cx="11277600" cy="1260000"/>
        </p:xfrm>
        <a:graphic>
          <a:graphicData uri="http://schemas.openxmlformats.org/drawingml/2006/table">
            <a:tbl>
              <a:tblPr rtl="1" firstRow="1" bandRow="1"/>
              <a:tblGrid>
                <a:gridCol w="3900000"/>
                <a:gridCol w="1650000"/>
                <a:gridCol w="1550000"/>
                <a:gridCol w="2400000"/>
                <a:gridCol w="1777600"/>
              </a:tblGrid>
              <a:tr h="315000">
                <a:tc>
                  <a:txBody>
                    <a:bodyPr/>
                    <a:lstStyle/>
                    <a:p>
                      <a:pPr algn="r" rtl="1"/>
                      <a:r>
                        <a:rPr lang="ar-SA" sz="12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تكلفة الأرض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المساحة م²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سعر المتر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الإجمالي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r" rtl="1"/>
                      <a:r>
                        <a:rPr lang="ar-SA" sz="12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شراء الأرض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7,782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21,000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163,422,000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36.12%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r" rtl="1"/>
                      <a:r>
                        <a:rPr lang="ar-SA" sz="12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السعي والضريبة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163,422,000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-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3,500,000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0.77%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r" rtl="1"/>
                      <a:r>
                        <a:rPr lang="ar-SA" sz="1200" b="1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تكلفة شراء الأرض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A87E33"/>
                          </a:solidFill>
                          <a:latin typeface="Bahij TheSansArabic"/>
                          <a:ea typeface="Arial"/>
                          <a:cs typeface="Arial"/>
                        </a:rPr>
                        <a:t>7,782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A87E33"/>
                          </a:solidFill>
                          <a:latin typeface="Bahij TheSansArabic"/>
                          <a:ea typeface="Arial"/>
                          <a:cs typeface="Arial"/>
                        </a:rPr>
                        <a:t>21,450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A87E33"/>
                          </a:solidFill>
                          <a:latin typeface="Bahij TheSansArabic"/>
                          <a:ea typeface="Arial"/>
                          <a:cs typeface="Arial"/>
                        </a:rPr>
                        <a:t>166,922,000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A87E33"/>
                          </a:solidFill>
                          <a:latin typeface="Bahij TheSansArabic"/>
                          <a:ea typeface="Arial"/>
                          <a:cs typeface="Arial"/>
                        </a:rPr>
                        <a:t>36.89%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03" name="CostTable 403"/>
          <p:cNvGraphicFramePr>
            <a:graphicFrameLocks noGrp="1"/>
          </p:cNvGraphicFramePr>
          <p:nvPr/>
        </p:nvGraphicFramePr>
        <p:xfrm>
          <a:off x="5943600" y="4060000"/>
          <a:ext cx="11277600" cy="1890000"/>
        </p:xfrm>
        <a:graphic>
          <a:graphicData uri="http://schemas.openxmlformats.org/drawingml/2006/table">
            <a:tbl>
              <a:tblPr rtl="1" firstRow="1" bandRow="1"/>
              <a:tblGrid>
                <a:gridCol w="3900000"/>
                <a:gridCol w="1650000"/>
                <a:gridCol w="1550000"/>
                <a:gridCol w="2400000"/>
                <a:gridCol w="1777600"/>
              </a:tblGrid>
              <a:tr h="315000">
                <a:tc>
                  <a:txBody>
                    <a:bodyPr/>
                    <a:lstStyle/>
                    <a:p>
                      <a:pPr algn="r" rtl="1"/>
                      <a:r>
                        <a:rPr lang="ar-SA" sz="12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تكلفة البناء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المساحة م²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سعر المتر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الإجمالي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r" rtl="1"/>
                      <a:r>
                        <a:rPr lang="ar-SA" sz="12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السكني شقق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28,015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3,700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103,656,240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22.91%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r" rtl="1"/>
                      <a:r>
                        <a:rPr lang="ar-SA" sz="12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المكتبي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18,677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3,200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59,765,760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13.21%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r" rtl="1"/>
                      <a:r>
                        <a:rPr lang="ar-SA" sz="12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القبو - مواقف وخدمات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23,369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2,700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63,097,234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13.95%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r" rtl="1"/>
                      <a:r>
                        <a:rPr lang="ar-SA" sz="12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الموقع العام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3,891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450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1,750,950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0.39%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r" rtl="1"/>
                      <a:r>
                        <a:rPr lang="ar-SA" sz="1200" b="1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التكاليف المباشرة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A87E33"/>
                          </a:solidFill>
                          <a:latin typeface="Bahij TheSansArabic"/>
                          <a:ea typeface="Arial"/>
                          <a:cs typeface="Arial"/>
                        </a:rPr>
                        <a:t>70,061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A87E33"/>
                          </a:solidFill>
                          <a:latin typeface="Bahij TheSansArabic"/>
                          <a:ea typeface="Arial"/>
                          <a:cs typeface="Arial"/>
                        </a:rPr>
                        <a:t>-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A87E33"/>
                          </a:solidFill>
                          <a:latin typeface="Bahij TheSansArabic"/>
                          <a:ea typeface="Arial"/>
                          <a:cs typeface="Arial"/>
                        </a:rPr>
                        <a:t>228,270,184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A87E33"/>
                          </a:solidFill>
                          <a:latin typeface="Bahij TheSansArabic"/>
                          <a:ea typeface="Arial"/>
                          <a:cs typeface="Arial"/>
                        </a:rPr>
                        <a:t>50.45%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04" name="CostTable 404"/>
          <p:cNvGraphicFramePr>
            <a:graphicFrameLocks noGrp="1"/>
          </p:cNvGraphicFramePr>
          <p:nvPr/>
        </p:nvGraphicFramePr>
        <p:xfrm>
          <a:off x="5943600" y="6100000"/>
          <a:ext cx="11277600" cy="1890000"/>
        </p:xfrm>
        <a:graphic>
          <a:graphicData uri="http://schemas.openxmlformats.org/drawingml/2006/table">
            <a:tbl>
              <a:tblPr rtl="1" firstRow="1" bandRow="1"/>
              <a:tblGrid>
                <a:gridCol w="3900000"/>
                <a:gridCol w="1650000"/>
                <a:gridCol w="1550000"/>
                <a:gridCol w="2400000"/>
                <a:gridCol w="1777600"/>
              </a:tblGrid>
              <a:tr h="315000">
                <a:tc>
                  <a:txBody>
                    <a:bodyPr/>
                    <a:lstStyle/>
                    <a:p>
                      <a:pPr algn="r" rtl="1"/>
                      <a:r>
                        <a:rPr lang="ar-SA" sz="12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التكاليف غير المباشرة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تكلفة التطوير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النسبة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المبلغ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r" rtl="1"/>
                      <a:r>
                        <a:rPr lang="ar-SA" sz="12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التكاليف الأخرى (تصاميم، إشراف، رسوم، تسويق)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228,270,184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7.59%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17,331,675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3.83%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r" rtl="1"/>
                      <a:r>
                        <a:rPr lang="ar-SA" sz="12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الاحتياطي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228,270,184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2.50%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5,706,755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1.26%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r" rtl="1"/>
                      <a:r>
                        <a:rPr lang="ar-SA" sz="12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أتعاب المطور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228,270,184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15.00%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34,240,528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7.57%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r" rtl="1"/>
                      <a:r>
                        <a:rPr lang="ar-SA" sz="1200" b="1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إجمالي التكاليف الأخرى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A87E33"/>
                          </a:solidFill>
                          <a:latin typeface="Bahij TheSansArabic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A87E33"/>
                          </a:solidFill>
                          <a:latin typeface="Bahij TheSansArabic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A87E33"/>
                          </a:solidFill>
                          <a:latin typeface="Bahij TheSansArabic"/>
                          <a:ea typeface="Arial"/>
                          <a:cs typeface="Arial"/>
                        </a:rPr>
                        <a:t>57,278,958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A87E33"/>
                          </a:solidFill>
                          <a:latin typeface="Bahij TheSansArabic"/>
                          <a:ea typeface="Arial"/>
                          <a:cs typeface="Arial"/>
                        </a:rPr>
                        <a:t>12.66%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</a:tr>
              <a:tr h="315000">
                <a:tc>
                  <a:txBody>
                    <a:bodyPr/>
                    <a:lstStyle/>
                    <a:p>
                      <a:pPr algn="r" rtl="1"/>
                      <a:r>
                        <a:rPr lang="ar-SA" sz="1200" b="1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إجمالي تكاليف التطوير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A87E33"/>
                          </a:solidFill>
                          <a:latin typeface="Bahij TheSansArabic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A87E33"/>
                          </a:solidFill>
                          <a:latin typeface="Bahij TheSansArabic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A87E33"/>
                          </a:solidFill>
                          <a:latin typeface="Bahij TheSansArabic"/>
                          <a:ea typeface="Arial"/>
                          <a:cs typeface="Arial"/>
                        </a:rPr>
                        <a:t>285,549,142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200" b="1">
                          <a:solidFill>
                            <a:srgbClr val="A87E33"/>
                          </a:solidFill>
                          <a:latin typeface="Bahij TheSansArabic"/>
                          <a:ea typeface="Arial"/>
                          <a:cs typeface="Arial"/>
                        </a:rPr>
                        <a:t>63.11%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3" name="Picture 2" descr="ext_e.jpg"/>
          <p:cNvPicPr>
            <a:picLocks noChangeAspect="1"/>
          </p:cNvPicPr>
          <p:nvPr/>
        </p:nvPicPr>
        <p:blipFill>
          <a:blip r:embed="rId2"/>
          <a:srcRect t="39439" b="39439"/>
          <a:stretch>
            <a:fillRect/>
          </a:stretch>
        </p:blipFill>
        <p:spPr>
          <a:xfrm>
            <a:off x="0" y="0"/>
            <a:ext cx="18288000" cy="34036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8288000" cy="1905000"/>
          </a:xfrm>
          <a:prstGeom prst="rect">
            <a:avLst/>
          </a:prstGeom>
          <a:gradFill rotWithShape="1">
            <a:gsLst>
              <a:gs pos="0">
                <a:srgbClr val="211611">
                  <a:alpha val="57999"/>
                </a:srgbClr>
              </a:gs>
              <a:gs pos="100000">
                <a:srgbClr val="211611">
                  <a:alpha val="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887200" y="660400"/>
            <a:ext cx="5334000" cy="254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00" b="1" spc="60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ملخص المشروع</a:t>
            </a:r>
          </a:p>
        </p:txBody>
      </p:sp>
      <p:sp>
        <p:nvSpPr>
          <p:cNvPr id="6" name="Rectangle 5"/>
          <p:cNvSpPr/>
          <p:nvPr/>
        </p:nvSpPr>
        <p:spPr>
          <a:xfrm>
            <a:off x="15519400" y="1041400"/>
            <a:ext cx="1701800" cy="889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4254480" y="3962400"/>
            <a:ext cx="2966720" cy="5905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100" b="1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105,275,175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254480" y="4426966"/>
            <a:ext cx="2966720" cy="3048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ctr" rtl="1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675246"/>
                </a:solidFill>
                <a:latin typeface="Bahij TheSansArabic"/>
                <a:ea typeface="Arial"/>
                <a:cs typeface="Arial"/>
              </a:rPr>
              <a:t>صافي الدخل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560" y="3962400"/>
            <a:ext cx="2966720" cy="5905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100" b="1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168,462,684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560" y="4426966"/>
            <a:ext cx="2966720" cy="3048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ctr" rtl="1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675246"/>
                </a:solidFill>
                <a:latin typeface="Bahij TheSansArabic"/>
                <a:ea typeface="Arial"/>
                <a:cs typeface="Arial"/>
              </a:rPr>
              <a:t>حجم الاستثمار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089380" y="4013200"/>
            <a:ext cx="9525" cy="610235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660640" y="3962400"/>
            <a:ext cx="2966720" cy="5905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100" b="1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60640" y="4426966"/>
            <a:ext cx="2966720" cy="3048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ctr" rtl="1">
              <a:lnSpc>
                <a:spcPct val="118000"/>
              </a:lnSpc>
              <a:spcAft>
                <a:spcPts val="0"/>
              </a:spcAft>
            </a:pPr>
            <a:r>
              <a:rPr sz="1300" b="1" dirty="0" err="1">
                <a:solidFill>
                  <a:srgbClr val="675246"/>
                </a:solidFill>
                <a:latin typeface="Bahij TheSansArabic"/>
                <a:ea typeface="Arial"/>
                <a:cs typeface="Arial"/>
              </a:rPr>
              <a:t>مدة</a:t>
            </a:r>
            <a:r>
              <a:rPr sz="1300" b="1" dirty="0">
                <a:solidFill>
                  <a:srgbClr val="675246"/>
                </a:solidFill>
                <a:latin typeface="Bahij TheSansArabic"/>
                <a:ea typeface="Arial"/>
                <a:cs typeface="Arial"/>
              </a:rPr>
              <a:t> </a:t>
            </a:r>
            <a:r>
              <a:rPr sz="1300" b="1" dirty="0" err="1">
                <a:solidFill>
                  <a:srgbClr val="675246"/>
                </a:solidFill>
                <a:latin typeface="Bahij TheSansArabic"/>
                <a:ea typeface="Arial"/>
                <a:cs typeface="Arial"/>
              </a:rPr>
              <a:t>المشروع</a:t>
            </a:r>
            <a:r>
              <a:rPr sz="1300" b="1" dirty="0">
                <a:solidFill>
                  <a:srgbClr val="675246"/>
                </a:solidFill>
                <a:latin typeface="Bahij TheSansArabic"/>
                <a:ea typeface="Arial"/>
                <a:cs typeface="Arial"/>
              </a:rPr>
              <a:t> </a:t>
            </a:r>
            <a:r>
              <a:rPr lang="ar-SA" sz="1300" b="1" dirty="0">
                <a:solidFill>
                  <a:srgbClr val="675246"/>
                </a:solidFill>
                <a:latin typeface="Bahij TheSansArabic"/>
                <a:ea typeface="Arial"/>
                <a:cs typeface="Arial"/>
              </a:rPr>
              <a:t>(سنوات)</a:t>
            </a:r>
            <a:endParaRPr sz="1300" b="1" dirty="0">
              <a:solidFill>
                <a:srgbClr val="675246"/>
              </a:solidFill>
              <a:latin typeface="Bahij TheSansArabic"/>
              <a:ea typeface="Arial"/>
              <a:cs typeface="Arial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792460" y="4013200"/>
            <a:ext cx="9525" cy="610235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363720" y="3962400"/>
            <a:ext cx="2966720" cy="5905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100" b="1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62.49%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3720" y="4426966"/>
            <a:ext cx="2966720" cy="3048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ctr" rtl="1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675246"/>
                </a:solidFill>
                <a:latin typeface="Bahij TheSansArabic"/>
                <a:ea typeface="Arial"/>
                <a:cs typeface="Arial"/>
              </a:rPr>
              <a:t>هامش الربح الكلي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5540" y="4013200"/>
            <a:ext cx="9525" cy="610235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066800" y="3962400"/>
            <a:ext cx="2966720" cy="5905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100" b="1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15.62%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6800" y="4426966"/>
            <a:ext cx="2966720" cy="3048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ctr" rtl="1">
              <a:lnSpc>
                <a:spcPct val="118000"/>
              </a:lnSpc>
              <a:spcAft>
                <a:spcPts val="0"/>
              </a:spcAft>
            </a:pPr>
            <a:r>
              <a:rPr sz="1300" b="1">
                <a:solidFill>
                  <a:srgbClr val="675246"/>
                </a:solidFill>
                <a:latin typeface="Bahij TheSansArabic"/>
                <a:ea typeface="Arial"/>
                <a:cs typeface="Arial"/>
              </a:rPr>
              <a:t>هامش الربح السنوي (ROI)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209800" y="9575800"/>
            <a:ext cx="15011400" cy="508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50000"/>
              </a:lnSpc>
              <a:spcAft>
                <a:spcPts val="0"/>
              </a:spcAft>
            </a:pPr>
            <a:r>
              <a:rPr sz="1150" b="0">
                <a:solidFill>
                  <a:srgbClr val="8C7B6E"/>
                </a:solidFill>
                <a:latin typeface="Bahij TheSansArabic"/>
                <a:ea typeface="Arial"/>
                <a:cs typeface="Arial"/>
              </a:rPr>
              <a:t>جميع القيم بالريال السعودي ما لم يُذكر خلاف ذلك.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7729200" y="0"/>
            <a:ext cx="11430" cy="81915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53" name="Picture 52" descr="mark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76736" y="8394700"/>
            <a:ext cx="304927" cy="622300"/>
          </a:xfrm>
          <a:prstGeom prst="rect">
            <a:avLst/>
          </a:prstGeom>
        </p:spPr>
      </p:pic>
      <p:pic>
        <p:nvPicPr>
          <p:cNvPr id="54" name="Picture 53" descr="logo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900" y="622300"/>
            <a:ext cx="1231900" cy="4445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2413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A87E33"/>
                </a:solidFill>
                <a:latin typeface="Bahij TheSansArabic"/>
                <a:ea typeface="Arial"/>
                <a:cs typeface="Arial"/>
              </a:rPr>
              <a:t>hihasier.com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1300" y="9918700"/>
            <a:ext cx="508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7</a:t>
            </a:r>
          </a:p>
        </p:txBody>
      </p:sp>
      <p:graphicFrame>
        <p:nvGraphicFramePr>
          <p:cNvPr id="405" name="SalesTable 405"/>
          <p:cNvGraphicFramePr>
            <a:graphicFrameLocks noGrp="1"/>
          </p:cNvGraphicFramePr>
          <p:nvPr/>
        </p:nvGraphicFramePr>
        <p:xfrm>
          <a:off x="9372600" y="5350000"/>
          <a:ext cx="7848600" cy="2400000"/>
        </p:xfrm>
        <a:graphic>
          <a:graphicData uri="http://schemas.openxmlformats.org/drawingml/2006/table">
            <a:tbl>
              <a:tblPr rtl="1" firstRow="1" bandRow="1"/>
              <a:tblGrid>
                <a:gridCol w="5000000"/>
                <a:gridCol w="2848600"/>
              </a:tblGrid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بيع الشقق والمكاتب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القيمة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المساحات المباعة - سكني م²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23,813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متوسط سعر المتر - سكني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14,000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المساحات المباعة - مكتبي م²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15,875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متوسط سعر المتر - مكتبي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16,000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1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إجمالي المبيعات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1">
                          <a:solidFill>
                            <a:srgbClr val="A87E33"/>
                          </a:solidFill>
                          <a:latin typeface="Bahij TheSansArabic"/>
                          <a:ea typeface="Arial"/>
                          <a:cs typeface="Arial"/>
                        </a:rPr>
                        <a:t>587,385,360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06" name="CostSummaryTable 406"/>
          <p:cNvGraphicFramePr>
            <a:graphicFrameLocks noGrp="1"/>
          </p:cNvGraphicFramePr>
          <p:nvPr/>
        </p:nvGraphicFramePr>
        <p:xfrm>
          <a:off x="1066800" y="5350000"/>
          <a:ext cx="7848600" cy="2400000"/>
        </p:xfrm>
        <a:graphic>
          <a:graphicData uri="http://schemas.openxmlformats.org/drawingml/2006/table">
            <a:tbl>
              <a:tblPr rtl="1" firstRow="1" bandRow="1"/>
              <a:tblGrid>
                <a:gridCol w="5000000"/>
                <a:gridCol w="2848600"/>
              </a:tblGrid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تكاليف المشروع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القيمة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تكلفة الأرض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166,922,000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تكاليف المباني والإنشاءات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285,549,142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تكاليف التمويل ورسوم الصندوق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29,639,044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1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إجمالي التكاليف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1">
                          <a:solidFill>
                            <a:srgbClr val="A87E33"/>
                          </a:solidFill>
                          <a:latin typeface="Bahij TheSansArabic"/>
                          <a:ea typeface="Arial"/>
                          <a:cs typeface="Arial"/>
                        </a:rPr>
                        <a:t>482,110,185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صافي الدخل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CC9C4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105,275,175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CC9C4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17729200" y="0"/>
            <a:ext cx="11430" cy="81915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4" name="Picture 3" descr="mark_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76736" y="8394700"/>
            <a:ext cx="304927" cy="622300"/>
          </a:xfrm>
          <a:prstGeom prst="rect">
            <a:avLst/>
          </a:prstGeom>
        </p:spPr>
      </p:pic>
      <p:pic>
        <p:nvPicPr>
          <p:cNvPr id="5" name="Picture 4" descr="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444500"/>
            <a:ext cx="850900" cy="30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574800" y="495300"/>
            <a:ext cx="1574800" cy="2794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أرباح المشروع</a:t>
            </a:r>
          </a:p>
        </p:txBody>
      </p:sp>
      <p:sp>
        <p:nvSpPr>
          <p:cNvPr id="7" name="Rectangle 6"/>
          <p:cNvSpPr/>
          <p:nvPr/>
        </p:nvSpPr>
        <p:spPr>
          <a:xfrm>
            <a:off x="3302000" y="558800"/>
            <a:ext cx="14986000" cy="1270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413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A87E33"/>
                </a:solidFill>
                <a:latin typeface="Bahij TheSansArabic"/>
                <a:ea typeface="Arial"/>
                <a:cs typeface="Arial"/>
              </a:rPr>
              <a:t>hihasier.com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1300" y="9918700"/>
            <a:ext cx="508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69200" y="1727200"/>
            <a:ext cx="9652000" cy="5334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22000"/>
              </a:lnSpc>
              <a:spcAft>
                <a:spcPts val="0"/>
              </a:spcAft>
            </a:pPr>
            <a:r>
              <a:rPr sz="2800" b="1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أرباح المشروع وعائد المستثمر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519400" y="2362200"/>
            <a:ext cx="1701800" cy="889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066800" y="1905000"/>
            <a:ext cx="8128000" cy="508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l" rtl="1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8C7B6E"/>
                </a:solidFill>
                <a:latin typeface="Bahij TheSansArabic"/>
                <a:ea typeface="Arial"/>
                <a:cs typeface="Arial"/>
              </a:rPr>
              <a:t>صافي التدفق النقدي للمشروع، حافز الأداء، والعائد المحقق للمستثمر.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209800" y="9575800"/>
            <a:ext cx="15011400" cy="508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50000"/>
              </a:lnSpc>
              <a:spcAft>
                <a:spcPts val="0"/>
              </a:spcAft>
            </a:pPr>
            <a:r>
              <a:rPr sz="1150" b="0">
                <a:solidFill>
                  <a:srgbClr val="8C7B6E"/>
                </a:solidFill>
                <a:latin typeface="Bahij TheSansArabic"/>
                <a:ea typeface="Arial"/>
                <a:cs typeface="Arial"/>
              </a:rPr>
              <a:t>القيم بالريال السعودي. حافز الأداء وفق النموذج الاستثماري المعتمد للمشروع.</a:t>
            </a:r>
          </a:p>
        </p:txBody>
      </p:sp>
      <p:graphicFrame>
        <p:nvGraphicFramePr>
          <p:cNvPr id="407" name="ProfitTable 407"/>
          <p:cNvGraphicFramePr>
            <a:graphicFrameLocks noGrp="1"/>
          </p:cNvGraphicFramePr>
          <p:nvPr/>
        </p:nvGraphicFramePr>
        <p:xfrm>
          <a:off x="1066800" y="2850000"/>
          <a:ext cx="16154400" cy="1600000"/>
        </p:xfrm>
        <a:graphic>
          <a:graphicData uri="http://schemas.openxmlformats.org/drawingml/2006/table">
            <a:tbl>
              <a:tblPr rtl="1" firstRow="1" bandRow="1"/>
              <a:tblGrid>
                <a:gridCol w="12000000"/>
                <a:gridCol w="4154400"/>
              </a:tblGrid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أرباح المشروع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المبلغ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صافي التدفق النقدي للمشروع - قبل حافز الأداء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105,275,175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حافز الأداء (30% من الفائض فوق العائد المستهدف 10%)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16,539,671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1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صافي الربح بعد حافز الأداء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1">
                          <a:solidFill>
                            <a:srgbClr val="A87E33"/>
                          </a:solidFill>
                          <a:latin typeface="Bahij TheSansArabic"/>
                          <a:ea typeface="Arial"/>
                          <a:cs typeface="Arial"/>
                        </a:rPr>
                        <a:t>88,735,503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CC9C47"/>
                      </a:solidFill>
                    </a:lnT>
                    <a:lnB w="9525">
                      <a:solidFill>
                        <a:srgbClr val="CC9C47"/>
                      </a:solidFill>
                    </a:lnB>
                    <a:solidFill>
                      <a:srgbClr val="F1E6D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08" name="InvestorTable 408"/>
          <p:cNvGraphicFramePr>
            <a:graphicFrameLocks noGrp="1"/>
          </p:cNvGraphicFramePr>
          <p:nvPr/>
        </p:nvGraphicFramePr>
        <p:xfrm>
          <a:off x="9372600" y="5100000"/>
          <a:ext cx="7848600" cy="2800000"/>
        </p:xfrm>
        <a:graphic>
          <a:graphicData uri="http://schemas.openxmlformats.org/drawingml/2006/table">
            <a:tbl>
              <a:tblPr rtl="1" firstRow="1" bandRow="1"/>
              <a:tblGrid>
                <a:gridCol w="5000000"/>
                <a:gridCol w="2848600"/>
              </a:tblGrid>
              <a:tr h="400000">
                <a:tc gridSpan="2">
                  <a:txBody>
                    <a:bodyPr/>
                    <a:lstStyle/>
                    <a:p>
                      <a:pPr algn="r" rtl="1"/>
                      <a:r>
                        <a:rPr lang="ar-SA" sz="13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صافي الربح بعد خصم الحافز للمستثمر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31211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ar-SA"/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صافي التدفق النقدي - بعد حافز الأداء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110,735,503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معدل العائد الداخلي IRR - بعد حافز الأداء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14.36%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مدة المشروع (سنوات)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4.0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حجم الاستثمار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168,462,684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solidFill>
                      <a:srgbClr val="F8F4EE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0">
                          <a:solidFill>
                            <a:srgbClr val="675246"/>
                          </a:solidFill>
                          <a:latin typeface="Bahij TheSansArabic"/>
                          <a:ea typeface="Arial"/>
                          <a:cs typeface="Arial"/>
                        </a:rPr>
                        <a:t>هامش الربح الكلي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0">
                          <a:solidFill>
                            <a:srgbClr val="312117"/>
                          </a:solidFill>
                          <a:latin typeface="Bahij TheSansArabic"/>
                          <a:ea typeface="Arial"/>
                          <a:cs typeface="Arial"/>
                        </a:rPr>
                        <a:t>65.73%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7E1D8"/>
                      </a:solidFill>
                    </a:lnB>
                    <a:noFill/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r" rtl="1"/>
                      <a:r>
                        <a:rPr lang="ar-SA" sz="13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هامش الربح السنوي ROI - بعد حافز الأداء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CC9C4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00" b="1">
                          <a:solidFill>
                            <a:srgbClr val="FFFFFF"/>
                          </a:solidFill>
                          <a:latin typeface="Bahij TheSansArabic"/>
                          <a:ea typeface="Arial"/>
                          <a:cs typeface="Arial"/>
                        </a:rPr>
                        <a:t>16.43%</a:t>
                      </a:r>
                    </a:p>
                  </a:txBody>
                  <a:tcPr marL="91440" marR="91440" marT="36000" marB="36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CC9C47"/>
                    </a:solidFill>
                  </a:tcPr>
                </a:tc>
              </a:tr>
            </a:tbl>
          </a:graphicData>
        </a:graphic>
      </p:graphicFrame>
      <p:sp>
        <p:nvSpPr>
          <p:cNvPr id="409" name="TextBox 409"/>
          <p:cNvSpPr txBox="1"/>
          <p:nvPr/>
        </p:nvSpPr>
        <p:spPr>
          <a:xfrm>
            <a:off x="1066800" y="5100000"/>
            <a:ext cx="7848600" cy="254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lang="ar-SA" sz="1400" b="1">
                <a:solidFill>
                  <a:srgbClr val="A87E33"/>
                </a:solidFill>
                <a:latin typeface="Bahij TheSansArabic"/>
                <a:ea typeface="Arial"/>
                <a:cs typeface="Arial"/>
              </a:rPr>
              <a:t>صافي التدفق النقدي للمستثمر بعد حافز الأداء</a:t>
            </a:r>
          </a:p>
        </p:txBody>
      </p:sp>
      <p:sp>
        <p:nvSpPr>
          <p:cNvPr id="410" name="Rectangle 410"/>
          <p:cNvSpPr/>
          <p:nvPr/>
        </p:nvSpPr>
        <p:spPr>
          <a:xfrm>
            <a:off x="1066800" y="5404800"/>
            <a:ext cx="7848600" cy="17780"/>
          </a:xfrm>
          <a:prstGeom prst="rect">
            <a:avLst/>
          </a:prstGeom>
          <a:solidFill>
            <a:srgbClr val="CC9C47"/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1" name="TextBox 411"/>
          <p:cNvSpPr txBox="1"/>
          <p:nvPr/>
        </p:nvSpPr>
        <p:spPr>
          <a:xfrm>
            <a:off x="1066800" y="5800000"/>
            <a:ext cx="7848600" cy="7366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lang="ar-SA" sz="4400" b="1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110,735,503</a:t>
            </a:r>
          </a:p>
        </p:txBody>
      </p:sp>
      <p:sp>
        <p:nvSpPr>
          <p:cNvPr id="412" name="TextBox 412"/>
          <p:cNvSpPr txBox="1"/>
          <p:nvPr/>
        </p:nvSpPr>
        <p:spPr>
          <a:xfrm>
            <a:off x="1066800" y="6600000"/>
            <a:ext cx="7848600" cy="2794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lang="ar-SA" sz="1200" b="0">
                <a:solidFill>
                  <a:srgbClr val="8C7B6E"/>
                </a:solidFill>
                <a:latin typeface="Bahij TheSansArabic"/>
                <a:ea typeface="Arial"/>
                <a:cs typeface="Arial"/>
              </a:rPr>
              <a:t>ريال سعودي</a:t>
            </a:r>
          </a:p>
        </p:txBody>
      </p:sp>
      <p:sp>
        <p:nvSpPr>
          <p:cNvPr id="413" name="TextBox 413"/>
          <p:cNvSpPr txBox="1"/>
          <p:nvPr/>
        </p:nvSpPr>
        <p:spPr>
          <a:xfrm>
            <a:off x="1066800" y="7300000"/>
            <a:ext cx="7848600" cy="254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lang="ar-SA" sz="1400" b="1">
                <a:solidFill>
                  <a:srgbClr val="A87E33"/>
                </a:solidFill>
                <a:latin typeface="Bahij TheSansArabic"/>
                <a:ea typeface="Arial"/>
                <a:cs typeface="Arial"/>
              </a:rPr>
              <a:t>هامش الربح السنوي ROI بعد حافز الأداء</a:t>
            </a:r>
          </a:p>
        </p:txBody>
      </p:sp>
      <p:sp>
        <p:nvSpPr>
          <p:cNvPr id="414" name="Rectangle 414"/>
          <p:cNvSpPr/>
          <p:nvPr/>
        </p:nvSpPr>
        <p:spPr>
          <a:xfrm>
            <a:off x="1066800" y="7604800"/>
            <a:ext cx="7848600" cy="17780"/>
          </a:xfrm>
          <a:prstGeom prst="rect">
            <a:avLst/>
          </a:prstGeom>
          <a:solidFill>
            <a:srgbClr val="CC9C47"/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5" name="TextBox 415"/>
          <p:cNvSpPr txBox="1"/>
          <p:nvPr/>
        </p:nvSpPr>
        <p:spPr>
          <a:xfrm>
            <a:off x="1066800" y="7800000"/>
            <a:ext cx="7848600" cy="7366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lang="ar-SA" sz="4400" b="1">
                <a:solidFill>
                  <a:srgbClr val="CC9C47"/>
                </a:solidFill>
                <a:latin typeface="Bahij TheSansArabic"/>
                <a:ea typeface="Arial"/>
                <a:cs typeface="Arial"/>
              </a:rPr>
              <a:t>16.43%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3" name="Picture 2" descr="ext_a.jpg"/>
          <p:cNvPicPr>
            <a:picLocks noChangeAspect="1"/>
          </p:cNvPicPr>
          <p:nvPr/>
        </p:nvPicPr>
        <p:blipFill>
          <a:blip r:embed="rId2"/>
          <a:srcRect t="20505" b="24071"/>
          <a:stretch>
            <a:fillRect/>
          </a:stretch>
        </p:blipFill>
        <p:spPr>
          <a:xfrm>
            <a:off x="406400" y="1143000"/>
            <a:ext cx="15951200" cy="8001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1684000" y="3175000"/>
            <a:ext cx="4470400" cy="3327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2090400" y="3708400"/>
            <a:ext cx="3657600" cy="254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00" b="1" spc="60">
                <a:solidFill>
                  <a:srgbClr val="A87E33"/>
                </a:solidFill>
                <a:latin typeface="Bahij TheSansArabic"/>
                <a:ea typeface="Arial"/>
                <a:cs typeface="Arial"/>
              </a:rPr>
              <a:t>الواجهات الخارجية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90400" y="4140200"/>
            <a:ext cx="3657600" cy="1651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just" rtl="1">
              <a:lnSpc>
                <a:spcPct val="174000"/>
              </a:lnSpc>
              <a:spcAft>
                <a:spcPts val="0"/>
              </a:spcAft>
            </a:pPr>
            <a:r>
              <a:rPr lang="ar-SA" sz="1600" b="0" i="0" u="none" strike="noStrike" dirty="0">
                <a:solidFill>
                  <a:srgbClr val="000000"/>
                </a:solidFill>
                <a:effectLst/>
                <a:latin typeface="Bahij TheSansArabic"/>
                <a:cs typeface="Arial" panose="02040503050201020203" pitchFamily="18" charset="-78"/>
              </a:rPr>
              <a:t>واجهات بتصميم معاصر وبسيط، تتكامل مع الهوية السكنية للمشروع وتوحّد الطابع المعماري للوحدات.</a:t>
            </a:r>
            <a:endParaRPr sz="1650" b="0" dirty="0">
              <a:solidFill>
                <a:srgbClr val="675246"/>
              </a:solidFill>
              <a:latin typeface="Bahij TheSansArabic"/>
              <a:ea typeface="Arial"/>
              <a:cs typeface="Arial" panose="02040503050201020203" pitchFamily="18" charset="-78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4046200" y="5791200"/>
            <a:ext cx="1701800" cy="889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06400" y="9423400"/>
            <a:ext cx="6604000" cy="508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l" rtl="1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8C7B6E"/>
                </a:solidFill>
                <a:latin typeface="Bahij TheSansArabic"/>
                <a:ea typeface="Arial"/>
                <a:cs typeface="Arial"/>
              </a:rPr>
              <a:t>الواجهة الرئيسية — منظور خارجي</a:t>
            </a:r>
          </a:p>
        </p:txBody>
      </p:sp>
      <p:sp>
        <p:nvSpPr>
          <p:cNvPr id="9" name="Rectangle 8"/>
          <p:cNvSpPr/>
          <p:nvPr/>
        </p:nvSpPr>
        <p:spPr>
          <a:xfrm>
            <a:off x="17729200" y="0"/>
            <a:ext cx="11430" cy="81915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10" name="Picture 9" descr="mark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76736" y="8394700"/>
            <a:ext cx="304927" cy="622300"/>
          </a:xfrm>
          <a:prstGeom prst="rect">
            <a:avLst/>
          </a:prstGeom>
        </p:spPr>
      </p:pic>
      <p:pic>
        <p:nvPicPr>
          <p:cNvPr id="11" name="Picture 10" descr="logo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900" y="622300"/>
            <a:ext cx="1231900" cy="4445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78181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A87E33"/>
                </a:solidFill>
                <a:latin typeface="Bahij TheSansArabic"/>
                <a:ea typeface="Arial"/>
                <a:cs typeface="Arial"/>
              </a:rPr>
              <a:t>hihasier.com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1300" y="9918700"/>
            <a:ext cx="508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3" name="Picture 2" descr="ext_g.jpg"/>
          <p:cNvPicPr>
            <a:picLocks noChangeAspect="1"/>
          </p:cNvPicPr>
          <p:nvPr/>
        </p:nvPicPr>
        <p:blipFill>
          <a:blip r:embed="rId2"/>
          <a:srcRect t="19088" b="19088"/>
          <a:stretch>
            <a:fillRect/>
          </a:stretch>
        </p:blipFill>
        <p:spPr>
          <a:xfrm>
            <a:off x="0" y="0"/>
            <a:ext cx="11074400" cy="10287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039600" y="4826000"/>
            <a:ext cx="5181600" cy="254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00" b="1" spc="60">
                <a:solidFill>
                  <a:srgbClr val="A87E33"/>
                </a:solidFill>
                <a:latin typeface="Bahij TheSansArabic"/>
                <a:ea typeface="Arial"/>
                <a:cs typeface="Arial"/>
              </a:rPr>
              <a:t>المساحات المشتركة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039600" y="5232400"/>
            <a:ext cx="5181600" cy="12192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22000"/>
              </a:lnSpc>
              <a:spcAft>
                <a:spcPts val="0"/>
              </a:spcAft>
            </a:pPr>
            <a:r>
              <a:rPr sz="3200" b="1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أفنية ومرافق</a:t>
            </a:r>
          </a:p>
          <a:p>
            <a:pPr algn="r" rtl="1">
              <a:lnSpc>
                <a:spcPct val="122000"/>
              </a:lnSpc>
              <a:spcAft>
                <a:spcPts val="0"/>
              </a:spcAft>
            </a:pPr>
            <a:r>
              <a:rPr sz="3200" b="1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مشتركة</a:t>
            </a:r>
          </a:p>
        </p:txBody>
      </p:sp>
      <p:sp>
        <p:nvSpPr>
          <p:cNvPr id="6" name="Rectangle 5"/>
          <p:cNvSpPr/>
          <p:nvPr/>
        </p:nvSpPr>
        <p:spPr>
          <a:xfrm>
            <a:off x="15519400" y="6528815"/>
            <a:ext cx="1701800" cy="889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2039600" y="6922515"/>
            <a:ext cx="5181600" cy="1905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just" rtl="1">
              <a:lnSpc>
                <a:spcPct val="172000"/>
              </a:lnSpc>
              <a:spcAft>
                <a:spcPts val="0"/>
              </a:spcAft>
            </a:pPr>
            <a:r>
              <a:rPr sz="1600" b="0">
                <a:solidFill>
                  <a:srgbClr val="675246"/>
                </a:solidFill>
                <a:latin typeface="Bahij TheSansArabic"/>
                <a:ea typeface="Arial"/>
                <a:cs typeface="Arial"/>
              </a:rPr>
              <a:t>أفنية ومظلات وعناصر خدمية مشتركة تربط مكوّنات المشروع وتمنح السكّان فراغًا خارجيًا مُهيّأ على مدار العام.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39600" y="8890000"/>
            <a:ext cx="5181600" cy="508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8C7B6E"/>
                </a:solidFill>
                <a:latin typeface="Bahij TheSansArabic"/>
                <a:ea typeface="Arial"/>
                <a:cs typeface="Arial"/>
              </a:rPr>
              <a:t>منظور للفناء الداخلي</a:t>
            </a:r>
          </a:p>
        </p:txBody>
      </p:sp>
      <p:sp>
        <p:nvSpPr>
          <p:cNvPr id="9" name="Rectangle 8"/>
          <p:cNvSpPr/>
          <p:nvPr/>
        </p:nvSpPr>
        <p:spPr>
          <a:xfrm>
            <a:off x="546100" y="0"/>
            <a:ext cx="11430" cy="819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10" name="Picture 9" descr="mark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636" y="8394700"/>
            <a:ext cx="304927" cy="622300"/>
          </a:xfrm>
          <a:prstGeom prst="rect">
            <a:avLst/>
          </a:prstGeom>
        </p:spPr>
      </p:pic>
      <p:pic>
        <p:nvPicPr>
          <p:cNvPr id="11" name="Picture 10" descr="logo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9200" y="622300"/>
            <a:ext cx="1231900" cy="4445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78181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A87E33"/>
                </a:solidFill>
                <a:latin typeface="Bahij TheSansArabic"/>
                <a:ea typeface="Arial"/>
                <a:cs typeface="Arial"/>
              </a:rPr>
              <a:t>hihasier.com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38700" y="9918700"/>
            <a:ext cx="508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3" name="Picture 2" descr="ext_c.jpg"/>
          <p:cNvPicPr>
            <a:picLocks noChangeAspect="1"/>
          </p:cNvPicPr>
          <p:nvPr/>
        </p:nvPicPr>
        <p:blipFill>
          <a:blip r:embed="rId2"/>
          <a:srcRect t="30247" b="35507"/>
          <a:stretch>
            <a:fillRect/>
          </a:stretch>
        </p:blipFill>
        <p:spPr>
          <a:xfrm>
            <a:off x="3810000" y="0"/>
            <a:ext cx="14478000" cy="7315200"/>
          </a:xfrm>
          <a:prstGeom prst="rect">
            <a:avLst/>
          </a:prstGeom>
        </p:spPr>
      </p:pic>
      <p:pic>
        <p:nvPicPr>
          <p:cNvPr id="4" name="Picture 3" descr="ext_d.jpg"/>
          <p:cNvPicPr>
            <a:picLocks noChangeAspect="1"/>
          </p:cNvPicPr>
          <p:nvPr/>
        </p:nvPicPr>
        <p:blipFill>
          <a:blip r:embed="rId3"/>
          <a:srcRect t="11575" b="11575"/>
          <a:stretch>
            <a:fillRect/>
          </a:stretch>
        </p:blipFill>
        <p:spPr>
          <a:xfrm>
            <a:off x="1066800" y="5181600"/>
            <a:ext cx="5334000" cy="3810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066800" y="5181600"/>
            <a:ext cx="5334000" cy="3810000"/>
          </a:xfrm>
          <a:prstGeom prst="rect">
            <a:avLst/>
          </a:prstGeom>
          <a:noFill/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5519400" y="8622538"/>
            <a:ext cx="1701800" cy="889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347200" y="8990838"/>
            <a:ext cx="7874000" cy="508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8C7B6E"/>
                </a:solidFill>
                <a:latin typeface="Bahij TheSansArabic"/>
                <a:ea typeface="Arial"/>
                <a:cs typeface="Arial"/>
              </a:rPr>
              <a:t>تدرّج الكتل والمظلات والمعالجات البصرية للواجهات.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6100" y="0"/>
            <a:ext cx="11430" cy="819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10" name="Picture 9" descr="mark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636" y="8394700"/>
            <a:ext cx="304927" cy="622300"/>
          </a:xfrm>
          <a:prstGeom prst="rect">
            <a:avLst/>
          </a:prstGeom>
        </p:spPr>
      </p:pic>
      <p:pic>
        <p:nvPicPr>
          <p:cNvPr id="11" name="Picture 10" descr="logo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0" y="622300"/>
            <a:ext cx="1231900" cy="4445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78181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A87E33"/>
                </a:solidFill>
                <a:latin typeface="Bahij TheSansArabic"/>
                <a:ea typeface="Arial"/>
                <a:cs typeface="Arial"/>
              </a:rPr>
              <a:t>hihasier.com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38700" y="9918700"/>
            <a:ext cx="508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3" name="Picture 2" descr="int_a.jpg"/>
          <p:cNvPicPr>
            <a:picLocks noChangeAspect="1"/>
          </p:cNvPicPr>
          <p:nvPr/>
        </p:nvPicPr>
        <p:blipFill>
          <a:blip r:embed="rId2"/>
          <a:srcRect t="6396" b="6396"/>
          <a:stretch>
            <a:fillRect/>
          </a:stretch>
        </p:blipFill>
        <p:spPr>
          <a:xfrm>
            <a:off x="0" y="0"/>
            <a:ext cx="10033000" cy="10287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5519400" y="6489192"/>
            <a:ext cx="1701800" cy="889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947400" y="8890000"/>
            <a:ext cx="6273800" cy="508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8C7B6E"/>
                </a:solidFill>
                <a:latin typeface="Bahij TheSansArabic"/>
                <a:ea typeface="Arial"/>
                <a:cs typeface="Arial"/>
              </a:rPr>
              <a:t>الصالة الرئيسية — منظور داخلي</a:t>
            </a:r>
          </a:p>
        </p:txBody>
      </p:sp>
      <p:sp>
        <p:nvSpPr>
          <p:cNvPr id="8" name="Rectangle 7"/>
          <p:cNvSpPr/>
          <p:nvPr/>
        </p:nvSpPr>
        <p:spPr>
          <a:xfrm>
            <a:off x="17729200" y="0"/>
            <a:ext cx="11430" cy="81915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9" name="Picture 8" descr="mark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76736" y="8394700"/>
            <a:ext cx="304927" cy="622300"/>
          </a:xfrm>
          <a:prstGeom prst="rect">
            <a:avLst/>
          </a:prstGeom>
        </p:spPr>
      </p:pic>
      <p:pic>
        <p:nvPicPr>
          <p:cNvPr id="10" name="Picture 9" descr="logo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900" y="622300"/>
            <a:ext cx="1231900" cy="4445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413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A87E33"/>
                </a:solidFill>
                <a:latin typeface="Bahij TheSansArabic"/>
                <a:ea typeface="Arial"/>
                <a:cs typeface="Arial"/>
              </a:rPr>
              <a:t>hihasier.com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1300" y="9918700"/>
            <a:ext cx="508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3" name="Picture 2" descr="int_c.jpg"/>
          <p:cNvPicPr>
            <a:picLocks noChangeAspect="1"/>
          </p:cNvPicPr>
          <p:nvPr/>
        </p:nvPicPr>
        <p:blipFill>
          <a:blip r:embed="rId2"/>
          <a:srcRect t="22836" b="22836"/>
          <a:stretch>
            <a:fillRect/>
          </a:stretch>
        </p:blipFill>
        <p:spPr>
          <a:xfrm>
            <a:off x="0" y="0"/>
            <a:ext cx="11226800" cy="6858000"/>
          </a:xfrm>
          <a:prstGeom prst="rect">
            <a:avLst/>
          </a:prstGeom>
        </p:spPr>
      </p:pic>
      <p:pic>
        <p:nvPicPr>
          <p:cNvPr id="4" name="Picture 3" descr="int_d.jpg"/>
          <p:cNvPicPr>
            <a:picLocks noChangeAspect="1"/>
          </p:cNvPicPr>
          <p:nvPr/>
        </p:nvPicPr>
        <p:blipFill>
          <a:blip r:embed="rId3"/>
          <a:srcRect t="25048" b="25048"/>
          <a:stretch>
            <a:fillRect/>
          </a:stretch>
        </p:blipFill>
        <p:spPr>
          <a:xfrm>
            <a:off x="10414000" y="4191000"/>
            <a:ext cx="6807200" cy="5080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0414000" y="4191000"/>
            <a:ext cx="6807200" cy="5080000"/>
          </a:xfrm>
          <a:prstGeom prst="rect">
            <a:avLst/>
          </a:prstGeom>
          <a:noFill/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477000" y="8429244"/>
            <a:ext cx="1701800" cy="889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17729200" y="0"/>
            <a:ext cx="11430" cy="81915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10" name="Picture 9" descr="mark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76736" y="8394700"/>
            <a:ext cx="304927" cy="622300"/>
          </a:xfrm>
          <a:prstGeom prst="rect">
            <a:avLst/>
          </a:prstGeom>
        </p:spPr>
      </p:pic>
      <p:pic>
        <p:nvPicPr>
          <p:cNvPr id="11" name="Picture 10" descr="logo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900" y="622300"/>
            <a:ext cx="1231900" cy="4445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413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A87E33"/>
                </a:solidFill>
                <a:latin typeface="Bahij TheSansArabic"/>
                <a:ea typeface="Arial"/>
                <a:cs typeface="Arial"/>
              </a:rPr>
              <a:t>hihasier.com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1300" y="9918700"/>
            <a:ext cx="508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17729200" y="0"/>
            <a:ext cx="11430" cy="81915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4" name="Picture 3" descr="mark_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76736" y="8394700"/>
            <a:ext cx="304927" cy="622300"/>
          </a:xfrm>
          <a:prstGeom prst="rect">
            <a:avLst/>
          </a:prstGeom>
        </p:spPr>
      </p:pic>
      <p:pic>
        <p:nvPicPr>
          <p:cNvPr id="5" name="Picture 4" descr="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444500"/>
            <a:ext cx="850900" cy="30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574800" y="495300"/>
            <a:ext cx="1574800" cy="2794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00" b="1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التصاميم الداخلية</a:t>
            </a:r>
          </a:p>
        </p:txBody>
      </p:sp>
      <p:sp>
        <p:nvSpPr>
          <p:cNvPr id="7" name="Rectangle 6"/>
          <p:cNvSpPr/>
          <p:nvPr/>
        </p:nvSpPr>
        <p:spPr>
          <a:xfrm>
            <a:off x="3302000" y="558800"/>
            <a:ext cx="14986000" cy="1270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413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A87E33"/>
                </a:solidFill>
                <a:latin typeface="Bahij TheSansArabic"/>
                <a:ea typeface="Arial"/>
                <a:cs typeface="Arial"/>
              </a:rPr>
              <a:t>hihasier.com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1300" y="9918700"/>
            <a:ext cx="508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14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519400" y="2399538"/>
            <a:ext cx="1701800" cy="889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13" name="Picture 12" descr="int_e.jpg"/>
          <p:cNvPicPr>
            <a:picLocks noChangeAspect="1"/>
          </p:cNvPicPr>
          <p:nvPr/>
        </p:nvPicPr>
        <p:blipFill>
          <a:blip r:embed="rId4"/>
          <a:srcRect t="4277" b="4277"/>
          <a:stretch>
            <a:fillRect/>
          </a:stretch>
        </p:blipFill>
        <p:spPr>
          <a:xfrm>
            <a:off x="1066800" y="3810000"/>
            <a:ext cx="5181600" cy="5334000"/>
          </a:xfrm>
          <a:prstGeom prst="rect">
            <a:avLst/>
          </a:prstGeom>
        </p:spPr>
      </p:pic>
      <p:pic>
        <p:nvPicPr>
          <p:cNvPr id="14" name="Picture 13" descr="int_g.jpg"/>
          <p:cNvPicPr>
            <a:picLocks noChangeAspect="1"/>
          </p:cNvPicPr>
          <p:nvPr/>
        </p:nvPicPr>
        <p:blipFill>
          <a:blip r:embed="rId5"/>
          <a:srcRect t="2229" b="2229"/>
          <a:stretch>
            <a:fillRect/>
          </a:stretch>
        </p:blipFill>
        <p:spPr>
          <a:xfrm>
            <a:off x="6604000" y="3327400"/>
            <a:ext cx="5181600" cy="5816600"/>
          </a:xfrm>
          <a:prstGeom prst="rect">
            <a:avLst/>
          </a:prstGeom>
        </p:spPr>
      </p:pic>
      <p:pic>
        <p:nvPicPr>
          <p:cNvPr id="15" name="Picture 14" descr="int_f.jpg"/>
          <p:cNvPicPr>
            <a:picLocks noChangeAspect="1"/>
          </p:cNvPicPr>
          <p:nvPr/>
        </p:nvPicPr>
        <p:blipFill>
          <a:blip r:embed="rId6"/>
          <a:srcRect t="24379" b="24379"/>
          <a:stretch>
            <a:fillRect/>
          </a:stretch>
        </p:blipFill>
        <p:spPr>
          <a:xfrm>
            <a:off x="12141200" y="3810000"/>
            <a:ext cx="5181600" cy="5334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3" name="Picture 2" descr="int_j.jpg"/>
          <p:cNvPicPr>
            <a:picLocks noChangeAspect="1"/>
          </p:cNvPicPr>
          <p:nvPr/>
        </p:nvPicPr>
        <p:blipFill>
          <a:blip r:embed="rId2"/>
          <a:srcRect t="24286" b="24286"/>
          <a:stretch>
            <a:fillRect/>
          </a:stretch>
        </p:blipFill>
        <p:spPr>
          <a:xfrm>
            <a:off x="5969000" y="0"/>
            <a:ext cx="12319000" cy="7924800"/>
          </a:xfrm>
          <a:prstGeom prst="rect">
            <a:avLst/>
          </a:prstGeom>
        </p:spPr>
      </p:pic>
      <p:pic>
        <p:nvPicPr>
          <p:cNvPr id="4" name="Picture 3" descr="int_k.jpg"/>
          <p:cNvPicPr>
            <a:picLocks noChangeAspect="1"/>
          </p:cNvPicPr>
          <p:nvPr/>
        </p:nvPicPr>
        <p:blipFill>
          <a:blip r:embed="rId3"/>
          <a:srcRect t="12714" b="12714"/>
          <a:stretch>
            <a:fillRect/>
          </a:stretch>
        </p:blipFill>
        <p:spPr>
          <a:xfrm>
            <a:off x="1066800" y="4470400"/>
            <a:ext cx="4292600" cy="345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66800" y="2787650"/>
            <a:ext cx="4292600" cy="254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400" b="1" spc="60" dirty="0" err="1">
                <a:solidFill>
                  <a:srgbClr val="A87E33"/>
                </a:solidFill>
                <a:latin typeface="Bahij TheSansArabic"/>
                <a:ea typeface="Arial"/>
                <a:cs typeface="Arial"/>
              </a:rPr>
              <a:t>التشطيبات</a:t>
            </a:r>
            <a:endParaRPr sz="1400" b="1" spc="60" dirty="0">
              <a:solidFill>
                <a:srgbClr val="A87E33"/>
              </a:solidFill>
              <a:latin typeface="Bahij TheSansArabic"/>
              <a:ea typeface="Arial"/>
              <a:cs typeface="Arial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657600" y="3403600"/>
            <a:ext cx="1701800" cy="889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969000" y="8737600"/>
            <a:ext cx="11252200" cy="7620"/>
          </a:xfrm>
          <a:prstGeom prst="rect">
            <a:avLst/>
          </a:prstGeom>
          <a:solidFill>
            <a:srgbClr val="E7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969000" y="8966200"/>
            <a:ext cx="11252200" cy="508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8C7B6E"/>
                </a:solidFill>
                <a:latin typeface="Bahij TheSansArabic"/>
                <a:ea typeface="Arial"/>
                <a:cs typeface="Arial"/>
              </a:rPr>
              <a:t>مواد التشطيب النهائية ومستوى الإنهاء المستهدف.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729200" y="0"/>
            <a:ext cx="11430" cy="819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11" name="Picture 10" descr="mark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76736" y="8394700"/>
            <a:ext cx="304927" cy="622300"/>
          </a:xfrm>
          <a:prstGeom prst="rect">
            <a:avLst/>
          </a:prstGeom>
        </p:spPr>
      </p:pic>
      <p:pic>
        <p:nvPicPr>
          <p:cNvPr id="12" name="Picture 11" descr="logo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900" y="622300"/>
            <a:ext cx="1231900" cy="4445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413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A87E33"/>
                </a:solidFill>
                <a:latin typeface="Bahij TheSansArabic"/>
                <a:ea typeface="Arial"/>
                <a:cs typeface="Arial"/>
              </a:rPr>
              <a:t>hihasier.com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1300" y="9918700"/>
            <a:ext cx="508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1" eaLnBrk="1" latinLnBrk="0" hangingPunct="1"/>
            <a:endParaRPr>
              <a:latin typeface="Bahij TheSansArabic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293100" y="2768600"/>
            <a:ext cx="1701800" cy="889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048000" y="3327400"/>
            <a:ext cx="12192000" cy="2540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ctr" rtl="1">
              <a:lnSpc>
                <a:spcPct val="134000"/>
              </a:lnSpc>
              <a:spcAft>
                <a:spcPts val="0"/>
              </a:spcAft>
            </a:pPr>
            <a:r>
              <a:rPr sz="5200" b="1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من رسمٍ أولي …</a:t>
            </a:r>
          </a:p>
          <a:p>
            <a:pPr algn="ctr" rtl="1">
              <a:lnSpc>
                <a:spcPct val="134000"/>
              </a:lnSpc>
              <a:spcAft>
                <a:spcPts val="0"/>
              </a:spcAft>
            </a:pPr>
            <a:r>
              <a:rPr sz="5200" b="1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إلى كيانٍ يكتمل.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48000" y="5943600"/>
            <a:ext cx="12192000" cy="508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ctr" rtl="1">
              <a:lnSpc>
                <a:spcPct val="150000"/>
              </a:lnSpc>
              <a:spcAft>
                <a:spcPts val="0"/>
              </a:spcAft>
            </a:pPr>
            <a:r>
              <a:rPr sz="1200" b="0">
                <a:solidFill>
                  <a:srgbClr val="8C7B6E"/>
                </a:solidFill>
                <a:latin typeface="Bahij TheSansArabic"/>
                <a:ea typeface="Arial"/>
                <a:cs typeface="Arial"/>
              </a:rPr>
              <a:t>مشروع أرض العليا  ·  شركة حصير للتطوير العقاري</a:t>
            </a:r>
          </a:p>
        </p:txBody>
      </p:sp>
      <p:sp>
        <p:nvSpPr>
          <p:cNvPr id="8" name="Rectangle 7"/>
          <p:cNvSpPr/>
          <p:nvPr/>
        </p:nvSpPr>
        <p:spPr>
          <a:xfrm>
            <a:off x="17729200" y="0"/>
            <a:ext cx="11430" cy="8191500"/>
          </a:xfrm>
          <a:prstGeom prst="rect">
            <a:avLst/>
          </a:prstGeom>
          <a:solidFill>
            <a:srgbClr val="CC9C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9" name="Picture 8" descr="mark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76736" y="8394700"/>
            <a:ext cx="304927" cy="622300"/>
          </a:xfrm>
          <a:prstGeom prst="rect">
            <a:avLst/>
          </a:prstGeom>
        </p:spPr>
      </p:pic>
      <p:pic>
        <p:nvPicPr>
          <p:cNvPr id="10" name="Picture 9" descr="logo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900" y="622300"/>
            <a:ext cx="1231900" cy="4445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413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A87E33"/>
                </a:solidFill>
                <a:latin typeface="Bahij TheSansArabic"/>
                <a:ea typeface="Arial"/>
                <a:cs typeface="Arial"/>
              </a:rPr>
              <a:t>hihasier.com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1300" y="9918700"/>
            <a:ext cx="508000" cy="20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>
                <a:solidFill>
                  <a:srgbClr val="312117"/>
                </a:solidFill>
                <a:latin typeface="Bahij TheSansArabic"/>
                <a:ea typeface="Arial"/>
                <a:cs typeface="Arial"/>
              </a:rPr>
              <a:t>17</a:t>
            </a:r>
          </a:p>
        </p:txBody>
      </p:sp>
      <p:pic>
        <p:nvPicPr>
          <p:cNvPr id="13" name="Picture 1" descr="closing.jpg">
            <a:extLst>
              <a:ext uri="{FF2B5EF4-FFF2-40B4-BE49-F238E27FC236}">
                <a16:creationId xmlns:a16="http://schemas.microsoft.com/office/drawing/2014/main" id="{18EDDC5B-B58C-E558-250C-6F9F7BE17608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0961" t="58402" r="12868"/>
          <a:stretch/>
        </p:blipFill>
        <p:spPr>
          <a:xfrm>
            <a:off x="0" y="6128123"/>
            <a:ext cx="18288000" cy="4279153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5829370"/>
            <a:ext cx="18288000" cy="2540000"/>
          </a:xfrm>
          <a:prstGeom prst="rect">
            <a:avLst/>
          </a:prstGeom>
          <a:gradFill rotWithShape="1">
            <a:gsLst>
              <a:gs pos="0">
                <a:srgbClr val="FFFFFF">
                  <a:alpha val="100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1" eaLnBrk="1" latinLnBrk="0" hangingPunct="1"/>
            <a:endParaRPr>
              <a:latin typeface="Bahij TheSansArabic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losing.jpg"/>
          <p:cNvPicPr>
            <a:picLocks noChangeAspect="1"/>
          </p:cNvPicPr>
          <p:nvPr/>
        </p:nvPicPr>
        <p:blipFill>
          <a:blip r:embed="rId3"/>
          <a:srcRect l="10961" r="12868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699000"/>
            <a:ext cx="18288000" cy="5588000"/>
          </a:xfrm>
          <a:prstGeom prst="rect">
            <a:avLst/>
          </a:prstGeom>
          <a:gradFill rotWithShape="1">
            <a:gsLst>
              <a:gs pos="0">
                <a:srgbClr val="211611">
                  <a:alpha val="0"/>
                </a:srgbClr>
              </a:gs>
              <a:gs pos="100000">
                <a:srgbClr val="211611">
                  <a:alpha val="84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pic>
        <p:nvPicPr>
          <p:cNvPr id="5" name="Picture 4" descr="logo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58500" y="4140200"/>
            <a:ext cx="3886200" cy="1397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7366000"/>
            <a:ext cx="11734800" cy="8890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شكرًا لكم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8636000"/>
            <a:ext cx="12344400" cy="292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ahij TheSansArabic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0" y="9169400"/>
            <a:ext cx="11734800" cy="330200"/>
          </a:xfrm>
          <a:prstGeom prst="rect">
            <a:avLst/>
          </a:prstGeom>
          <a:noFill/>
        </p:spPr>
        <p:txBody>
          <a:bodyPr wrap="square" lIns="0" tIns="0" rIns="0" bIns="0" rtlCol="1" anchor="t"/>
          <a:lstStyle/>
          <a:p>
            <a:pPr algn="r" rtl="1">
              <a:lnSpc>
                <a:spcPct val="118000"/>
              </a:lnSpc>
              <a:spcAft>
                <a:spcPts val="0"/>
              </a:spcAft>
            </a:pPr>
            <a:r>
              <a:rPr sz="1500" b="0">
                <a:solidFill>
                  <a:srgbClr val="E6DED4"/>
                </a:solidFill>
                <a:latin typeface="Bahij TheSansArabic"/>
                <a:ea typeface="Arial"/>
                <a:cs typeface="Arial"/>
              </a:rPr>
              <a:t>مشروع أرض العليا  ·  شركة حصير للتطوير العقاري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1300" y="7569200"/>
            <a:ext cx="228600" cy="2057400"/>
          </a:xfrm>
          <a:prstGeom prst="rect">
            <a:avLst/>
          </a:prstGeom>
          <a:noFill/>
        </p:spPr>
        <p:txBody>
          <a:bodyPr vert="vert270" wrap="square" lIns="0" tIns="0" rIns="0" bIns="0" anchor="ctr"/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000" b="0" spc="120">
                <a:solidFill>
                  <a:srgbClr val="FFFFFF"/>
                </a:solidFill>
                <a:latin typeface="Bahij TheSansArabic"/>
                <a:ea typeface="Arial"/>
                <a:cs typeface="Arial"/>
              </a:rPr>
              <a:t>hihasier.com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730</Words>
  <Application>Microsoft Office PowerPoint</Application>
  <PresentationFormat>Custom</PresentationFormat>
  <Paragraphs>249</Paragraphs>
  <Slides>17</Slides>
  <Notes>2</Notes>
  <HiddenSlides>1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Bahij TheSansArabic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Wagdy</dc:creator>
  <cp:keywords/>
  <dc:description>generated using python-pptx</dc:description>
  <cp:lastModifiedBy>Wagdy Mahmoud Elsayed</cp:lastModifiedBy>
  <cp:revision>4</cp:revision>
  <dcterms:created xsi:type="dcterms:W3CDTF">2013-01-27T09:14:16Z</dcterms:created>
  <dcterms:modified xsi:type="dcterms:W3CDTF">2026-10-06T06:47:32Z</dcterms:modified>
  <cp:category/>
</cp:coreProperties>
</file>