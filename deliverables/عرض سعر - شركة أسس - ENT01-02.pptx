
<file path=[Content_Types].xml><?xml version="1.0" encoding="utf-8"?>
<Types xmlns="http://schemas.openxmlformats.org/package/2006/content-types">
  <Default Extension="png" ContentType="image/pn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4" r:id="rId4"/>
    <p:sldId id="259" r:id="rId5"/>
    <p:sldId id="260" r:id="rId6"/>
    <p:sldId id="262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E7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8125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7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7711135" y="571500"/>
            <a:ext cx="3931920" cy="777240"/>
          </a:xfrm>
          <a:prstGeom prst="roundRect">
            <a:avLst>
              <a:gd name="adj" fmla="val 50000"/>
            </a:avLst>
          </a:prstGeom>
          <a:solidFill>
            <a:srgbClr val="2F2D50"/>
          </a:solidFill>
          <a:ln/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3" name="Shape 1"/>
          <p:cNvSpPr/>
          <p:nvPr/>
        </p:nvSpPr>
        <p:spPr>
          <a:xfrm rot="-2700000">
            <a:off x="7711135" y="571500"/>
            <a:ext cx="3931920" cy="777240"/>
          </a:xfrm>
          <a:prstGeom prst="roundRect">
            <a:avLst>
              <a:gd name="adj" fmla="val 50000"/>
            </a:avLst>
          </a:prstGeom>
          <a:solidFill>
            <a:srgbClr val="FF6700"/>
          </a:solidFill>
          <a:ln/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602480" y="260604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4600" b="1" dirty="0">
                <a:solidFill>
                  <a:srgbClr val="2F2D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العرض المالي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10138307" y="3623825"/>
            <a:ext cx="1554480" cy="0"/>
          </a:xfrm>
          <a:prstGeom prst="line">
            <a:avLst/>
          </a:prstGeom>
          <a:noFill/>
          <a:ln w="38100">
            <a:solidFill>
              <a:srgbClr val="FF6700"/>
            </a:solidFill>
            <a:prstDash val="solid"/>
          </a:ln>
        </p:spPr>
        <p:txBody>
          <a:bodyPr/>
          <a:lstStyle/>
          <a:p>
            <a:pPr algn="r"/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4314155" y="38862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 err="1">
                <a:solidFill>
                  <a:srgbClr val="2F2D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مُقدَّم</a:t>
            </a:r>
            <a:r>
              <a:rPr lang="en-US" sz="1800" b="1" dirty="0">
                <a:solidFill>
                  <a:srgbClr val="2F2D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إلى شركة أسس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314155" y="431596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4A4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عرض إيجار </a:t>
            </a:r>
            <a:r>
              <a:rPr lang="en-US" sz="1300" dirty="0" err="1">
                <a:solidFill>
                  <a:srgbClr val="4A4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محل</a:t>
            </a:r>
            <a:r>
              <a:rPr lang="en-US" sz="1300" dirty="0">
                <a:solidFill>
                  <a:srgbClr val="4A4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 err="1">
                <a:solidFill>
                  <a:srgbClr val="4A4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</a:t>
            </a:r>
            <a:r>
              <a:rPr lang="ar-SA" sz="1300" dirty="0">
                <a:solidFill>
                  <a:srgbClr val="4A4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ar-SA" sz="1300" dirty="0" err="1">
                <a:solidFill>
                  <a:srgbClr val="4A4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البوليفارد</a:t>
            </a:r>
            <a:r>
              <a:rPr lang="ar-SA" sz="1300" dirty="0">
                <a:solidFill>
                  <a:srgbClr val="4A4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ar-SA" sz="1300" dirty="0" err="1">
                <a:solidFill>
                  <a:srgbClr val="4A4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ورلد</a:t>
            </a:r>
            <a:r>
              <a:rPr lang="ar-SA" sz="1300" dirty="0">
                <a:solidFill>
                  <a:srgbClr val="4A4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>
                <a:solidFill>
                  <a:srgbClr val="4A4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ar-SA" sz="1300" dirty="0">
                <a:solidFill>
                  <a:srgbClr val="4A4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مدخل</a:t>
            </a:r>
            <a:r>
              <a:rPr lang="en-US" sz="1300" dirty="0">
                <a:solidFill>
                  <a:srgbClr val="4A4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ENT 1</a:t>
            </a:r>
            <a:r>
              <a:rPr lang="en-US" sz="1300" dirty="0" err="1">
                <a:solidFill>
                  <a:srgbClr val="4A4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300" dirty="0">
                <a:solidFill>
                  <a:srgbClr val="4A4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ar-SA" sz="1300" dirty="0">
                <a:solidFill>
                  <a:srgbClr val="4A4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300" dirty="0" err="1">
                <a:solidFill>
                  <a:srgbClr val="4A4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300" dirty="0">
                <a:solidFill>
                  <a:srgbClr val="4A4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بمساحة إجمالية 100.52 م²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-868680" y="66311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6C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· 2026</a:t>
            </a:r>
            <a:endParaRPr lang="en-US" sz="11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7F0473A-34C0-FC0C-7FE3-C9A41FEE77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265" y="175260"/>
            <a:ext cx="1295400" cy="523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11304727" y="402336"/>
            <a:ext cx="384048" cy="384048"/>
          </a:xfrm>
          <a:prstGeom prst="roundRect">
            <a:avLst>
              <a:gd name="adj" fmla="val 14286"/>
            </a:avLst>
          </a:prstGeom>
          <a:ln w="31750">
            <a:solidFill>
              <a:srgbClr val="FF6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1873" y="402336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الملخص المالي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11185855" cy="457200"/>
          </a:xfrm>
          <a:prstGeom prst="roundRect">
            <a:avLst>
              <a:gd name="adj" fmla="val 14000"/>
            </a:avLst>
          </a:prstGeom>
          <a:solidFill>
            <a:srgbClr val="FF6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965960"/>
            <a:ext cx="11185855" cy="228600"/>
          </a:xfrm>
          <a:prstGeom prst="rect">
            <a:avLst/>
          </a:prstGeom>
          <a:solidFill>
            <a:srgbClr val="FF6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02920" y="173736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عرض السعر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194560"/>
            <a:ext cx="11185855" cy="384048"/>
          </a:xfrm>
          <a:prstGeom prst="rect">
            <a:avLst/>
          </a:prstGeom>
          <a:solidFill>
            <a:srgbClr val="2F2D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40080" y="2194560"/>
            <a:ext cx="2186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/>
            <a:r>
              <a:rPr lang="ar-SA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الإجمالي (الريال السعودي)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826648" y="2194560"/>
            <a:ext cx="19015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سعر المتر المربع (الريال السعودي)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002564" y="2194560"/>
            <a:ext cx="16272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1"/>
            <a:r>
              <a:rPr lang="en-US" sz="1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المساحة</a:t>
            </a: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ar-SA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م²</a:t>
            </a:r>
            <a:r>
              <a:rPr lang="ar-SA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904159" y="2194560"/>
            <a:ext cx="16272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عدد الوحدات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805754" y="2194560"/>
            <a:ext cx="27458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المنطقة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2578608"/>
            <a:ext cx="11185855" cy="59436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40080" y="2578608"/>
            <a:ext cx="2186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3,051,150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3100968" y="2578608"/>
            <a:ext cx="16272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30,353.66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002564" y="2578608"/>
            <a:ext cx="16272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100.52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904159" y="2578608"/>
            <a:ext cx="16272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805754" y="2578608"/>
            <a:ext cx="274586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مدخل ENT 1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02920" y="3172968"/>
            <a:ext cx="11185855" cy="457200"/>
          </a:xfrm>
          <a:prstGeom prst="rect">
            <a:avLst/>
          </a:prstGeom>
          <a:solidFill>
            <a:srgbClr val="2F2D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685800" y="3172968"/>
            <a:ext cx="31320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3,051,150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3634959" y="3172968"/>
            <a:ext cx="7870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الإجمالي بدون ضريبة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02920" y="3630168"/>
            <a:ext cx="11185855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685800" y="3630168"/>
            <a:ext cx="31320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457,673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3634959" y="3630168"/>
            <a:ext cx="7870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ضريبة القيمة المضافة 15%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02920" y="4087368"/>
            <a:ext cx="11185855" cy="457200"/>
          </a:xfrm>
          <a:prstGeom prst="rect">
            <a:avLst/>
          </a:prstGeom>
          <a:solidFill>
            <a:srgbClr val="2F2D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685800" y="4087368"/>
            <a:ext cx="31320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3,508,823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3634959" y="4087368"/>
            <a:ext cx="7870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الإجمالي شامل الضريبة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502920" y="6355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20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>
            <a:extLst>
              <a:ext uri="{FF2B5EF4-FFF2-40B4-BE49-F238E27FC236}">
                <a16:creationId xmlns:a16="http://schemas.microsoft.com/office/drawing/2014/main" id="{B21C3B88-8DFE-D14D-DA24-B57F9E008DFB}"/>
              </a:ext>
            </a:extLst>
          </p:cNvPr>
          <p:cNvSpPr/>
          <p:nvPr/>
        </p:nvSpPr>
        <p:spPr>
          <a:xfrm>
            <a:off x="11304727" y="402336"/>
            <a:ext cx="384048" cy="384048"/>
          </a:xfrm>
          <a:prstGeom prst="roundRect">
            <a:avLst>
              <a:gd name="adj" fmla="val 14286"/>
            </a:avLst>
          </a:prstGeom>
          <a:ln w="31750">
            <a:solidFill>
              <a:srgbClr val="FF6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332C84A3-D1CC-1EB5-3FAD-ECC72B2CF270}"/>
              </a:ext>
            </a:extLst>
          </p:cNvPr>
          <p:cNvSpPr txBox="1"/>
          <p:nvPr/>
        </p:nvSpPr>
        <p:spPr>
          <a:xfrm>
            <a:off x="502920" y="32004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مدخل ENT 1</a:t>
            </a:r>
            <a:endParaRPr lang="en-US" sz="260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8CF59148-BEA7-9B67-D120-CADA37A8A26E}"/>
              </a:ext>
            </a:extLst>
          </p:cNvPr>
          <p:cNvSpPr txBox="1"/>
          <p:nvPr/>
        </p:nvSpPr>
        <p:spPr>
          <a:xfrm>
            <a:off x="502920" y="2103120"/>
            <a:ext cx="425062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400" b="1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3,051,150</a:t>
            </a:r>
            <a:endParaRPr lang="en-US" sz="440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4680FB41-BCEE-E1C4-9474-24641507DFE2}"/>
              </a:ext>
            </a:extLst>
          </p:cNvPr>
          <p:cNvSpPr txBox="1"/>
          <p:nvPr/>
        </p:nvSpPr>
        <p:spPr>
          <a:xfrm>
            <a:off x="398748" y="2878624"/>
            <a:ext cx="425062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1300" dirty="0">
                <a:solidFill>
                  <a:srgbClr val="9B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اجمالي القيمة الايجارية  </a:t>
            </a:r>
            <a:endParaRPr lang="en-US" sz="1300" dirty="0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98BDDF6C-6D27-4919-3575-6CC668DF73DD}"/>
              </a:ext>
            </a:extLst>
          </p:cNvPr>
          <p:cNvSpPr/>
          <p:nvPr/>
        </p:nvSpPr>
        <p:spPr>
          <a:xfrm>
            <a:off x="502920" y="3383280"/>
            <a:ext cx="4250625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6D357F6F-CA28-A3D3-D5BE-7D04C942C236}"/>
              </a:ext>
            </a:extLst>
          </p:cNvPr>
          <p:cNvSpPr txBox="1"/>
          <p:nvPr/>
        </p:nvSpPr>
        <p:spPr>
          <a:xfrm>
            <a:off x="502920" y="3611880"/>
            <a:ext cx="42506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 err="1">
                <a:solidFill>
                  <a:srgbClr val="9B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كود</a:t>
            </a:r>
            <a:r>
              <a:rPr lang="en-US" sz="1200" dirty="0">
                <a:solidFill>
                  <a:srgbClr val="9B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ar-SA" sz="1200" dirty="0">
                <a:solidFill>
                  <a:srgbClr val="9B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الوحدة</a:t>
            </a:r>
            <a:endParaRPr lang="en-US" sz="1200" dirty="0"/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86EF5B97-B3A5-F507-34E5-5BD614902C1D}"/>
              </a:ext>
            </a:extLst>
          </p:cNvPr>
          <p:cNvSpPr txBox="1"/>
          <p:nvPr/>
        </p:nvSpPr>
        <p:spPr>
          <a:xfrm>
            <a:off x="502920" y="3886200"/>
            <a:ext cx="42506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ENT01-02</a:t>
            </a:r>
            <a:endParaRPr lang="en-US" sz="2000" dirty="0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0EE3899C-518D-2F0C-C63D-99947ECF66F8}"/>
              </a:ext>
            </a:extLst>
          </p:cNvPr>
          <p:cNvSpPr txBox="1"/>
          <p:nvPr/>
        </p:nvSpPr>
        <p:spPr>
          <a:xfrm>
            <a:off x="502920" y="4389120"/>
            <a:ext cx="42506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9B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المساحة الإجمالية</a:t>
            </a:r>
            <a:endParaRPr lang="en-US" sz="1200" dirty="0"/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358C076D-3B15-0F76-8CE0-6B16324DEB2F}"/>
              </a:ext>
            </a:extLst>
          </p:cNvPr>
          <p:cNvSpPr txBox="1"/>
          <p:nvPr/>
        </p:nvSpPr>
        <p:spPr>
          <a:xfrm>
            <a:off x="502920" y="4663440"/>
            <a:ext cx="42506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²</a:t>
            </a:r>
            <a:r>
              <a:rPr lang="ar-SA" sz="2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م100.52</a:t>
            </a:r>
            <a:endParaRPr lang="en-US" sz="2000" dirty="0"/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F7471C54-3D0A-B29D-2C6A-5ADB92C078B5}"/>
              </a:ext>
            </a:extLst>
          </p:cNvPr>
          <p:cNvSpPr txBox="1"/>
          <p:nvPr/>
        </p:nvSpPr>
        <p:spPr>
          <a:xfrm>
            <a:off x="502920" y="5166360"/>
            <a:ext cx="42506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 err="1">
                <a:solidFill>
                  <a:srgbClr val="9B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سعر</a:t>
            </a:r>
            <a:r>
              <a:rPr lang="en-US" sz="1200" dirty="0">
                <a:solidFill>
                  <a:srgbClr val="9B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9B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المتر</a:t>
            </a:r>
            <a:r>
              <a:rPr lang="ar-SA" sz="1200" dirty="0">
                <a:solidFill>
                  <a:srgbClr val="9B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المربع</a:t>
            </a:r>
            <a:endParaRPr lang="en-US" sz="1200" dirty="0"/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4FFC513B-D111-035B-20D1-38B7BFF694F1}"/>
              </a:ext>
            </a:extLst>
          </p:cNvPr>
          <p:cNvSpPr txBox="1"/>
          <p:nvPr/>
        </p:nvSpPr>
        <p:spPr>
          <a:xfrm>
            <a:off x="502920" y="5440680"/>
            <a:ext cx="42506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ar-SA" sz="2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30,353.66 ر.س</a:t>
            </a:r>
            <a:endParaRPr lang="en-US" sz="2000" dirty="0"/>
          </a:p>
        </p:txBody>
      </p:sp>
      <p:sp>
        <p:nvSpPr>
          <p:cNvPr id="26" name="Text 14">
            <a:extLst>
              <a:ext uri="{FF2B5EF4-FFF2-40B4-BE49-F238E27FC236}">
                <a16:creationId xmlns:a16="http://schemas.microsoft.com/office/drawing/2014/main" id="{D2E49F08-D495-F50F-91EB-F65963972D84}"/>
              </a:ext>
            </a:extLst>
          </p:cNvPr>
          <p:cNvSpPr txBox="1"/>
          <p:nvPr/>
        </p:nvSpPr>
        <p:spPr>
          <a:xfrm>
            <a:off x="502920" y="6355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20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07A1138C-B12B-40E1-D3E7-0C7AB96C0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3545" y="1168611"/>
            <a:ext cx="7734584" cy="580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862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7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11304727" y="402336"/>
            <a:ext cx="384048" cy="384048"/>
          </a:xfrm>
          <a:prstGeom prst="roundRect">
            <a:avLst>
              <a:gd name="adj" fmla="val 14286"/>
            </a:avLst>
          </a:prstGeom>
          <a:ln w="31750">
            <a:solidFill>
              <a:srgbClr val="FF6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02920" y="32004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المخطط العام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6355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20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B44F65E-FAC5-429C-37F6-0D119D4BC3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8200" y="1100000"/>
            <a:ext cx="9155600" cy="515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11304727" y="402336"/>
            <a:ext cx="384048" cy="384048"/>
          </a:xfrm>
          <a:prstGeom prst="roundRect">
            <a:avLst>
              <a:gd name="adj" fmla="val 14286"/>
            </a:avLst>
          </a:prstGeom>
          <a:ln w="31750">
            <a:solidFill>
              <a:srgbClr val="FF6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02920" y="32004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جدول الدفعات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11185855" cy="457200"/>
          </a:xfrm>
          <a:prstGeom prst="roundRect">
            <a:avLst>
              <a:gd name="adj" fmla="val 14000"/>
            </a:avLst>
          </a:prstGeom>
          <a:solidFill>
            <a:srgbClr val="FF6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965960"/>
            <a:ext cx="11185855" cy="228600"/>
          </a:xfrm>
          <a:prstGeom prst="rect">
            <a:avLst/>
          </a:prstGeom>
          <a:solidFill>
            <a:srgbClr val="FF6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02920" y="173736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عرض السعر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194560"/>
            <a:ext cx="11185855" cy="384048"/>
          </a:xfrm>
          <a:prstGeom prst="rect">
            <a:avLst/>
          </a:prstGeom>
          <a:solidFill>
            <a:srgbClr val="2F2D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40080" y="2194560"/>
            <a:ext cx="24102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1">
              <a:buNone/>
            </a:pPr>
            <a:r>
              <a:rPr lang="ar-SA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المبلغ (الريال السعودي)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324685" y="2194560"/>
            <a:ext cx="12917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النسبة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890705" y="2194560"/>
            <a:ext cx="28577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تاريخ الاستحقاق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022744" y="2194560"/>
            <a:ext cx="24102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الدفعة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707350" y="2194560"/>
            <a:ext cx="8442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2578608"/>
            <a:ext cx="11185855" cy="77724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40080" y="2578608"/>
            <a:ext cx="241028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1,754,411.25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3324685" y="2578608"/>
            <a:ext cx="12917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890705" y="2578608"/>
            <a:ext cx="285771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عند توقيع الاتفاقية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022744" y="2578608"/>
            <a:ext cx="241028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الدفعة الأولى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0707350" y="2578608"/>
            <a:ext cx="84426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2920" y="3355848"/>
            <a:ext cx="11185855" cy="77724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02920" y="3355848"/>
            <a:ext cx="11185855" cy="0"/>
          </a:xfrm>
          <a:prstGeom prst="line">
            <a:avLst/>
          </a:prstGeom>
          <a:noFill/>
          <a:ln w="635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640080" y="3355848"/>
            <a:ext cx="241028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1,052,646.75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3324685" y="3355848"/>
            <a:ext cx="12917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890705" y="3355848"/>
            <a:ext cx="285771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ar-SA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بعد 30 يوماً من التوقيع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8022744" y="3355848"/>
            <a:ext cx="241028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الدفعة الثانية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10707350" y="3355848"/>
            <a:ext cx="84426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02920" y="4133088"/>
            <a:ext cx="11185855" cy="77724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02920" y="4133088"/>
            <a:ext cx="11185855" cy="0"/>
          </a:xfrm>
          <a:prstGeom prst="line">
            <a:avLst/>
          </a:prstGeom>
          <a:noFill/>
          <a:ln w="635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640080" y="4133088"/>
            <a:ext cx="241028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701,764.50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3324685" y="4133088"/>
            <a:ext cx="12917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4890705" y="4133088"/>
            <a:ext cx="285771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ar-SA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بعد 60 يوماً من التوقيع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8022744" y="4133088"/>
            <a:ext cx="241028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الدفعة الثالثة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10707350" y="4133088"/>
            <a:ext cx="84426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02920" y="4910328"/>
            <a:ext cx="11185855" cy="457200"/>
          </a:xfrm>
          <a:prstGeom prst="rect">
            <a:avLst/>
          </a:prstGeom>
          <a:solidFill>
            <a:srgbClr val="2F2D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685800" y="4910328"/>
            <a:ext cx="31320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3,508,822.50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3634959" y="4910328"/>
            <a:ext cx="7870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الإجمالي شامل ضريبة القيمة المضافة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502920" y="6355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7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-1112520" y="3182621"/>
            <a:ext cx="3931920" cy="777240"/>
          </a:xfrm>
          <a:prstGeom prst="roundRect">
            <a:avLst>
              <a:gd name="adj" fmla="val 50000"/>
            </a:avLst>
          </a:prstGeom>
          <a:solidFill>
            <a:srgbClr val="2F2D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-2700000">
            <a:off x="-1200644" y="2742335"/>
            <a:ext cx="5082988" cy="1004777"/>
          </a:xfrm>
          <a:prstGeom prst="roundRect">
            <a:avLst>
              <a:gd name="adj" fmla="val 50000"/>
            </a:avLst>
          </a:prstGeom>
          <a:solidFill>
            <a:srgbClr val="FF6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584461" y="45110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1">
              <a:buNone/>
            </a:pPr>
            <a:r>
              <a:rPr lang="en-US" sz="4800" b="1" dirty="0">
                <a:solidFill>
                  <a:srgbClr val="2F2D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شكراً لكم</a:t>
            </a:r>
            <a:endParaRPr lang="en-US" sz="4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7296F7-EFA5-D148-5D70-6092103653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4425" y="2244120"/>
            <a:ext cx="4304301" cy="1738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820</TotalTime>
  <Words>170</Words>
  <Application>Microsoft Office PowerPoint</Application>
  <PresentationFormat>Widescreen</PresentationFormat>
  <Paragraphs>79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Wagdy Mahmoud Elsayed</cp:lastModifiedBy>
  <cp:revision>2</cp:revision>
  <dcterms:created xsi:type="dcterms:W3CDTF">2026-08-30T20:59:17Z</dcterms:created>
  <dcterms:modified xsi:type="dcterms:W3CDTF">2026-08-31T10:41:53Z</dcterms:modified>
</cp:coreProperties>
</file>